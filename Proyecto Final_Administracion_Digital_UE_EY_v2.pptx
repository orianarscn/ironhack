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webextensions/webextension1.xml" ContentType="application/vnd.ms-office.webextension+xml"/>
  <Override PartName="/ppt/notesSlides/notesSlide12.xml" ContentType="application/vnd.openxmlformats-officedocument.presentationml.notesSlide+xml"/>
  <Override PartName="/ppt/webextensions/webextension2.xml" ContentType="application/vnd.ms-office.webextension+xml"/>
  <Override PartName="/ppt/notesSlides/notesSlide13.xml" ContentType="application/vnd.openxmlformats-officedocument.presentationml.notesSlide+xml"/>
  <Override PartName="/ppt/webextensions/webextension3.xml" ContentType="application/vnd.ms-office.webextension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73" r:id="rId2"/>
    <p:sldId id="257" r:id="rId3"/>
    <p:sldId id="274" r:id="rId4"/>
    <p:sldId id="271" r:id="rId5"/>
    <p:sldId id="269" r:id="rId6"/>
    <p:sldId id="280" r:id="rId7"/>
    <p:sldId id="284" r:id="rId8"/>
    <p:sldId id="282" r:id="rId9"/>
    <p:sldId id="283" r:id="rId10"/>
    <p:sldId id="270" r:id="rId11"/>
    <p:sldId id="276" r:id="rId12"/>
    <p:sldId id="277" r:id="rId13"/>
    <p:sldId id="278" r:id="rId14"/>
    <p:sldId id="275" r:id="rId15"/>
    <p:sldId id="281" r:id="rId16"/>
  </p:sldIdLst>
  <p:sldSz cx="9144000" cy="5143500" type="screen16x9"/>
  <p:notesSz cx="5143500" cy="9144000"/>
  <p:custDataLst>
    <p:tags r:id="rId18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600"/>
    <a:srgbClr val="7474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28" dt="2026-10-05T15:56:26.158"/>
    <p1510:client id="{001BA017-BC25-47AE-A292-7C05893C18BE}" v="700" dt="2026-10-05T16:16:58.078"/>
    <p1510:client id="{21F5256F-C9AB-4A8E-A424-520A202F4799}" v="48" dt="2026-10-05T16:18:10.626"/>
    <p1510:client id="{A3DBCEA4-733B-4348-9DDE-066B73EAB8E6}" v="299" dt="2026-10-05T16:16:57.877"/>
    <p1510:client id="{C88D77C4-12E1-81FA-1562-326D426A5575}" v="149" dt="2026-10-05T15:58:59.956"/>
    <p1510:client id="{D956BB61-ECE1-4A72-8F1D-F95C3539B268}" v="2" dt="2026-10-05T15:38:06.630"/>
    <p1510:client id="{F8A77988-CE21-43B0-82D8-46288482D0C2}" v="62" dt="2026-10-05T15:22:33.3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52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España</c:v>
                </c:pt>
              </c:strCache>
            </c:strRef>
          </c:tx>
          <c:spPr>
            <a:solidFill>
              <a:srgbClr val="FFE600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E2E38"/>
                    </a:solidFill>
                    <a:latin typeface="EYInterstate" panose="02000503020000020004" pitchFamily="2" charset="0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Soporte al usuario</c:v>
                </c:pt>
                <c:pt idx="1">
                  <c:v>Disponibilidad online</c:v>
                </c:pt>
                <c:pt idx="2">
                  <c:v>Adaptación a móviles</c:v>
                </c:pt>
                <c:pt idx="3">
                  <c:v>Puntuación general</c:v>
                </c:pt>
                <c:pt idx="4">
                  <c:v>Transparencia del servicio</c:v>
                </c:pt>
                <c:pt idx="5">
                  <c:v>Accesibilidad básica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98.54</c:v>
                </c:pt>
                <c:pt idx="2">
                  <c:v>93.06</c:v>
                </c:pt>
                <c:pt idx="3">
                  <c:v>79.13</c:v>
                </c:pt>
                <c:pt idx="4">
                  <c:v>61.43</c:v>
                </c:pt>
                <c:pt idx="5">
                  <c:v>53.8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F2B-4713-8912-261BCDE23C3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Media UE-27</c:v>
                </c:pt>
              </c:strCache>
            </c:strRef>
          </c:tx>
          <c:spPr>
            <a:solidFill>
              <a:srgbClr val="C4C4CD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E2E38"/>
                    </a:solidFill>
                    <a:latin typeface="EYInterstate" panose="02000503020000020004" pitchFamily="2" charset="0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Soporte al usuario</c:v>
                </c:pt>
                <c:pt idx="1">
                  <c:v>Disponibilidad online</c:v>
                </c:pt>
                <c:pt idx="2">
                  <c:v>Adaptación a móviles</c:v>
                </c:pt>
                <c:pt idx="3">
                  <c:v>Puntuación general</c:v>
                </c:pt>
                <c:pt idx="4">
                  <c:v>Transparencia del servicio</c:v>
                </c:pt>
                <c:pt idx="5">
                  <c:v>Accesibilidad básica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96.71</c:v>
                </c:pt>
                <c:pt idx="1">
                  <c:v>94.54</c:v>
                </c:pt>
                <c:pt idx="2">
                  <c:v>96.13</c:v>
                </c:pt>
                <c:pt idx="3">
                  <c:v>74.709999999999994</c:v>
                </c:pt>
                <c:pt idx="4">
                  <c:v>59.66</c:v>
                </c:pt>
                <c:pt idx="5">
                  <c:v>47.48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F2B-4713-8912-261BCDE23C3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E2E38"/>
                </a:solidFill>
                <a:latin typeface="EYInterstate" panose="02000503020000020004" pitchFamily="2" charset="0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latin typeface="Arial"/>
              <a:cs typeface="Arial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0204678362573097E-2"/>
          <c:y val="0.14642973407393844"/>
          <c:w val="0.91959064327485385"/>
          <c:h val="0.6400043744531933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Competencias</c:v>
                </c:pt>
              </c:strCache>
            </c:strRef>
          </c:tx>
          <c:spPr>
            <a:solidFill>
              <a:srgbClr val="FFE600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2E2E38"/>
                    </a:solidFill>
                    <a:latin typeface="EYInterstate" panose="02000503020000020004" pitchFamily="2" charset="0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16–24</c:v>
                </c:pt>
                <c:pt idx="1">
                  <c:v>25–54</c:v>
                </c:pt>
                <c:pt idx="2">
                  <c:v>55–74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74.599999999999994</c:v>
                </c:pt>
                <c:pt idx="1">
                  <c:v>68.8</c:v>
                </c:pt>
                <c:pt idx="2">
                  <c:v>42.8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3A0-4676-BA4A-21535BBA805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Uso</c:v>
                </c:pt>
              </c:strCache>
            </c:strRef>
          </c:tx>
          <c:spPr>
            <a:solidFill>
              <a:srgbClr val="C4C4CD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2E2E38"/>
                    </a:solidFill>
                    <a:latin typeface="EYInterstate" panose="02000503020000020004" pitchFamily="2" charset="0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16–24</c:v>
                </c:pt>
                <c:pt idx="1">
                  <c:v>25–54</c:v>
                </c:pt>
                <c:pt idx="2">
                  <c:v>55–74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52</c:v>
                </c:pt>
                <c:pt idx="1">
                  <c:v>64.5</c:v>
                </c:pt>
                <c:pt idx="2">
                  <c:v>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3A0-4676-BA4A-21535BBA805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E2E38"/>
                </a:solidFill>
                <a:latin typeface="EYInterstate" panose="02000503020000020004" pitchFamily="2" charset="0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9430C1-4D74-46CA-BCB2-8BDDEC0C1C1C}" type="datetimeFigureOut">
              <a:t>05/10/2026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CD8B9E-265F-4659-94A5-DDA65A11039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43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≈20 s. Presentación del equipo. Una frase: venimos a responder por qué la ciudadanía europea usa más o menos la Administración online, y qué debería hacer la Administración al respecto.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Cruzamos tres fuentes oficiales de 2025 para los 27 países UE. Oferta: la calidad de las plataformas, del eGovernment Benchmark. Demanda: las competencias digitales de la población, de Eurostat. Y el resultado: qué % de la población usa la Administración online. Con eso respondemos tres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7BCAD-288A-7E5C-0368-126F92C2A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5A05C6-4A9E-595A-34F2-A45DE5D8C9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7656D5-EDF1-3F7A-48D8-22B83847B9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Cruzamos tres fuentes oficiales de 2025 para los 27 países UE. Oferta: la calidad de las plataformas, del eGovernment Benchmark. Demanda: las competencias digitales de la población, de Eurostat. Y el resultado: qué % de la población usa la Administración online. Con eso respondemos tres preguntas.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FABD7A-3AF7-4692-E9C1-0270EBE3D4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4722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900F4-45F0-1D6E-B303-EB73A710D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618678-6277-E2EA-758A-9D5C9F162C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32E678-413A-DA5F-A0A1-133300A276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España saca 79,1 en calidad, por encima de la media UE (74,7). Casi un 100 en soporte, disponibilidad y móvil. Donde pierde puntos es en transparencia (61) y sobre todo en accesibilidad (54). Esos son los componentes que marcan la diferencia.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1FFC14-8831-749C-C7F7-7FBDE6E8CF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8394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FF0DC-D4E1-4915-A4C6-DD7BCD22C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539773-2F05-AFB8-16A5-3FEE56021D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3E7FC1-9467-A72F-7398-ACAA2192AE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Cada punto es un país. La </a:t>
            </a:r>
            <a:r>
              <a:rPr lang="en-US" err="1"/>
              <a:t>correlación</a:t>
            </a:r>
            <a:r>
              <a:rPr lang="en-US"/>
              <a:t> es 0,78, fuerte: a más competencias, más uso. 19 de 27 países siguen la tendencia. España, en amarillo, está por encima de la media en ambas: las competencias no son su freno. Ojo, </a:t>
            </a:r>
            <a:r>
              <a:rPr lang="en-US" err="1"/>
              <a:t>correlación</a:t>
            </a:r>
            <a:r>
              <a:rPr lang="en-US"/>
              <a:t> no es causalidad.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81AFFA-AFFA-ABBE-0E25-3274E0496B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4538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Mismo</a:t>
            </a:r>
            <a:r>
              <a:rPr lang="en-US"/>
              <a:t> </a:t>
            </a:r>
            <a:r>
              <a:rPr lang="en-US" err="1"/>
              <a:t>formato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P2: </a:t>
            </a:r>
            <a:r>
              <a:rPr lang="en-US" err="1"/>
              <a:t>calidad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el </a:t>
            </a:r>
            <a:r>
              <a:rPr lang="en-US" err="1"/>
              <a:t>eje</a:t>
            </a:r>
            <a:r>
              <a:rPr lang="en-US"/>
              <a:t> horizontal y </a:t>
            </a:r>
            <a:r>
              <a:rPr lang="en-US" err="1"/>
              <a:t>uso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el vertical. La </a:t>
            </a:r>
            <a:r>
              <a:rPr lang="en-US" err="1"/>
              <a:t>correlación</a:t>
            </a:r>
            <a:r>
              <a:rPr lang="en-US"/>
              <a:t> es 0,65, </a:t>
            </a:r>
            <a:r>
              <a:rPr lang="en-US" err="1"/>
              <a:t>positiva</a:t>
            </a:r>
            <a:r>
              <a:rPr lang="en-US"/>
              <a:t> </a:t>
            </a:r>
            <a:r>
              <a:rPr lang="en-US" err="1"/>
              <a:t>pero</a:t>
            </a:r>
            <a:r>
              <a:rPr lang="en-US"/>
              <a:t> </a:t>
            </a:r>
            <a:r>
              <a:rPr lang="en-US" err="1"/>
              <a:t>más</a:t>
            </a:r>
            <a:r>
              <a:rPr lang="en-US"/>
              <a:t> </a:t>
            </a:r>
            <a:r>
              <a:rPr lang="en-US" err="1"/>
              <a:t>débil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la de </a:t>
            </a:r>
            <a:r>
              <a:rPr lang="en-US" err="1"/>
              <a:t>competencias</a:t>
            </a:r>
            <a:r>
              <a:rPr lang="en-US"/>
              <a:t> (0,78). Abajo a la </a:t>
            </a:r>
            <a:r>
              <a:rPr lang="en-US" err="1"/>
              <a:t>derecha</a:t>
            </a:r>
            <a:r>
              <a:rPr lang="en-US"/>
              <a:t>, </a:t>
            </a:r>
            <a:r>
              <a:rPr lang="en-US" err="1"/>
              <a:t>buena</a:t>
            </a:r>
            <a:r>
              <a:rPr lang="en-US"/>
              <a:t> </a:t>
            </a:r>
            <a:r>
              <a:rPr lang="en-US" err="1"/>
              <a:t>plataforma</a:t>
            </a:r>
            <a:r>
              <a:rPr lang="en-US"/>
              <a:t> y poco </a:t>
            </a:r>
            <a:r>
              <a:rPr lang="en-US" err="1"/>
              <a:t>uso</a:t>
            </a:r>
            <a:r>
              <a:rPr lang="en-US"/>
              <a:t>, no hay </a:t>
            </a:r>
            <a:r>
              <a:rPr lang="en-US" err="1"/>
              <a:t>ningún</a:t>
            </a:r>
            <a:r>
              <a:rPr lang="en-US"/>
              <a:t> </a:t>
            </a:r>
            <a:r>
              <a:rPr lang="en-US" err="1"/>
              <a:t>país</a:t>
            </a:r>
            <a:r>
              <a:rPr lang="en-US"/>
              <a:t>. En </a:t>
            </a:r>
            <a:r>
              <a:rPr lang="en-US" err="1"/>
              <a:t>cambio</a:t>
            </a:r>
            <a:r>
              <a:rPr lang="en-US"/>
              <a:t>, hay 8 </a:t>
            </a:r>
            <a:r>
              <a:rPr lang="en-US" err="1"/>
              <a:t>países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la </a:t>
            </a:r>
            <a:r>
              <a:rPr lang="en-US" err="1"/>
              <a:t>usan</a:t>
            </a:r>
            <a:r>
              <a:rPr lang="en-US"/>
              <a:t> </a:t>
            </a:r>
            <a:r>
              <a:rPr lang="en-US" err="1"/>
              <a:t>mucho</a:t>
            </a:r>
            <a:r>
              <a:rPr lang="en-US"/>
              <a:t> con </a:t>
            </a:r>
            <a:r>
              <a:rPr lang="en-US" err="1"/>
              <a:t>una</a:t>
            </a:r>
            <a:r>
              <a:rPr lang="en-US"/>
              <a:t> </a:t>
            </a:r>
            <a:r>
              <a:rPr lang="en-US" err="1"/>
              <a:t>plataforma</a:t>
            </a:r>
            <a:r>
              <a:rPr lang="en-US"/>
              <a:t> </a:t>
            </a:r>
            <a:r>
              <a:rPr lang="en-US" err="1"/>
              <a:t>por</a:t>
            </a:r>
            <a:r>
              <a:rPr lang="en-US"/>
              <a:t> </a:t>
            </a:r>
            <a:r>
              <a:rPr lang="en-US" err="1"/>
              <a:t>debajo</a:t>
            </a:r>
            <a:r>
              <a:rPr lang="en-US"/>
              <a:t> de la media. La </a:t>
            </a:r>
            <a:r>
              <a:rPr lang="en-US" err="1"/>
              <a:t>plataforma</a:t>
            </a:r>
            <a:r>
              <a:rPr lang="en-US"/>
              <a:t> </a:t>
            </a:r>
            <a:r>
              <a:rPr lang="en-US" err="1"/>
              <a:t>ayuda</a:t>
            </a:r>
            <a:r>
              <a:rPr lang="en-US"/>
              <a:t>, </a:t>
            </a:r>
            <a:r>
              <a:rPr lang="en-US" err="1"/>
              <a:t>pero</a:t>
            </a:r>
            <a:r>
              <a:rPr lang="en-US"/>
              <a:t> las personas </a:t>
            </a:r>
            <a:r>
              <a:rPr lang="en-US" err="1"/>
              <a:t>pesan</a:t>
            </a:r>
            <a:r>
              <a:rPr lang="en-US"/>
              <a:t> </a:t>
            </a:r>
            <a:r>
              <a:rPr lang="en-US" err="1"/>
              <a:t>más</a:t>
            </a:r>
            <a:r>
              <a:rPr lang="en-US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6DF63-F9EB-FA14-2CAC-4CC400A3F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9AC68D-946D-0599-CB8E-8818680367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397484-65F6-0697-E6C2-DA99667B0E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Cruzamos tres fuentes oficiales de 2025 para los 27 países UE. Oferta: la calidad de las plataformas, del eGovernment Benchmark. Demanda: las competencias digitales de la población, de Eurostat. Y el resultado: qué % de la población usa la Administración online. Con eso respondemos tres preguntas.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7345AD-B8AD-E52E-6881-458DE9489D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9443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5462B-621D-3C04-C0A2-D727BC8E0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8AD2A1-28F8-31B9-D6A7-1ED8E5B380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0597B5-F110-BC89-D4E7-E5A72545FC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≈20 s. Presentación del equipo. Una frase: venimos a responder por qué la ciudadanía europea usa más o menos la Administración online, y qué debería hacer la Administración al respecto.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2D5D31-4414-72E3-687F-8F77850C1A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01261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6DF63-F9EB-FA14-2CAC-4CC400A3F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9AC68D-946D-0599-CB8E-8818680367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397484-65F6-0697-E6C2-DA99667B0E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Cruzamos tres fuentes oficiales de 2025 para los 27 países UE. Oferta: la calidad de las plataformas, del eGovernment Benchmark. Demanda: las competencias digitales de la población, de Eurostat. Y el resultado: qué % de la población usa la Administración online. Con eso respondemos tres preguntas.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7345AD-B8AD-E52E-6881-458DE9489D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9443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6DF63-F9EB-FA14-2CAC-4CC400A3F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9AC68D-946D-0599-CB8E-8818680367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397484-65F6-0697-E6C2-DA99667B0E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Cruzamos tres fuentes oficiales de 2025 para los 27 países UE. Oferta: la calidad de las plataformas, del eGovernment Benchmark. Demanda: las competencias digitales de la población, de Eurostat. Y el resultado: qué % de la población usa la Administración online. Con eso respondemos tres preguntas.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7345AD-B8AD-E52E-6881-458DE9489D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9443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63A68-3C1D-614B-996A-970216A11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B48195-0667-4823-4677-2399DF96A2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140E0A-4FD6-03DC-BEF5-554BEF951A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D95F20-F50B-FB5B-C6A8-151FAB0428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7725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A20C9-E6FB-F6E1-6C16-28B0E41B4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927964-881E-5D63-5572-1DE7BE234A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33D51D-B7B8-DA8A-D86D-317A9567A9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8251A8-064C-404C-43E7-37D0218772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0297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9F271-898B-C330-B3E1-2F67D888B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DD41F0-877D-8A26-CB46-E7D721F8AA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233B84-389D-1C1D-BE64-F7D68237EE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648A96-372D-43B5-94F0-DD50781265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2934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55C0F-837D-FF7A-7B2D-94EEDBB2A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CD8F8F-91AE-765C-BCFC-DA1B7E4D55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A2BCDA-4F06-5F11-8679-0F98AA3574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793291-3C56-9601-4532-E700602A73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6263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A59CF-2CC2-5203-ED43-4B86D5ABD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5FA99B-6C0B-B4AA-F92C-B40FAF665C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6CF3C5-162C-16D6-05FC-0C5C3A5C4A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60FDCA-B8A7-6FF5-8C40-F3C40F8704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939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965960"/>
            <a:ext cx="3931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YInterstate" panose="02000503020000020004" pitchFamily="2" charset="0"/>
                <a:ea typeface="+mn-lt"/>
                <a:cs typeface="Arial" panose="020B0604020202020204" pitchFamily="34" charset="0"/>
              </a:rPr>
              <a:t>¿</a:t>
            </a:r>
            <a:r>
              <a:rPr lang="en-US" sz="2000" b="1">
                <a:solidFill>
                  <a:srgbClr val="FFFFFF"/>
                </a:solidFill>
                <a:latin typeface="EYInterstate" panose="02000503020000020004" pitchFamily="2" charset="0"/>
                <a:ea typeface="+mn-lt"/>
                <a:cs typeface="Arial" panose="020B0604020202020204" pitchFamily="34" charset="0"/>
              </a:rPr>
              <a:t>De </a:t>
            </a:r>
            <a:r>
              <a:rPr lang="en-US" sz="2000" b="1" err="1">
                <a:solidFill>
                  <a:srgbClr val="FFFFFF"/>
                </a:solidFill>
                <a:latin typeface="EYInterstate" panose="02000503020000020004" pitchFamily="2" charset="0"/>
                <a:ea typeface="+mn-lt"/>
                <a:cs typeface="Arial" panose="020B0604020202020204" pitchFamily="34" charset="0"/>
              </a:rPr>
              <a:t>qué</a:t>
            </a:r>
            <a:r>
              <a:rPr lang="en-US" sz="2000" b="1">
                <a:solidFill>
                  <a:srgbClr val="FFFFFF"/>
                </a:solidFill>
                <a:latin typeface="EYInterstate" panose="02000503020000020004" pitchFamily="2" charset="0"/>
                <a:ea typeface="+mn-lt"/>
                <a:cs typeface="Arial" panose="020B0604020202020204" pitchFamily="34" charset="0"/>
              </a:rPr>
              <a:t> </a:t>
            </a:r>
            <a:r>
              <a:rPr lang="en-US" sz="2000" b="1" err="1">
                <a:solidFill>
                  <a:srgbClr val="FFFFFF"/>
                </a:solidFill>
                <a:latin typeface="EYInterstate" panose="02000503020000020004" pitchFamily="2" charset="0"/>
                <a:ea typeface="+mn-lt"/>
                <a:cs typeface="Arial" panose="020B0604020202020204" pitchFamily="34" charset="0"/>
              </a:rPr>
              <a:t>depende</a:t>
            </a:r>
            <a:r>
              <a:rPr lang="en-US" sz="2000" b="1">
                <a:solidFill>
                  <a:srgbClr val="FFFFFF"/>
                </a:solidFill>
                <a:latin typeface="EYInterstate" panose="02000503020000020004" pitchFamily="2" charset="0"/>
                <a:ea typeface="+mn-lt"/>
                <a:cs typeface="Arial" panose="020B0604020202020204" pitchFamily="34" charset="0"/>
              </a:rPr>
              <a:t> el </a:t>
            </a:r>
            <a:r>
              <a:rPr lang="en-US" sz="2000" b="1" err="1">
                <a:solidFill>
                  <a:srgbClr val="FFFFFF"/>
                </a:solidFill>
                <a:latin typeface="EYInterstate" panose="02000503020000020004" pitchFamily="2" charset="0"/>
                <a:ea typeface="+mn-lt"/>
                <a:cs typeface="Arial" panose="020B0604020202020204" pitchFamily="34" charset="0"/>
              </a:rPr>
              <a:t>uso</a:t>
            </a:r>
            <a:r>
              <a:rPr lang="en-US" sz="2000" b="1">
                <a:solidFill>
                  <a:srgbClr val="FFFFFF"/>
                </a:solidFill>
                <a:latin typeface="EYInterstate" panose="02000503020000020004" pitchFamily="2" charset="0"/>
                <a:ea typeface="+mn-lt"/>
                <a:cs typeface="Arial" panose="020B0604020202020204" pitchFamily="34" charset="0"/>
              </a:rPr>
              <a:t> de </a:t>
            </a: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YInterstate" panose="02000503020000020004" pitchFamily="2" charset="0"/>
                <a:ea typeface="+mn-lt"/>
                <a:cs typeface="Arial" panose="020B0604020202020204" pitchFamily="34" charset="0"/>
              </a:rPr>
              <a:t>la Administración D</a:t>
            </a:r>
            <a:r>
              <a:rPr lang="en-US" sz="2000" b="1" err="1">
                <a:solidFill>
                  <a:srgbClr val="FFFFFF"/>
                </a:solidFill>
                <a:latin typeface="EYInterstate" panose="02000503020000020004" pitchFamily="2" charset="0"/>
                <a:ea typeface="+mn-lt"/>
                <a:cs typeface="Arial" panose="020B0604020202020204" pitchFamily="34" charset="0"/>
              </a:rPr>
              <a:t>igital</a:t>
            </a:r>
            <a:r>
              <a:rPr lang="en-US" sz="2000" b="1">
                <a:solidFill>
                  <a:srgbClr val="FFFFFF"/>
                </a:solidFill>
                <a:latin typeface="EYInterstate" panose="02000503020000020004" pitchFamily="2" charset="0"/>
                <a:ea typeface="+mn-lt"/>
                <a:cs typeface="Arial" panose="020B0604020202020204" pitchFamily="34" charset="0"/>
              </a:rPr>
              <a:t>: las </a:t>
            </a:r>
            <a:r>
              <a:rPr lang="en-US" sz="2000" b="1" err="1">
                <a:solidFill>
                  <a:srgbClr val="FFFFFF"/>
                </a:solidFill>
                <a:latin typeface="EYInterstate" panose="02000503020000020004" pitchFamily="2" charset="0"/>
                <a:ea typeface="+mn-lt"/>
                <a:cs typeface="Arial" panose="020B0604020202020204" pitchFamily="34" charset="0"/>
              </a:rPr>
              <a:t>plataformas</a:t>
            </a:r>
            <a:r>
              <a:rPr lang="en-US" sz="2000" b="1">
                <a:solidFill>
                  <a:srgbClr val="FFFFFF"/>
                </a:solidFill>
                <a:latin typeface="EYInterstate" panose="02000503020000020004" pitchFamily="2" charset="0"/>
                <a:ea typeface="+mn-lt"/>
                <a:cs typeface="Arial" panose="020B0604020202020204" pitchFamily="34" charset="0"/>
              </a:rPr>
              <a:t> o las personas</a:t>
            </a: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YInterstate" panose="02000503020000020004" pitchFamily="2" charset="0"/>
                <a:ea typeface="+mn-lt"/>
                <a:cs typeface="Arial" panose="020B0604020202020204" pitchFamily="34" charset="0"/>
              </a:rPr>
              <a:t>?</a:t>
            </a:r>
            <a:endParaRPr lang="es-ES" sz="2000">
              <a:latin typeface="EYInterstate" panose="02000503020000020004" pitchFamily="2" charset="0"/>
              <a:ea typeface="+mn-lt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3291840"/>
            <a:ext cx="3931920" cy="345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Calidad de las </a:t>
            </a: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plataformas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, </a:t>
            </a: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competencias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digitales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básicas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de la población y </a:t>
            </a: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uso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de la Administración online </a:t>
            </a: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en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la UE (2025)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EYInterstate" panose="02000503020000020004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58368" y="3848911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err="1">
                <a:ln>
                  <a:noFill/>
                </a:ln>
                <a:solidFill>
                  <a:srgbClr val="FFE600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Administraci</a:t>
            </a:r>
            <a:r>
              <a:rPr lang="en-US" sz="1000" b="1" err="1">
                <a:solidFill>
                  <a:srgbClr val="FFE60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ón</a:t>
            </a:r>
            <a:r>
              <a:rPr lang="en-US" sz="1000" b="1">
                <a:solidFill>
                  <a:srgbClr val="FFE60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Digital </a:t>
            </a:r>
            <a:r>
              <a:rPr lang="en-US" sz="1000" b="1" err="1">
                <a:solidFill>
                  <a:srgbClr val="FFE60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en</a:t>
            </a:r>
            <a:r>
              <a:rPr lang="en-US" sz="1000" b="1">
                <a:solidFill>
                  <a:srgbClr val="FFE60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Europa | </a:t>
            </a:r>
            <a:r>
              <a:rPr kumimoji="0" lang="en-US" sz="1000" b="1" i="0" u="none" strike="noStrike" kern="1200" cap="none" spc="0" normalizeH="0" baseline="0" noProof="0" err="1">
                <a:ln>
                  <a:noFill/>
                </a:ln>
                <a:solidFill>
                  <a:srgbClr val="FFE600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Octubre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E600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2026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EYInterstate" panose="02000503020000020004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28016" cy="128016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es-ES">
              <a:latin typeface="EYInterstate" panose="02000503020000020004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58368" y="24688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AGENDA</a:t>
            </a:r>
            <a:endParaRPr lang="en-US" sz="850">
              <a:latin typeface="EYInterstate" panose="02000503020000020004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398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000">
              <a:latin typeface="EYInterstate" panose="02000503020000020004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4681728"/>
            <a:ext cx="8229600" cy="0"/>
          </a:xfrm>
          <a:prstGeom prst="line">
            <a:avLst/>
          </a:prstGeom>
          <a:noFill/>
          <a:ln w="6350">
            <a:solidFill>
              <a:srgbClr val="C4C4CD"/>
            </a:solidFill>
            <a:prstDash val="solid"/>
          </a:ln>
        </p:spPr>
        <p:txBody>
          <a:bodyPr/>
          <a:lstStyle/>
          <a:p>
            <a:endParaRPr lang="es-ES">
              <a:latin typeface="EYInterstate" panose="02000503020000020004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772400" y="47274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EY</a:t>
            </a:r>
            <a:r>
              <a:rPr lang="en-US" sz="80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  2</a:t>
            </a:r>
            <a:endParaRPr lang="en-US" sz="800">
              <a:latin typeface="EYInterstate" panose="02000503020000020004" pitchFamily="2" charset="0"/>
            </a:endParaRPr>
          </a:p>
        </p:txBody>
      </p: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0E9523E3-0748-D846-2935-F332055FB545}"/>
              </a:ext>
            </a:extLst>
          </p:cNvPr>
          <p:cNvGrpSpPr/>
          <p:nvPr/>
        </p:nvGrpSpPr>
        <p:grpSpPr>
          <a:xfrm>
            <a:off x="457200" y="1017238"/>
            <a:ext cx="8229600" cy="460519"/>
            <a:chOff x="457200" y="1101543"/>
            <a:chExt cx="6047362" cy="460519"/>
          </a:xfrm>
        </p:grpSpPr>
        <p:sp>
          <p:nvSpPr>
            <p:cNvPr id="45" name="Shape 5">
              <a:extLst>
                <a:ext uri="{FF2B5EF4-FFF2-40B4-BE49-F238E27FC236}">
                  <a16:creationId xmlns:a16="http://schemas.microsoft.com/office/drawing/2014/main" id="{A6003EC7-B2DA-A130-A5B7-7762AB206DF1}"/>
                </a:ext>
              </a:extLst>
            </p:cNvPr>
            <p:cNvSpPr/>
            <p:nvPr/>
          </p:nvSpPr>
          <p:spPr>
            <a:xfrm>
              <a:off x="457200" y="1101543"/>
              <a:ext cx="6047362" cy="460519"/>
            </a:xfrm>
            <a:prstGeom prst="rect">
              <a:avLst/>
            </a:prstGeom>
            <a:solidFill>
              <a:srgbClr val="F6F6FA"/>
            </a:solidFill>
            <a:ln w="12700">
              <a:solidFill>
                <a:srgbClr val="F6F6FA"/>
              </a:solidFill>
              <a:prstDash val="solid"/>
            </a:ln>
          </p:spPr>
          <p:txBody>
            <a:bodyPr/>
            <a:lstStyle/>
            <a:p>
              <a:endParaRPr lang="es-ES">
                <a:latin typeface="EYInterstate" panose="02000503020000020004" pitchFamily="2" charset="0"/>
              </a:endParaRPr>
            </a:p>
          </p:txBody>
        </p:sp>
        <p:sp>
          <p:nvSpPr>
            <p:cNvPr id="47" name="Shape 6">
              <a:extLst>
                <a:ext uri="{FF2B5EF4-FFF2-40B4-BE49-F238E27FC236}">
                  <a16:creationId xmlns:a16="http://schemas.microsoft.com/office/drawing/2014/main" id="{9019A6DB-BDBA-357C-2647-4BC2F17062AE}"/>
                </a:ext>
              </a:extLst>
            </p:cNvPr>
            <p:cNvSpPr/>
            <p:nvPr/>
          </p:nvSpPr>
          <p:spPr>
            <a:xfrm>
              <a:off x="457200" y="1101543"/>
              <a:ext cx="917903" cy="460519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s-ES">
                <a:latin typeface="EYInterstate" panose="02000503020000020004" pitchFamily="2" charset="0"/>
              </a:endParaRPr>
            </a:p>
          </p:txBody>
        </p:sp>
        <p:sp>
          <p:nvSpPr>
            <p:cNvPr id="49" name="Text 7">
              <a:extLst>
                <a:ext uri="{FF2B5EF4-FFF2-40B4-BE49-F238E27FC236}">
                  <a16:creationId xmlns:a16="http://schemas.microsoft.com/office/drawing/2014/main" id="{338CBB37-A402-BD87-7260-345D9A60978F}"/>
                </a:ext>
              </a:extLst>
            </p:cNvPr>
            <p:cNvSpPr/>
            <p:nvPr/>
          </p:nvSpPr>
          <p:spPr>
            <a:xfrm>
              <a:off x="457200" y="1101543"/>
              <a:ext cx="917903" cy="4605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>
                  <a:solidFill>
                    <a:srgbClr val="FFE600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01</a:t>
              </a:r>
              <a:endParaRPr lang="en-US" sz="2000">
                <a:latin typeface="EYInterstate" panose="02000503020000020004" pitchFamily="2" charset="0"/>
              </a:endParaRPr>
            </a:p>
          </p:txBody>
        </p:sp>
        <p:sp>
          <p:nvSpPr>
            <p:cNvPr id="51" name="Text 8">
              <a:extLst>
                <a:ext uri="{FF2B5EF4-FFF2-40B4-BE49-F238E27FC236}">
                  <a16:creationId xmlns:a16="http://schemas.microsoft.com/office/drawing/2014/main" id="{31B3EBE6-738A-4B60-FE31-A19DC1A94251}"/>
                </a:ext>
              </a:extLst>
            </p:cNvPr>
            <p:cNvSpPr/>
            <p:nvPr/>
          </p:nvSpPr>
          <p:spPr>
            <a:xfrm>
              <a:off x="1591080" y="1101543"/>
              <a:ext cx="4751499" cy="4605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err="1">
                  <a:solidFill>
                    <a:srgbClr val="000000"/>
                  </a:solidFill>
                  <a:latin typeface="EYInterstate" panose="02000503020000020004" pitchFamily="2" charset="0"/>
                  <a:ea typeface="Arial" pitchFamily="34" charset="-122"/>
                  <a:cs typeface="Arial" panose="020B0604020202020204" pitchFamily="34" charset="0"/>
                </a:rPr>
                <a:t>Contexto</a:t>
              </a:r>
              <a:endParaRPr lang="en-US" sz="1300">
                <a:latin typeface="EYInterstate" panose="02000503020000020004" pitchFamily="2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E7E0A71E-71FA-EF6A-793A-6E0767B3C373}"/>
              </a:ext>
            </a:extLst>
          </p:cNvPr>
          <p:cNvGrpSpPr/>
          <p:nvPr/>
        </p:nvGrpSpPr>
        <p:grpSpPr>
          <a:xfrm>
            <a:off x="457200" y="1602315"/>
            <a:ext cx="8229600" cy="460519"/>
            <a:chOff x="457200" y="1644471"/>
            <a:chExt cx="6047362" cy="460519"/>
          </a:xfrm>
        </p:grpSpPr>
        <p:sp>
          <p:nvSpPr>
            <p:cNvPr id="53" name="Shape 9">
              <a:extLst>
                <a:ext uri="{FF2B5EF4-FFF2-40B4-BE49-F238E27FC236}">
                  <a16:creationId xmlns:a16="http://schemas.microsoft.com/office/drawing/2014/main" id="{3DBDE4FB-E27C-3EEB-9037-7EF877766A85}"/>
                </a:ext>
              </a:extLst>
            </p:cNvPr>
            <p:cNvSpPr/>
            <p:nvPr/>
          </p:nvSpPr>
          <p:spPr>
            <a:xfrm>
              <a:off x="457200" y="1644471"/>
              <a:ext cx="6047362" cy="460519"/>
            </a:xfrm>
            <a:prstGeom prst="rect">
              <a:avLst/>
            </a:prstGeom>
            <a:solidFill>
              <a:srgbClr val="F6F6FA"/>
            </a:solidFill>
            <a:ln w="12700">
              <a:solidFill>
                <a:srgbClr val="F6F6FA"/>
              </a:solidFill>
              <a:prstDash val="solid"/>
            </a:ln>
          </p:spPr>
          <p:txBody>
            <a:bodyPr/>
            <a:lstStyle/>
            <a:p>
              <a:endParaRPr lang="es-ES">
                <a:latin typeface="EYInterstate" panose="02000503020000020004" pitchFamily="2" charset="0"/>
              </a:endParaRPr>
            </a:p>
          </p:txBody>
        </p:sp>
        <p:sp>
          <p:nvSpPr>
            <p:cNvPr id="55" name="Shape 10">
              <a:extLst>
                <a:ext uri="{FF2B5EF4-FFF2-40B4-BE49-F238E27FC236}">
                  <a16:creationId xmlns:a16="http://schemas.microsoft.com/office/drawing/2014/main" id="{752168B4-38A7-0688-6945-661E3009BA30}"/>
                </a:ext>
              </a:extLst>
            </p:cNvPr>
            <p:cNvSpPr/>
            <p:nvPr/>
          </p:nvSpPr>
          <p:spPr>
            <a:xfrm>
              <a:off x="457200" y="1644471"/>
              <a:ext cx="917903" cy="460519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s-ES">
                <a:latin typeface="EYInterstate" panose="02000503020000020004" pitchFamily="2" charset="0"/>
              </a:endParaRPr>
            </a:p>
          </p:txBody>
        </p:sp>
        <p:sp>
          <p:nvSpPr>
            <p:cNvPr id="57" name="Text 11">
              <a:extLst>
                <a:ext uri="{FF2B5EF4-FFF2-40B4-BE49-F238E27FC236}">
                  <a16:creationId xmlns:a16="http://schemas.microsoft.com/office/drawing/2014/main" id="{3EF0CADA-5121-930C-7784-92E334A9E94F}"/>
                </a:ext>
              </a:extLst>
            </p:cNvPr>
            <p:cNvSpPr/>
            <p:nvPr/>
          </p:nvSpPr>
          <p:spPr>
            <a:xfrm>
              <a:off x="457200" y="1644471"/>
              <a:ext cx="917903" cy="4605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>
                  <a:solidFill>
                    <a:srgbClr val="FFE600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02</a:t>
              </a:r>
              <a:endParaRPr lang="en-US" sz="2000">
                <a:latin typeface="EYInterstate" panose="02000503020000020004" pitchFamily="2" charset="0"/>
              </a:endParaRPr>
            </a:p>
          </p:txBody>
        </p:sp>
        <p:sp>
          <p:nvSpPr>
            <p:cNvPr id="59" name="Text 12">
              <a:extLst>
                <a:ext uri="{FF2B5EF4-FFF2-40B4-BE49-F238E27FC236}">
                  <a16:creationId xmlns:a16="http://schemas.microsoft.com/office/drawing/2014/main" id="{0447522A-8EBD-DDD7-3676-823C73DE3D96}"/>
                </a:ext>
              </a:extLst>
            </p:cNvPr>
            <p:cNvSpPr/>
            <p:nvPr/>
          </p:nvSpPr>
          <p:spPr>
            <a:xfrm>
              <a:off x="1591080" y="1644471"/>
              <a:ext cx="4751499" cy="4605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300">
                  <a:solidFill>
                    <a:srgbClr val="000000"/>
                  </a:solidFill>
                  <a:latin typeface="EYInterstate" panose="02000503020000020004" pitchFamily="2" charset="0"/>
                  <a:cs typeface="Arial" panose="020B0604020202020204" pitchFamily="34" charset="0"/>
                </a:rPr>
                <a:t>P1 – Calidad de la Plataforma</a:t>
              </a:r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8DA65CF2-B31B-387B-84DE-0A00C84835ED}"/>
              </a:ext>
            </a:extLst>
          </p:cNvPr>
          <p:cNvGrpSpPr/>
          <p:nvPr/>
        </p:nvGrpSpPr>
        <p:grpSpPr>
          <a:xfrm>
            <a:off x="457200" y="2187392"/>
            <a:ext cx="8229600" cy="460519"/>
            <a:chOff x="457200" y="2187398"/>
            <a:chExt cx="6047362" cy="460519"/>
          </a:xfrm>
        </p:grpSpPr>
        <p:sp>
          <p:nvSpPr>
            <p:cNvPr id="61" name="Shape 13">
              <a:extLst>
                <a:ext uri="{FF2B5EF4-FFF2-40B4-BE49-F238E27FC236}">
                  <a16:creationId xmlns:a16="http://schemas.microsoft.com/office/drawing/2014/main" id="{913AD8D5-2AF5-F38B-190D-AA56DCC586B6}"/>
                </a:ext>
              </a:extLst>
            </p:cNvPr>
            <p:cNvSpPr/>
            <p:nvPr/>
          </p:nvSpPr>
          <p:spPr>
            <a:xfrm>
              <a:off x="457200" y="2187398"/>
              <a:ext cx="6047362" cy="460519"/>
            </a:xfrm>
            <a:prstGeom prst="rect">
              <a:avLst/>
            </a:prstGeom>
            <a:solidFill>
              <a:srgbClr val="F6F6FA"/>
            </a:solidFill>
            <a:ln w="12700">
              <a:solidFill>
                <a:srgbClr val="F6F6FA"/>
              </a:solidFill>
              <a:prstDash val="solid"/>
            </a:ln>
          </p:spPr>
          <p:txBody>
            <a:bodyPr/>
            <a:lstStyle/>
            <a:p>
              <a:endParaRPr lang="es-ES">
                <a:latin typeface="EYInterstate" panose="02000503020000020004" pitchFamily="2" charset="0"/>
              </a:endParaRPr>
            </a:p>
          </p:txBody>
        </p:sp>
        <p:sp>
          <p:nvSpPr>
            <p:cNvPr id="63" name="Shape 14">
              <a:extLst>
                <a:ext uri="{FF2B5EF4-FFF2-40B4-BE49-F238E27FC236}">
                  <a16:creationId xmlns:a16="http://schemas.microsoft.com/office/drawing/2014/main" id="{7AA0BC77-E6CB-EF54-A5FE-927E76C18641}"/>
                </a:ext>
              </a:extLst>
            </p:cNvPr>
            <p:cNvSpPr/>
            <p:nvPr/>
          </p:nvSpPr>
          <p:spPr>
            <a:xfrm>
              <a:off x="457200" y="2187398"/>
              <a:ext cx="917903" cy="460519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s-ES">
                <a:latin typeface="EYInterstate" panose="02000503020000020004" pitchFamily="2" charset="0"/>
              </a:endParaRPr>
            </a:p>
          </p:txBody>
        </p:sp>
        <p:sp>
          <p:nvSpPr>
            <p:cNvPr id="65" name="Text 15">
              <a:extLst>
                <a:ext uri="{FF2B5EF4-FFF2-40B4-BE49-F238E27FC236}">
                  <a16:creationId xmlns:a16="http://schemas.microsoft.com/office/drawing/2014/main" id="{5D4C8447-3D93-143C-12DC-1A2C00C2F20E}"/>
                </a:ext>
              </a:extLst>
            </p:cNvPr>
            <p:cNvSpPr/>
            <p:nvPr/>
          </p:nvSpPr>
          <p:spPr>
            <a:xfrm>
              <a:off x="457200" y="2187398"/>
              <a:ext cx="917903" cy="4605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>
                  <a:solidFill>
                    <a:srgbClr val="FFE600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03</a:t>
              </a:r>
              <a:endParaRPr lang="en-US" sz="2000">
                <a:latin typeface="EYInterstate" panose="02000503020000020004" pitchFamily="2" charset="0"/>
              </a:endParaRPr>
            </a:p>
          </p:txBody>
        </p:sp>
        <p:sp>
          <p:nvSpPr>
            <p:cNvPr id="67" name="Text 16">
              <a:extLst>
                <a:ext uri="{FF2B5EF4-FFF2-40B4-BE49-F238E27FC236}">
                  <a16:creationId xmlns:a16="http://schemas.microsoft.com/office/drawing/2014/main" id="{CCB1AD5F-D69C-4EA2-9E49-14CDF8B531F9}"/>
                </a:ext>
              </a:extLst>
            </p:cNvPr>
            <p:cNvSpPr/>
            <p:nvPr/>
          </p:nvSpPr>
          <p:spPr>
            <a:xfrm>
              <a:off x="1591080" y="2187398"/>
              <a:ext cx="4751499" cy="4605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300">
                  <a:solidFill>
                    <a:srgbClr val="000000"/>
                  </a:solidFill>
                  <a:latin typeface="EYInterstate" panose="02000503020000020004" pitchFamily="2" charset="0"/>
                  <a:cs typeface="Arial" panose="020B0604020202020204" pitchFamily="34" charset="0"/>
                </a:rPr>
                <a:t>P2 – </a:t>
              </a:r>
              <a:r>
                <a:rPr lang="en-US" sz="1300" err="1">
                  <a:solidFill>
                    <a:srgbClr val="000000"/>
                  </a:solidFill>
                  <a:latin typeface="EYInterstate" panose="02000503020000020004" pitchFamily="2" charset="0"/>
                  <a:cs typeface="Arial" panose="020B0604020202020204" pitchFamily="34" charset="0"/>
                </a:rPr>
                <a:t>Competencia</a:t>
              </a:r>
              <a:r>
                <a:rPr lang="en-US" sz="1300">
                  <a:solidFill>
                    <a:srgbClr val="000000"/>
                  </a:solidFill>
                  <a:latin typeface="EYInterstate" panose="02000503020000020004" pitchFamily="2" charset="0"/>
                  <a:cs typeface="Arial" panose="020B0604020202020204" pitchFamily="34" charset="0"/>
                </a:rPr>
                <a:t> y </a:t>
              </a:r>
              <a:r>
                <a:rPr lang="en-US" sz="1300" err="1">
                  <a:solidFill>
                    <a:srgbClr val="000000"/>
                  </a:solidFill>
                  <a:latin typeface="EYInterstate" panose="02000503020000020004" pitchFamily="2" charset="0"/>
                  <a:cs typeface="Arial" panose="020B0604020202020204" pitchFamily="34" charset="0"/>
                </a:rPr>
                <a:t>uso</a:t>
              </a:r>
              <a:endParaRPr lang="en-US" sz="1300">
                <a:solidFill>
                  <a:srgbClr val="000000"/>
                </a:solidFill>
                <a:latin typeface="EYInterstate" panose="02000503020000020004" pitchFamily="2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D1438D4D-F811-36CC-7B55-749C4F1A402D}"/>
              </a:ext>
            </a:extLst>
          </p:cNvPr>
          <p:cNvGrpSpPr/>
          <p:nvPr/>
        </p:nvGrpSpPr>
        <p:grpSpPr>
          <a:xfrm>
            <a:off x="457200" y="2772469"/>
            <a:ext cx="8229600" cy="460519"/>
            <a:chOff x="457200" y="2778948"/>
            <a:chExt cx="6047362" cy="460519"/>
          </a:xfrm>
        </p:grpSpPr>
        <p:sp>
          <p:nvSpPr>
            <p:cNvPr id="86" name="Shape 9">
              <a:extLst>
                <a:ext uri="{FF2B5EF4-FFF2-40B4-BE49-F238E27FC236}">
                  <a16:creationId xmlns:a16="http://schemas.microsoft.com/office/drawing/2014/main" id="{F6CFA635-B6F7-D368-8CCC-830D5D50E6D1}"/>
                </a:ext>
              </a:extLst>
            </p:cNvPr>
            <p:cNvSpPr/>
            <p:nvPr/>
          </p:nvSpPr>
          <p:spPr>
            <a:xfrm>
              <a:off x="457200" y="2778948"/>
              <a:ext cx="6047362" cy="460519"/>
            </a:xfrm>
            <a:prstGeom prst="rect">
              <a:avLst/>
            </a:prstGeom>
            <a:solidFill>
              <a:srgbClr val="F6F6FA"/>
            </a:solidFill>
            <a:ln w="12700">
              <a:solidFill>
                <a:srgbClr val="F6F6FA"/>
              </a:solidFill>
              <a:prstDash val="solid"/>
            </a:ln>
          </p:spPr>
          <p:txBody>
            <a:bodyPr/>
            <a:lstStyle/>
            <a:p>
              <a:endParaRPr lang="es-ES">
                <a:latin typeface="EYInterstate" panose="02000503020000020004" pitchFamily="2" charset="0"/>
              </a:endParaRPr>
            </a:p>
          </p:txBody>
        </p:sp>
        <p:sp>
          <p:nvSpPr>
            <p:cNvPr id="88" name="Shape 10">
              <a:extLst>
                <a:ext uri="{FF2B5EF4-FFF2-40B4-BE49-F238E27FC236}">
                  <a16:creationId xmlns:a16="http://schemas.microsoft.com/office/drawing/2014/main" id="{EC29C6CE-18D9-1C6D-1422-330DB800601C}"/>
                </a:ext>
              </a:extLst>
            </p:cNvPr>
            <p:cNvSpPr/>
            <p:nvPr/>
          </p:nvSpPr>
          <p:spPr>
            <a:xfrm>
              <a:off x="457200" y="2778948"/>
              <a:ext cx="917903" cy="460519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s-ES">
                <a:latin typeface="EYInterstate" panose="02000503020000020004" pitchFamily="2" charset="0"/>
              </a:endParaRPr>
            </a:p>
          </p:txBody>
        </p:sp>
        <p:sp>
          <p:nvSpPr>
            <p:cNvPr id="90" name="Text 11">
              <a:extLst>
                <a:ext uri="{FF2B5EF4-FFF2-40B4-BE49-F238E27FC236}">
                  <a16:creationId xmlns:a16="http://schemas.microsoft.com/office/drawing/2014/main" id="{AFD797EC-52C5-3182-8D2F-6D003808414C}"/>
                </a:ext>
              </a:extLst>
            </p:cNvPr>
            <p:cNvSpPr/>
            <p:nvPr/>
          </p:nvSpPr>
          <p:spPr>
            <a:xfrm>
              <a:off x="457200" y="2778948"/>
              <a:ext cx="917903" cy="4605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>
                  <a:solidFill>
                    <a:srgbClr val="FFE600"/>
                  </a:solidFill>
                  <a:latin typeface="EYInterstate" panose="02000503020000020004" pitchFamily="2" charset="0"/>
                  <a:cs typeface="Arial" pitchFamily="34" charset="-120"/>
                </a:rPr>
                <a:t>04</a:t>
              </a:r>
              <a:endParaRPr lang="en-US" sz="2000">
                <a:latin typeface="EYInterstate" panose="02000503020000020004" pitchFamily="2" charset="0"/>
              </a:endParaRPr>
            </a:p>
          </p:txBody>
        </p:sp>
        <p:sp>
          <p:nvSpPr>
            <p:cNvPr id="92" name="Text 12">
              <a:extLst>
                <a:ext uri="{FF2B5EF4-FFF2-40B4-BE49-F238E27FC236}">
                  <a16:creationId xmlns:a16="http://schemas.microsoft.com/office/drawing/2014/main" id="{A4CCD3E1-9559-24F5-F16B-B373F3F58F89}"/>
                </a:ext>
              </a:extLst>
            </p:cNvPr>
            <p:cNvSpPr/>
            <p:nvPr/>
          </p:nvSpPr>
          <p:spPr>
            <a:xfrm>
              <a:off x="1591080" y="2778948"/>
              <a:ext cx="4751499" cy="4605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300">
                  <a:solidFill>
                    <a:srgbClr val="000000"/>
                  </a:solidFill>
                  <a:latin typeface="EYInterstate" panose="02000503020000020004" pitchFamily="2" charset="0"/>
                  <a:cs typeface="Arial" panose="020B0604020202020204" pitchFamily="34" charset="0"/>
                </a:rPr>
                <a:t>P3 – Calidad y </a:t>
              </a:r>
              <a:r>
                <a:rPr lang="en-US" sz="1300" err="1">
                  <a:solidFill>
                    <a:srgbClr val="000000"/>
                  </a:solidFill>
                  <a:latin typeface="EYInterstate" panose="02000503020000020004" pitchFamily="2" charset="0"/>
                  <a:cs typeface="Arial" panose="020B0604020202020204" pitchFamily="34" charset="0"/>
                </a:rPr>
                <a:t>uso</a:t>
              </a:r>
              <a:r>
                <a:rPr lang="en-US" sz="1300">
                  <a:solidFill>
                    <a:srgbClr val="000000"/>
                  </a:solidFill>
                  <a:latin typeface="EYInterstate" panose="02000503020000020004" pitchFamily="2" charset="0"/>
                  <a:cs typeface="Arial" panose="020B0604020202020204" pitchFamily="34" charset="0"/>
                </a:rPr>
                <a:t> </a:t>
              </a:r>
            </a:p>
          </p:txBody>
        </p: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5F909885-3374-F0D0-D8BF-44F4E8F95F7A}"/>
              </a:ext>
            </a:extLst>
          </p:cNvPr>
          <p:cNvGrpSpPr/>
          <p:nvPr/>
        </p:nvGrpSpPr>
        <p:grpSpPr>
          <a:xfrm>
            <a:off x="457200" y="3357546"/>
            <a:ext cx="8229600" cy="460519"/>
            <a:chOff x="457200" y="3321875"/>
            <a:chExt cx="6047362" cy="460519"/>
          </a:xfrm>
        </p:grpSpPr>
        <p:sp>
          <p:nvSpPr>
            <p:cNvPr id="94" name="Shape 13">
              <a:extLst>
                <a:ext uri="{FF2B5EF4-FFF2-40B4-BE49-F238E27FC236}">
                  <a16:creationId xmlns:a16="http://schemas.microsoft.com/office/drawing/2014/main" id="{0BD5A30A-15BC-56A1-37DC-04731C699BA1}"/>
                </a:ext>
              </a:extLst>
            </p:cNvPr>
            <p:cNvSpPr/>
            <p:nvPr/>
          </p:nvSpPr>
          <p:spPr>
            <a:xfrm>
              <a:off x="457200" y="3321875"/>
              <a:ext cx="6047362" cy="460519"/>
            </a:xfrm>
            <a:prstGeom prst="rect">
              <a:avLst/>
            </a:prstGeom>
            <a:solidFill>
              <a:srgbClr val="F6F6FA"/>
            </a:solidFill>
            <a:ln w="12700">
              <a:solidFill>
                <a:srgbClr val="F6F6FA"/>
              </a:solidFill>
              <a:prstDash val="solid"/>
            </a:ln>
          </p:spPr>
          <p:txBody>
            <a:bodyPr/>
            <a:lstStyle/>
            <a:p>
              <a:endParaRPr lang="es-ES">
                <a:latin typeface="EYInterstate" panose="02000503020000020004" pitchFamily="2" charset="0"/>
              </a:endParaRPr>
            </a:p>
          </p:txBody>
        </p:sp>
        <p:sp>
          <p:nvSpPr>
            <p:cNvPr id="96" name="Shape 14">
              <a:extLst>
                <a:ext uri="{FF2B5EF4-FFF2-40B4-BE49-F238E27FC236}">
                  <a16:creationId xmlns:a16="http://schemas.microsoft.com/office/drawing/2014/main" id="{62DEC0E2-B264-5269-81C1-942ADD3E6645}"/>
                </a:ext>
              </a:extLst>
            </p:cNvPr>
            <p:cNvSpPr/>
            <p:nvPr/>
          </p:nvSpPr>
          <p:spPr>
            <a:xfrm>
              <a:off x="457200" y="3321875"/>
              <a:ext cx="917903" cy="460519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s-ES">
                <a:latin typeface="EYInterstate" panose="02000503020000020004" pitchFamily="2" charset="0"/>
              </a:endParaRPr>
            </a:p>
          </p:txBody>
        </p:sp>
        <p:sp>
          <p:nvSpPr>
            <p:cNvPr id="98" name="Text 15">
              <a:extLst>
                <a:ext uri="{FF2B5EF4-FFF2-40B4-BE49-F238E27FC236}">
                  <a16:creationId xmlns:a16="http://schemas.microsoft.com/office/drawing/2014/main" id="{3AF7A5D6-9C34-D3C5-482C-1088F064D74D}"/>
                </a:ext>
              </a:extLst>
            </p:cNvPr>
            <p:cNvSpPr/>
            <p:nvPr/>
          </p:nvSpPr>
          <p:spPr>
            <a:xfrm>
              <a:off x="457200" y="3321875"/>
              <a:ext cx="917903" cy="4605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>
                  <a:solidFill>
                    <a:srgbClr val="FFE600"/>
                  </a:solidFill>
                  <a:latin typeface="EYInterstate" panose="02000503020000020004" pitchFamily="2" charset="0"/>
                  <a:cs typeface="Arial" pitchFamily="34" charset="-120"/>
                </a:rPr>
                <a:t>05</a:t>
              </a:r>
              <a:endParaRPr lang="en-US" sz="2000">
                <a:latin typeface="EYInterstate" panose="02000503020000020004" pitchFamily="2" charset="0"/>
              </a:endParaRPr>
            </a:p>
          </p:txBody>
        </p:sp>
        <p:sp>
          <p:nvSpPr>
            <p:cNvPr id="100" name="Text 16">
              <a:extLst>
                <a:ext uri="{FF2B5EF4-FFF2-40B4-BE49-F238E27FC236}">
                  <a16:creationId xmlns:a16="http://schemas.microsoft.com/office/drawing/2014/main" id="{15DB3DCE-5806-8EF4-9321-C54300BA655A}"/>
                </a:ext>
              </a:extLst>
            </p:cNvPr>
            <p:cNvSpPr/>
            <p:nvPr/>
          </p:nvSpPr>
          <p:spPr>
            <a:xfrm>
              <a:off x="1591080" y="3321875"/>
              <a:ext cx="4751499" cy="4605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300" err="1">
                  <a:solidFill>
                    <a:srgbClr val="000000"/>
                  </a:solidFill>
                  <a:latin typeface="EYInterstate" panose="02000503020000020004" pitchFamily="2" charset="0"/>
                  <a:cs typeface="Arial" panose="020B0604020202020204" pitchFamily="34" charset="0"/>
                </a:rPr>
                <a:t>Conclusiones</a:t>
              </a:r>
              <a:r>
                <a:rPr lang="en-US" sz="1300">
                  <a:solidFill>
                    <a:srgbClr val="000000"/>
                  </a:solidFill>
                  <a:latin typeface="EYInterstate" panose="02000503020000020004" pitchFamily="2" charset="0"/>
                  <a:cs typeface="Arial" panose="020B0604020202020204" pitchFamily="34" charset="0"/>
                </a:rPr>
                <a:t> y </a:t>
              </a:r>
              <a:r>
                <a:rPr lang="en-US" sz="1300" err="1">
                  <a:solidFill>
                    <a:srgbClr val="000000"/>
                  </a:solidFill>
                  <a:latin typeface="EYInterstate" panose="02000503020000020004" pitchFamily="2" charset="0"/>
                  <a:cs typeface="Arial" panose="020B0604020202020204" pitchFamily="34" charset="0"/>
                </a:rPr>
                <a:t>recomendaciones</a:t>
              </a:r>
              <a:endParaRPr lang="en-US" sz="1300">
                <a:solidFill>
                  <a:srgbClr val="000000"/>
                </a:solidFill>
                <a:latin typeface="EYInterstate" panose="02000503020000020004" pitchFamily="2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5FCD0A98-336E-0755-6C44-4BEA97E7FDC8}"/>
              </a:ext>
            </a:extLst>
          </p:cNvPr>
          <p:cNvGrpSpPr/>
          <p:nvPr/>
        </p:nvGrpSpPr>
        <p:grpSpPr>
          <a:xfrm>
            <a:off x="457200" y="3942622"/>
            <a:ext cx="8229600" cy="460519"/>
            <a:chOff x="457200" y="3864802"/>
            <a:chExt cx="6047362" cy="460519"/>
          </a:xfrm>
        </p:grpSpPr>
        <p:sp>
          <p:nvSpPr>
            <p:cNvPr id="102" name="Shape 13">
              <a:extLst>
                <a:ext uri="{FF2B5EF4-FFF2-40B4-BE49-F238E27FC236}">
                  <a16:creationId xmlns:a16="http://schemas.microsoft.com/office/drawing/2014/main" id="{0E0425AD-C6B1-B0F7-A6E9-84C85563C29A}"/>
                </a:ext>
              </a:extLst>
            </p:cNvPr>
            <p:cNvSpPr/>
            <p:nvPr/>
          </p:nvSpPr>
          <p:spPr>
            <a:xfrm>
              <a:off x="457200" y="3864802"/>
              <a:ext cx="6047362" cy="460519"/>
            </a:xfrm>
            <a:prstGeom prst="rect">
              <a:avLst/>
            </a:prstGeom>
            <a:solidFill>
              <a:srgbClr val="F6F6FA"/>
            </a:solidFill>
            <a:ln w="12700">
              <a:solidFill>
                <a:srgbClr val="F6F6FA"/>
              </a:solidFill>
              <a:prstDash val="solid"/>
            </a:ln>
          </p:spPr>
          <p:txBody>
            <a:bodyPr/>
            <a:lstStyle/>
            <a:p>
              <a:endParaRPr lang="es-ES">
                <a:latin typeface="EYInterstate" panose="02000503020000020004" pitchFamily="2" charset="0"/>
              </a:endParaRPr>
            </a:p>
          </p:txBody>
        </p:sp>
        <p:sp>
          <p:nvSpPr>
            <p:cNvPr id="104" name="Shape 14">
              <a:extLst>
                <a:ext uri="{FF2B5EF4-FFF2-40B4-BE49-F238E27FC236}">
                  <a16:creationId xmlns:a16="http://schemas.microsoft.com/office/drawing/2014/main" id="{6F81D97B-453A-6A26-2163-7C45706EACC1}"/>
                </a:ext>
              </a:extLst>
            </p:cNvPr>
            <p:cNvSpPr/>
            <p:nvPr/>
          </p:nvSpPr>
          <p:spPr>
            <a:xfrm>
              <a:off x="457200" y="3864802"/>
              <a:ext cx="917903" cy="460519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s-ES">
                <a:latin typeface="EYInterstate" panose="02000503020000020004" pitchFamily="2" charset="0"/>
              </a:endParaRPr>
            </a:p>
          </p:txBody>
        </p:sp>
        <p:sp>
          <p:nvSpPr>
            <p:cNvPr id="106" name="Text 15">
              <a:extLst>
                <a:ext uri="{FF2B5EF4-FFF2-40B4-BE49-F238E27FC236}">
                  <a16:creationId xmlns:a16="http://schemas.microsoft.com/office/drawing/2014/main" id="{F9485909-B1C1-9EE9-F647-DF1EAA1D929E}"/>
                </a:ext>
              </a:extLst>
            </p:cNvPr>
            <p:cNvSpPr/>
            <p:nvPr/>
          </p:nvSpPr>
          <p:spPr>
            <a:xfrm>
              <a:off x="457200" y="3864802"/>
              <a:ext cx="917903" cy="4605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>
                  <a:solidFill>
                    <a:srgbClr val="FFE600"/>
                  </a:solidFill>
                  <a:latin typeface="EYInterstate" panose="02000503020000020004" pitchFamily="2" charset="0"/>
                  <a:cs typeface="Arial" pitchFamily="34" charset="-120"/>
                </a:rPr>
                <a:t>06</a:t>
              </a:r>
              <a:endParaRPr lang="en-US" sz="2000">
                <a:latin typeface="EYInterstate" panose="02000503020000020004" pitchFamily="2" charset="0"/>
              </a:endParaRPr>
            </a:p>
          </p:txBody>
        </p:sp>
        <p:sp>
          <p:nvSpPr>
            <p:cNvPr id="108" name="Text 16">
              <a:extLst>
                <a:ext uri="{FF2B5EF4-FFF2-40B4-BE49-F238E27FC236}">
                  <a16:creationId xmlns:a16="http://schemas.microsoft.com/office/drawing/2014/main" id="{8833A7FA-80D6-53C6-96A4-413DA06FF99E}"/>
                </a:ext>
              </a:extLst>
            </p:cNvPr>
            <p:cNvSpPr/>
            <p:nvPr/>
          </p:nvSpPr>
          <p:spPr>
            <a:xfrm>
              <a:off x="1591080" y="3864802"/>
              <a:ext cx="4751499" cy="4605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err="1">
                  <a:solidFill>
                    <a:srgbClr val="000000"/>
                  </a:solidFill>
                  <a:latin typeface="EYInterstate" panose="02000503020000020004" pitchFamily="2" charset="0"/>
                  <a:ea typeface="Arial" pitchFamily="34" charset="-122"/>
                  <a:cs typeface="Arial" panose="020B0604020202020204" pitchFamily="34" charset="0"/>
                </a:rPr>
                <a:t>Anexos</a:t>
              </a:r>
              <a:endParaRPr lang="en-US" sz="1300">
                <a:latin typeface="EYInterstate" panose="02000503020000020004" pitchFamily="2" charset="0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384EB4-212C-D877-CE64-CFFD34DBB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F35D36F-41DB-4AD1-106F-0D4C59A86B3B}"/>
              </a:ext>
            </a:extLst>
          </p:cNvPr>
          <p:cNvSpPr/>
          <p:nvPr/>
        </p:nvSpPr>
        <p:spPr>
          <a:xfrm>
            <a:off x="457200" y="292608"/>
            <a:ext cx="128016" cy="128016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42A32B2-94F2-F023-A259-7CBDE32AE51D}"/>
              </a:ext>
            </a:extLst>
          </p:cNvPr>
          <p:cNvSpPr/>
          <p:nvPr/>
        </p:nvSpPr>
        <p:spPr>
          <a:xfrm>
            <a:off x="658368" y="24688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CONTEXTO</a:t>
            </a:r>
            <a:endParaRPr lang="en-US" sz="850">
              <a:latin typeface="EYInterstate" panose="02000503020000020004" pitchFamily="2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5021C4F-3690-6595-116F-412436BC3189}"/>
              </a:ext>
            </a:extLst>
          </p:cNvPr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err="1">
                <a:solidFill>
                  <a:srgbClr val="1A1A24"/>
                </a:solidFill>
                <a:latin typeface="EYInterstate"/>
                <a:cs typeface="Arial"/>
              </a:rPr>
              <a:t>Analizamos</a:t>
            </a:r>
            <a:r>
              <a:rPr lang="en-US" sz="2000">
                <a:solidFill>
                  <a:srgbClr val="1A1A24"/>
                </a:solidFill>
                <a:latin typeface="EYInterstate"/>
                <a:cs typeface="Arial"/>
              </a:rPr>
              <a:t> datos de </a:t>
            </a:r>
            <a:r>
              <a:rPr lang="en-US" sz="2000" err="1">
                <a:solidFill>
                  <a:srgbClr val="1A1A24"/>
                </a:solidFill>
                <a:latin typeface="EYInterstate"/>
                <a:cs typeface="Arial"/>
              </a:rPr>
              <a:t>tres</a:t>
            </a:r>
            <a:r>
              <a:rPr lang="en-US" sz="2000">
                <a:solidFill>
                  <a:srgbClr val="1A1A24"/>
                </a:solidFill>
                <a:latin typeface="EYInterstate"/>
                <a:cs typeface="Arial"/>
              </a:rPr>
              <a:t> </a:t>
            </a:r>
            <a:r>
              <a:rPr lang="en-US" sz="2000" err="1">
                <a:solidFill>
                  <a:srgbClr val="1A1A24"/>
                </a:solidFill>
                <a:latin typeface="EYInterstate"/>
                <a:cs typeface="Arial"/>
              </a:rPr>
              <a:t>fuentes</a:t>
            </a:r>
            <a:r>
              <a:rPr lang="en-US" sz="2000">
                <a:solidFill>
                  <a:srgbClr val="1A1A24"/>
                </a:solidFill>
                <a:latin typeface="EYInterstate"/>
                <a:cs typeface="Arial"/>
              </a:rPr>
              <a:t> </a:t>
            </a:r>
            <a:r>
              <a:rPr lang="en-US" sz="2000" err="1">
                <a:solidFill>
                  <a:srgbClr val="1A1A24"/>
                </a:solidFill>
                <a:latin typeface="EYInterstate"/>
                <a:cs typeface="Arial"/>
              </a:rPr>
              <a:t>oficiales</a:t>
            </a:r>
            <a:r>
              <a:rPr lang="en-US" sz="2000">
                <a:solidFill>
                  <a:srgbClr val="1A1A24"/>
                </a:solidFill>
                <a:latin typeface="EYInterstate"/>
                <a:cs typeface="Arial"/>
              </a:rPr>
              <a:t>: lo </a:t>
            </a:r>
            <a:r>
              <a:rPr lang="en-US" sz="2000" err="1">
                <a:solidFill>
                  <a:srgbClr val="1A1A24"/>
                </a:solidFill>
                <a:latin typeface="EYInterstate"/>
                <a:cs typeface="Arial"/>
              </a:rPr>
              <a:t>que</a:t>
            </a:r>
            <a:r>
              <a:rPr lang="en-US" sz="2000">
                <a:solidFill>
                  <a:srgbClr val="1A1A24"/>
                </a:solidFill>
                <a:latin typeface="EYInterstate"/>
                <a:cs typeface="Arial"/>
              </a:rPr>
              <a:t> </a:t>
            </a:r>
            <a:r>
              <a:rPr lang="en-US" sz="2000" err="1">
                <a:solidFill>
                  <a:srgbClr val="1A1A24"/>
                </a:solidFill>
                <a:latin typeface="EYInterstate"/>
                <a:cs typeface="Arial"/>
              </a:rPr>
              <a:t>ofrece</a:t>
            </a:r>
            <a:r>
              <a:rPr lang="en-US" sz="2000">
                <a:solidFill>
                  <a:srgbClr val="1A1A24"/>
                </a:solidFill>
                <a:latin typeface="EYInterstate"/>
                <a:cs typeface="Arial"/>
              </a:rPr>
              <a:t> la Administración, lo </a:t>
            </a:r>
            <a:r>
              <a:rPr lang="en-US" sz="2000" err="1">
                <a:solidFill>
                  <a:srgbClr val="1A1A24"/>
                </a:solidFill>
                <a:latin typeface="EYInterstate"/>
                <a:cs typeface="Arial"/>
              </a:rPr>
              <a:t>que</a:t>
            </a:r>
            <a:r>
              <a:rPr lang="en-US" sz="2000">
                <a:solidFill>
                  <a:srgbClr val="1A1A24"/>
                </a:solidFill>
                <a:latin typeface="EYInterstate"/>
                <a:cs typeface="Arial"/>
              </a:rPr>
              <a:t> sabe </a:t>
            </a:r>
            <a:r>
              <a:rPr lang="en-US" sz="2000" err="1">
                <a:solidFill>
                  <a:srgbClr val="1A1A24"/>
                </a:solidFill>
                <a:latin typeface="EYInterstate"/>
                <a:cs typeface="Arial"/>
              </a:rPr>
              <a:t>hacer</a:t>
            </a:r>
            <a:r>
              <a:rPr lang="en-US" sz="2000">
                <a:solidFill>
                  <a:srgbClr val="1A1A24"/>
                </a:solidFill>
                <a:latin typeface="EYInterstate"/>
                <a:cs typeface="Arial"/>
              </a:rPr>
              <a:t> la población y lo </a:t>
            </a:r>
            <a:r>
              <a:rPr lang="en-US" sz="2000" err="1">
                <a:solidFill>
                  <a:srgbClr val="1A1A24"/>
                </a:solidFill>
                <a:latin typeface="EYInterstate"/>
                <a:cs typeface="Arial"/>
              </a:rPr>
              <a:t>que</a:t>
            </a:r>
            <a:r>
              <a:rPr lang="en-US" sz="2000">
                <a:solidFill>
                  <a:srgbClr val="1A1A24"/>
                </a:solidFill>
                <a:latin typeface="EYInterstate"/>
                <a:cs typeface="Arial"/>
              </a:rPr>
              <a:t> </a:t>
            </a:r>
            <a:r>
              <a:rPr lang="en-US" sz="2000" err="1">
                <a:solidFill>
                  <a:srgbClr val="1A1A24"/>
                </a:solidFill>
                <a:latin typeface="EYInterstate"/>
                <a:cs typeface="Arial"/>
              </a:rPr>
              <a:t>realmente</a:t>
            </a:r>
            <a:r>
              <a:rPr lang="en-US" sz="2000">
                <a:solidFill>
                  <a:srgbClr val="1A1A24"/>
                </a:solidFill>
                <a:latin typeface="EYInterstate"/>
                <a:cs typeface="Arial"/>
              </a:rPr>
              <a:t> </a:t>
            </a:r>
            <a:r>
              <a:rPr lang="en-US" sz="2000" err="1">
                <a:solidFill>
                  <a:srgbClr val="1A1A24"/>
                </a:solidFill>
                <a:latin typeface="EYInterstate"/>
                <a:cs typeface="Arial"/>
              </a:rPr>
              <a:t>usa</a:t>
            </a:r>
            <a:endParaRPr lang="en-US" sz="2000">
              <a:solidFill>
                <a:srgbClr val="1A1A24"/>
              </a:solidFill>
              <a:latin typeface="EYInterstate"/>
              <a:cs typeface="Arial"/>
            </a:endParaRPr>
          </a:p>
          <a:p>
            <a:endParaRPr lang="en-US" sz="2000">
              <a:solidFill>
                <a:srgbClr val="1A1A24"/>
              </a:solidFill>
              <a:latin typeface="Arial"/>
              <a:cs typeface="Arial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A671DF2-C825-534C-0731-C1104F012466}"/>
              </a:ext>
            </a:extLst>
          </p:cNvPr>
          <p:cNvSpPr/>
          <p:nvPr/>
        </p:nvSpPr>
        <p:spPr>
          <a:xfrm>
            <a:off x="457200" y="4681728"/>
            <a:ext cx="8229600" cy="0"/>
          </a:xfrm>
          <a:prstGeom prst="line">
            <a:avLst/>
          </a:prstGeom>
          <a:noFill/>
          <a:ln w="6350">
            <a:solidFill>
              <a:srgbClr val="C4C4C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259E1AB-B079-0DB5-62E0-17BB3452BF11}"/>
              </a:ext>
            </a:extLst>
          </p:cNvPr>
          <p:cNvSpPr/>
          <p:nvPr/>
        </p:nvSpPr>
        <p:spPr>
          <a:xfrm>
            <a:off x="457200" y="47274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Fuentes: Comisión Europea, eGovernment Benchmark 2025; Eurostat isoc_sk_dskl_i21 e </a:t>
            </a:r>
            <a:r>
              <a:rPr lang="en-US" sz="700" err="1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isoc_ciegi_ac</a:t>
            </a:r>
            <a:r>
              <a:rPr lang="en-US" sz="70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, 2025. UE-27, población 16-74 </a:t>
            </a:r>
            <a:r>
              <a:rPr lang="en-US" sz="700" err="1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años</a:t>
            </a:r>
            <a:endParaRPr lang="en-US" sz="700">
              <a:solidFill>
                <a:srgbClr val="747480"/>
              </a:solidFill>
              <a:latin typeface="EYInterstate" panose="02000503020000020004" pitchFamily="2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CD6B4DE-0EA0-890E-C5C9-7ED31DBBC65B}"/>
              </a:ext>
            </a:extLst>
          </p:cNvPr>
          <p:cNvSpPr/>
          <p:nvPr/>
        </p:nvSpPr>
        <p:spPr>
          <a:xfrm>
            <a:off x="7772400" y="47274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1A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</a:t>
            </a:r>
            <a:r>
              <a:rPr lang="en-US" sz="800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2</a:t>
            </a:r>
            <a:endParaRPr lang="en-US" sz="8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2C85A0F7-5218-0549-E11C-1A4194D136FA}"/>
              </a:ext>
            </a:extLst>
          </p:cNvPr>
          <p:cNvSpPr/>
          <p:nvPr/>
        </p:nvSpPr>
        <p:spPr>
          <a:xfrm>
            <a:off x="457200" y="1463040"/>
            <a:ext cx="2606040" cy="1325880"/>
          </a:xfrm>
          <a:prstGeom prst="rect">
            <a:avLst/>
          </a:prstGeom>
          <a:solidFill>
            <a:srgbClr val="EDEDF2"/>
          </a:solidFill>
          <a:ln w="12700">
            <a:solidFill>
              <a:srgbClr val="EDED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07571BD-42C9-C071-FE0E-1409706F81CE}"/>
              </a:ext>
            </a:extLst>
          </p:cNvPr>
          <p:cNvSpPr/>
          <p:nvPr/>
        </p:nvSpPr>
        <p:spPr>
          <a:xfrm>
            <a:off x="640080" y="18288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Calidad de la </a:t>
            </a:r>
            <a:r>
              <a:rPr lang="en-US" sz="1400" b="1" err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plataforma</a:t>
            </a:r>
            <a:endParaRPr lang="en-US" sz="1400">
              <a:latin typeface="EYInterstate" panose="02000503020000020004" pitchFamily="2" charset="0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F651BCD-68CA-DD0F-7069-0848669C1D1F}"/>
              </a:ext>
            </a:extLst>
          </p:cNvPr>
          <p:cNvSpPr/>
          <p:nvPr/>
        </p:nvSpPr>
        <p:spPr>
          <a:xfrm>
            <a:off x="640080" y="24231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eGovernment Benchmark  |  0-100</a:t>
            </a:r>
            <a:endParaRPr lang="en-US" sz="850">
              <a:latin typeface="EYInterstate" panose="02000503020000020004" pitchFamily="2" charset="0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7B4B9CFB-550F-2C73-20CC-829914157BE4}"/>
              </a:ext>
            </a:extLst>
          </p:cNvPr>
          <p:cNvSpPr/>
          <p:nvPr/>
        </p:nvSpPr>
        <p:spPr>
          <a:xfrm>
            <a:off x="3273552" y="1463040"/>
            <a:ext cx="2606040" cy="1325880"/>
          </a:xfrm>
          <a:prstGeom prst="rect">
            <a:avLst/>
          </a:prstGeom>
          <a:solidFill>
            <a:srgbClr val="EDEDF2"/>
          </a:solidFill>
          <a:ln w="12700">
            <a:solidFill>
              <a:srgbClr val="EDED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5401222D-0665-071E-96EE-02C587C01938}"/>
              </a:ext>
            </a:extLst>
          </p:cNvPr>
          <p:cNvSpPr/>
          <p:nvPr/>
        </p:nvSpPr>
        <p:spPr>
          <a:xfrm>
            <a:off x="3456432" y="18288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err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Competencias</a:t>
            </a:r>
            <a:r>
              <a:rPr lang="en-US" sz="1400" b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b="1" err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digitales</a:t>
            </a:r>
            <a:endParaRPr lang="en-US" sz="1400">
              <a:latin typeface="EYInterstate" panose="02000503020000020004" pitchFamily="2" charset="0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FA6EFEBD-7F59-AFB1-2917-C4E8B1877B9E}"/>
              </a:ext>
            </a:extLst>
          </p:cNvPr>
          <p:cNvSpPr/>
          <p:nvPr/>
        </p:nvSpPr>
        <p:spPr>
          <a:xfrm>
            <a:off x="3456432" y="24231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Eurostat · DSI 2.0  |  % población</a:t>
            </a:r>
            <a:endParaRPr lang="en-US" sz="850">
              <a:latin typeface="EYInterstate" panose="02000503020000020004" pitchFamily="2" charset="0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5DF7FC1B-BED2-6326-4FED-361EA4F1A3B0}"/>
              </a:ext>
            </a:extLst>
          </p:cNvPr>
          <p:cNvSpPr/>
          <p:nvPr/>
        </p:nvSpPr>
        <p:spPr>
          <a:xfrm>
            <a:off x="6089904" y="1463040"/>
            <a:ext cx="2606040" cy="1325880"/>
          </a:xfrm>
          <a:prstGeom prst="rect">
            <a:avLst/>
          </a:prstGeom>
          <a:solidFill>
            <a:srgbClr val="1A1A24"/>
          </a:solidFill>
          <a:ln w="12700">
            <a:solidFill>
              <a:srgbClr val="1A1A2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A8949143-C09C-6343-D61E-8B3F8C096551}"/>
              </a:ext>
            </a:extLst>
          </p:cNvPr>
          <p:cNvSpPr/>
          <p:nvPr/>
        </p:nvSpPr>
        <p:spPr>
          <a:xfrm>
            <a:off x="6272784" y="18288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Uso de la Administración online</a:t>
            </a:r>
            <a:endParaRPr lang="en-US" sz="1400">
              <a:latin typeface="EYInterstate" panose="02000503020000020004" pitchFamily="2" charset="0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895918ED-D2E7-21A8-4989-C7A4286C8B82}"/>
              </a:ext>
            </a:extLst>
          </p:cNvPr>
          <p:cNvSpPr/>
          <p:nvPr/>
        </p:nvSpPr>
        <p:spPr>
          <a:xfrm>
            <a:off x="6272784" y="24231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C4C4CD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Eurostat · I_IUGOV1  |  % población</a:t>
            </a:r>
            <a:endParaRPr lang="en-US" sz="850">
              <a:latin typeface="EYInterstate" panose="02000503020000020004" pitchFamily="2" charset="0"/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123310E1-DB29-9928-241C-8ADE7F18E6C4}"/>
              </a:ext>
            </a:extLst>
          </p:cNvPr>
          <p:cNvSpPr/>
          <p:nvPr/>
        </p:nvSpPr>
        <p:spPr>
          <a:xfrm>
            <a:off x="457200" y="31546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P1</a:t>
            </a:r>
            <a:endParaRPr lang="en-US" sz="2200" b="1">
              <a:latin typeface="EYInterstate" panose="02000503020000020004" pitchFamily="2" charset="0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8A062674-2AD0-8FBE-1B36-140F38D6A7E5}"/>
              </a:ext>
            </a:extLst>
          </p:cNvPr>
          <p:cNvSpPr/>
          <p:nvPr/>
        </p:nvSpPr>
        <p:spPr>
          <a:xfrm>
            <a:off x="457200" y="3639312"/>
            <a:ext cx="320040" cy="54864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77C2159B-65A3-ECFA-F0A6-C607319BBAD0}"/>
              </a:ext>
            </a:extLst>
          </p:cNvPr>
          <p:cNvSpPr/>
          <p:nvPr/>
        </p:nvSpPr>
        <p:spPr>
          <a:xfrm>
            <a:off x="457200" y="37947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¿Qué componentes de la calidad marcan la </a:t>
            </a:r>
            <a:r>
              <a:rPr lang="en-US" sz="110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diferencia</a:t>
            </a:r>
            <a:r>
              <a:rPr lang="en-US" sz="110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?</a:t>
            </a:r>
            <a:endParaRPr lang="en-US" sz="1100">
              <a:latin typeface="EYInterstate" panose="02000503020000020004" pitchFamily="2" charset="0"/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69E80862-243D-EC44-6D67-24EB86FD30AB}"/>
              </a:ext>
            </a:extLst>
          </p:cNvPr>
          <p:cNvSpPr/>
          <p:nvPr/>
        </p:nvSpPr>
        <p:spPr>
          <a:xfrm>
            <a:off x="3273552" y="31546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P2</a:t>
            </a:r>
            <a:endParaRPr lang="en-US" sz="2200">
              <a:latin typeface="EYInterstate" panose="02000503020000020004" pitchFamily="2" charset="0"/>
            </a:endParaRPr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13570A4D-5947-56BD-26CE-D02E2F553698}"/>
              </a:ext>
            </a:extLst>
          </p:cNvPr>
          <p:cNvSpPr/>
          <p:nvPr/>
        </p:nvSpPr>
        <p:spPr>
          <a:xfrm>
            <a:off x="3273552" y="3639312"/>
            <a:ext cx="320040" cy="54864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09910052-147E-9471-549F-07975684DFC9}"/>
              </a:ext>
            </a:extLst>
          </p:cNvPr>
          <p:cNvSpPr/>
          <p:nvPr/>
        </p:nvSpPr>
        <p:spPr>
          <a:xfrm>
            <a:off x="3273552" y="37947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¿Las </a:t>
            </a:r>
            <a:r>
              <a:rPr lang="en-US" sz="110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competencias</a:t>
            </a:r>
            <a:r>
              <a:rPr lang="en-US" sz="110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digitales</a:t>
            </a:r>
            <a:r>
              <a:rPr lang="en-US" sz="110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explican</a:t>
            </a:r>
            <a:r>
              <a:rPr lang="en-US" sz="110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el </a:t>
            </a:r>
            <a:r>
              <a:rPr lang="en-US" sz="110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uso</a:t>
            </a:r>
            <a:r>
              <a:rPr lang="en-US" sz="110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?</a:t>
            </a:r>
            <a:endParaRPr lang="en-US" sz="1100">
              <a:latin typeface="EYInterstate" panose="02000503020000020004" pitchFamily="2" charset="0"/>
            </a:endParaRP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C1CC8873-8887-9716-C786-93B8C0244F7C}"/>
              </a:ext>
            </a:extLst>
          </p:cNvPr>
          <p:cNvSpPr/>
          <p:nvPr/>
        </p:nvSpPr>
        <p:spPr>
          <a:xfrm>
            <a:off x="6089904" y="31546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P3</a:t>
            </a:r>
            <a:endParaRPr lang="en-US" sz="2200">
              <a:latin typeface="EYInterstate" panose="02000503020000020004" pitchFamily="2" charset="0"/>
            </a:endParaRP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C6357FE7-0618-799A-5A05-8410EA14A1C5}"/>
              </a:ext>
            </a:extLst>
          </p:cNvPr>
          <p:cNvSpPr/>
          <p:nvPr/>
        </p:nvSpPr>
        <p:spPr>
          <a:xfrm>
            <a:off x="6089904" y="3639312"/>
            <a:ext cx="320040" cy="54864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3EC69C41-E5DB-2B47-A8A0-F732EE04FDF0}"/>
              </a:ext>
            </a:extLst>
          </p:cNvPr>
          <p:cNvSpPr/>
          <p:nvPr/>
        </p:nvSpPr>
        <p:spPr>
          <a:xfrm>
            <a:off x="6089904" y="37947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¿Las mejores plataformas se usan más?</a:t>
            </a:r>
            <a:endParaRPr lang="en-US" sz="1100">
              <a:latin typeface="EYInterstate" panose="0200050302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4303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C40B21-35B2-DFAA-B32C-9094FB3C1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704B212-8F71-EC76-A8A6-3B270C750314}"/>
              </a:ext>
            </a:extLst>
          </p:cNvPr>
          <p:cNvSpPr/>
          <p:nvPr/>
        </p:nvSpPr>
        <p:spPr>
          <a:xfrm>
            <a:off x="457200" y="292608"/>
            <a:ext cx="128016" cy="128016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E585141-2679-DC1A-D021-E61F9F192220}"/>
              </a:ext>
            </a:extLst>
          </p:cNvPr>
          <p:cNvSpPr/>
          <p:nvPr/>
        </p:nvSpPr>
        <p:spPr>
          <a:xfrm>
            <a:off x="658368" y="24688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P1 · CALIDAD DE LA PLATAFORMA</a:t>
            </a:r>
            <a:endParaRPr lang="en-US" sz="850">
              <a:latin typeface="EYInterstate" panose="02000503020000020004" pitchFamily="2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9AC4A3B-C205-7C1E-4DDF-EA6EF8392E86}"/>
              </a:ext>
            </a:extLst>
          </p:cNvPr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España </a:t>
            </a:r>
            <a:r>
              <a:rPr lang="en-US" sz="2000" err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supera</a:t>
            </a:r>
            <a:r>
              <a:rPr lang="en-US" sz="2000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la media UE </a:t>
            </a:r>
            <a:r>
              <a:rPr lang="en-US" sz="2000" err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en</a:t>
            </a:r>
            <a:r>
              <a:rPr lang="en-US" sz="2000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err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calidad</a:t>
            </a:r>
            <a:r>
              <a:rPr lang="en-US" sz="2000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2000" err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pero</a:t>
            </a:r>
            <a:r>
              <a:rPr lang="en-US" sz="2000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err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pierde</a:t>
            </a:r>
            <a:r>
              <a:rPr lang="en-US" sz="2000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puntos </a:t>
            </a:r>
            <a:r>
              <a:rPr lang="en-US" sz="2000" err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en</a:t>
            </a:r>
            <a:r>
              <a:rPr lang="en-US" sz="2000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err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accesibilidad</a:t>
            </a:r>
            <a:r>
              <a:rPr lang="en-US" sz="2000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y </a:t>
            </a:r>
            <a:r>
              <a:rPr lang="en-US" sz="2000" err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transparencia</a:t>
            </a:r>
            <a:endParaRPr lang="en-US" sz="2000">
              <a:latin typeface="EYInterstate" panose="02000503020000020004" pitchFamily="2" charset="0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4397B1C-E43B-BAFB-E144-5440E02DC3CF}"/>
              </a:ext>
            </a:extLst>
          </p:cNvPr>
          <p:cNvSpPr/>
          <p:nvPr/>
        </p:nvSpPr>
        <p:spPr>
          <a:xfrm>
            <a:off x="457200" y="4681728"/>
            <a:ext cx="8229600" cy="0"/>
          </a:xfrm>
          <a:prstGeom prst="line">
            <a:avLst/>
          </a:prstGeom>
          <a:noFill/>
          <a:ln w="6350">
            <a:solidFill>
              <a:srgbClr val="C4C4C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20475AD-E944-BA6C-D95A-A254291E96AB}"/>
              </a:ext>
            </a:extLst>
          </p:cNvPr>
          <p:cNvSpPr/>
          <p:nvPr/>
        </p:nvSpPr>
        <p:spPr>
          <a:xfrm>
            <a:off x="457200" y="47274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Fuente: Comisión Europea, eGovernment Benchmark 2025. </a:t>
            </a:r>
            <a:r>
              <a:rPr lang="en-US" sz="700" err="1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Puntuación</a:t>
            </a:r>
            <a:r>
              <a:rPr lang="en-US" sz="70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0-100, media de </a:t>
            </a:r>
            <a:r>
              <a:rPr lang="en-US" sz="700" err="1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los</a:t>
            </a:r>
            <a:r>
              <a:rPr lang="en-US" sz="70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9 </a:t>
            </a:r>
            <a:r>
              <a:rPr lang="en-US" sz="700" err="1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sectores</a:t>
            </a:r>
            <a:r>
              <a:rPr lang="en-US" sz="70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. España</a:t>
            </a:r>
            <a:endParaRPr lang="en-US" sz="700">
              <a:latin typeface="EYInterstate" panose="02000503020000020004" pitchFamily="2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183804B-625A-C39F-2618-262C79AEF548}"/>
              </a:ext>
            </a:extLst>
          </p:cNvPr>
          <p:cNvSpPr/>
          <p:nvPr/>
        </p:nvSpPr>
        <p:spPr>
          <a:xfrm>
            <a:off x="7772400" y="47274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1A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</a:t>
            </a:r>
            <a:r>
              <a:rPr lang="en-US" sz="800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3</a:t>
            </a:r>
            <a:endParaRPr lang="en-US" sz="80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BDBCFA1-2571-BA20-F7B3-A461A92D2E3B}"/>
              </a:ext>
            </a:extLst>
          </p:cNvPr>
          <p:cNvGrpSpPr/>
          <p:nvPr/>
        </p:nvGrpSpPr>
        <p:grpSpPr>
          <a:xfrm>
            <a:off x="5512479" y="1129675"/>
            <a:ext cx="2651760" cy="850392"/>
            <a:chOff x="6172200" y="1325880"/>
            <a:chExt cx="2651760" cy="850392"/>
          </a:xfrm>
        </p:grpSpPr>
        <p:sp>
          <p:nvSpPr>
            <p:cNvPr id="24" name="Text 22">
              <a:extLst>
                <a:ext uri="{FF2B5EF4-FFF2-40B4-BE49-F238E27FC236}">
                  <a16:creationId xmlns:a16="http://schemas.microsoft.com/office/drawing/2014/main" id="{5CB1C1AA-3A70-0100-DE3B-535A1C696FBC}"/>
                </a:ext>
              </a:extLst>
            </p:cNvPr>
            <p:cNvSpPr/>
            <p:nvPr/>
          </p:nvSpPr>
          <p:spPr>
            <a:xfrm>
              <a:off x="6172200" y="1325880"/>
              <a:ext cx="128016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>
                <a:buNone/>
              </a:pPr>
              <a:r>
                <a:rPr lang="en-US" sz="3000" b="1">
                  <a:solidFill>
                    <a:srgbClr val="1A1A24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79,1</a:t>
              </a:r>
              <a:endParaRPr lang="en-US" sz="3000">
                <a:latin typeface="EYInterstate" panose="02000503020000020004" pitchFamily="2" charset="0"/>
              </a:endParaRPr>
            </a:p>
          </p:txBody>
        </p:sp>
        <p:sp>
          <p:nvSpPr>
            <p:cNvPr id="25" name="Text 23">
              <a:extLst>
                <a:ext uri="{FF2B5EF4-FFF2-40B4-BE49-F238E27FC236}">
                  <a16:creationId xmlns:a16="http://schemas.microsoft.com/office/drawing/2014/main" id="{3EF23CDC-EA96-487D-294B-CDA6A59838D6}"/>
                </a:ext>
              </a:extLst>
            </p:cNvPr>
            <p:cNvSpPr/>
            <p:nvPr/>
          </p:nvSpPr>
          <p:spPr>
            <a:xfrm>
              <a:off x="6172200" y="1856232"/>
              <a:ext cx="128016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850">
                  <a:solidFill>
                    <a:srgbClr val="747480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Calidad España</a:t>
              </a:r>
              <a:endParaRPr lang="en-US" sz="850">
                <a:latin typeface="EYInterstate" panose="02000503020000020004" pitchFamily="2" charset="0"/>
              </a:endParaRPr>
            </a:p>
          </p:txBody>
        </p:sp>
        <p:sp>
          <p:nvSpPr>
            <p:cNvPr id="26" name="Text 24">
              <a:extLst>
                <a:ext uri="{FF2B5EF4-FFF2-40B4-BE49-F238E27FC236}">
                  <a16:creationId xmlns:a16="http://schemas.microsoft.com/office/drawing/2014/main" id="{E3B20111-253C-F589-BE15-FF44C22D3D29}"/>
                </a:ext>
              </a:extLst>
            </p:cNvPr>
            <p:cNvSpPr/>
            <p:nvPr/>
          </p:nvSpPr>
          <p:spPr>
            <a:xfrm>
              <a:off x="7543800" y="1325880"/>
              <a:ext cx="128016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>
                <a:buNone/>
              </a:pPr>
              <a:r>
                <a:rPr lang="en-US" sz="3000" b="1">
                  <a:solidFill>
                    <a:srgbClr val="747480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74,7</a:t>
              </a:r>
              <a:endParaRPr lang="en-US" sz="3000">
                <a:latin typeface="EYInterstate" panose="02000503020000020004" pitchFamily="2" charset="0"/>
              </a:endParaRPr>
            </a:p>
          </p:txBody>
        </p:sp>
        <p:sp>
          <p:nvSpPr>
            <p:cNvPr id="27" name="Text 25">
              <a:extLst>
                <a:ext uri="{FF2B5EF4-FFF2-40B4-BE49-F238E27FC236}">
                  <a16:creationId xmlns:a16="http://schemas.microsoft.com/office/drawing/2014/main" id="{B0068CF4-74D9-DDAF-84A5-34B2A433E0BE}"/>
                </a:ext>
              </a:extLst>
            </p:cNvPr>
            <p:cNvSpPr/>
            <p:nvPr/>
          </p:nvSpPr>
          <p:spPr>
            <a:xfrm>
              <a:off x="7543800" y="1856232"/>
              <a:ext cx="128016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850">
                  <a:solidFill>
                    <a:srgbClr val="747480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Media UE</a:t>
              </a:r>
              <a:endParaRPr lang="en-US" sz="850">
                <a:latin typeface="EYInterstate" panose="02000503020000020004" pitchFamily="2" charset="0"/>
              </a:endParaRPr>
            </a:p>
          </p:txBody>
        </p:sp>
      </p:grpSp>
      <p:graphicFrame>
        <p:nvGraphicFramePr>
          <p:cNvPr id="9" name="Chart 0">
            <a:extLst>
              <a:ext uri="{FF2B5EF4-FFF2-40B4-BE49-F238E27FC236}">
                <a16:creationId xmlns:a16="http://schemas.microsoft.com/office/drawing/2014/main" id="{1255EAA6-24CC-FC6E-7413-26CD7E228FF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56963262"/>
              </p:ext>
            </p:extLst>
          </p:nvPr>
        </p:nvGraphicFramePr>
        <p:xfrm>
          <a:off x="4350306" y="1849712"/>
          <a:ext cx="4285930" cy="27450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13" name="Group 12">
            <a:extLst>
              <a:ext uri="{FF2B5EF4-FFF2-40B4-BE49-F238E27FC236}">
                <a16:creationId xmlns:a16="http://schemas.microsoft.com/office/drawing/2014/main" id="{5274275C-EFBE-4036-B8B4-86C5C4C8B64A}"/>
              </a:ext>
            </a:extLst>
          </p:cNvPr>
          <p:cNvGrpSpPr/>
          <p:nvPr/>
        </p:nvGrpSpPr>
        <p:grpSpPr>
          <a:xfrm>
            <a:off x="521208" y="1234439"/>
            <a:ext cx="3624997" cy="3360405"/>
            <a:chOff x="521208" y="1541754"/>
            <a:chExt cx="3335867" cy="3114844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2F662B7C-1EF1-FA8E-FAC0-F665D0CC064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2633" t="19706" r="1857"/>
            <a:stretch>
              <a:fillRect/>
            </a:stretch>
          </p:blipFill>
          <p:spPr>
            <a:xfrm>
              <a:off x="521208" y="1928644"/>
              <a:ext cx="3335867" cy="2727954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9D3949B3-AB24-A655-DD59-207BCE518D7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895" t="2803" r="1219" b="85337"/>
            <a:stretch>
              <a:fillRect/>
            </a:stretch>
          </p:blipFill>
          <p:spPr>
            <a:xfrm>
              <a:off x="521208" y="1541754"/>
              <a:ext cx="3335867" cy="39125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562100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82FEA3-1274-3298-1602-9E76B200C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16EEF6A-4545-97A4-A099-0E6EB7549FE1}"/>
              </a:ext>
            </a:extLst>
          </p:cNvPr>
          <p:cNvSpPr/>
          <p:nvPr/>
        </p:nvSpPr>
        <p:spPr>
          <a:xfrm>
            <a:off x="457200" y="292608"/>
            <a:ext cx="128016" cy="128016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D5ED07F-AE7B-5A6C-F080-3414669844ED}"/>
              </a:ext>
            </a:extLst>
          </p:cNvPr>
          <p:cNvSpPr/>
          <p:nvPr/>
        </p:nvSpPr>
        <p:spPr>
          <a:xfrm>
            <a:off x="658368" y="24688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P2 · COMPETENCIAS → USO</a:t>
            </a:r>
            <a:endParaRPr lang="en-US" sz="850">
              <a:latin typeface="EYInterstate" panose="02000503020000020004" pitchFamily="2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B1E9026-5C9F-9BE8-34AD-65EC9FF2EB7A}"/>
              </a:ext>
            </a:extLst>
          </p:cNvPr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A </a:t>
            </a:r>
            <a:r>
              <a:rPr lang="en-US" sz="2000" err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más</a:t>
            </a:r>
            <a:r>
              <a:rPr lang="en-US" sz="2000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población con </a:t>
            </a:r>
            <a:r>
              <a:rPr lang="en-US" sz="2000" err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competencias</a:t>
            </a:r>
            <a:r>
              <a:rPr lang="en-US" sz="2000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err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digitales</a:t>
            </a:r>
            <a:r>
              <a:rPr lang="en-US" sz="2000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err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básicas</a:t>
            </a:r>
            <a:r>
              <a:rPr lang="en-US" sz="2000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, mayor </a:t>
            </a:r>
            <a:r>
              <a:rPr lang="en-US" sz="2000" err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uso</a:t>
            </a:r>
            <a:r>
              <a:rPr lang="en-US" sz="2000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de la Administración Online</a:t>
            </a:r>
            <a:endParaRPr lang="en-US" sz="2000">
              <a:latin typeface="EYInterstate" panose="02000503020000020004" pitchFamily="2" charset="0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576471E-5072-86FB-AE27-042BD5ACC292}"/>
              </a:ext>
            </a:extLst>
          </p:cNvPr>
          <p:cNvSpPr/>
          <p:nvPr/>
        </p:nvSpPr>
        <p:spPr>
          <a:xfrm>
            <a:off x="457200" y="4681728"/>
            <a:ext cx="8229600" cy="0"/>
          </a:xfrm>
          <a:prstGeom prst="line">
            <a:avLst/>
          </a:prstGeom>
          <a:noFill/>
          <a:ln w="6350">
            <a:solidFill>
              <a:srgbClr val="C4C4C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DD403C0-BD7F-303D-8EFC-2124B76EE707}"/>
              </a:ext>
            </a:extLst>
          </p:cNvPr>
          <p:cNvSpPr/>
          <p:nvPr/>
        </p:nvSpPr>
        <p:spPr>
          <a:xfrm>
            <a:off x="457200" y="47274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Fuente: Eurostat, 2025. UE-27, 16-74 </a:t>
            </a:r>
            <a:r>
              <a:rPr lang="en-US" sz="700" err="1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años</a:t>
            </a:r>
            <a:r>
              <a:rPr lang="en-US" sz="70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. Cada punto es un </a:t>
            </a:r>
            <a:r>
              <a:rPr lang="en-US" sz="700" err="1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país</a:t>
            </a:r>
            <a:r>
              <a:rPr lang="en-US" sz="70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; </a:t>
            </a:r>
            <a:r>
              <a:rPr lang="en-US" sz="700" err="1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líneas</a:t>
            </a:r>
            <a:r>
              <a:rPr lang="en-US" sz="70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700" err="1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discontinuas</a:t>
            </a:r>
            <a:r>
              <a:rPr lang="en-US" sz="70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= media UE</a:t>
            </a:r>
            <a:endParaRPr lang="en-US" sz="700">
              <a:latin typeface="EYInterstate" panose="02000503020000020004" pitchFamily="2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CDC9B4E-91E3-8AE9-90EC-6BF1DBEF97E2}"/>
              </a:ext>
            </a:extLst>
          </p:cNvPr>
          <p:cNvSpPr/>
          <p:nvPr/>
        </p:nvSpPr>
        <p:spPr>
          <a:xfrm>
            <a:off x="7772400" y="47274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1A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</a:t>
            </a:r>
            <a:r>
              <a:rPr lang="en-US" sz="800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4</a:t>
            </a:r>
            <a:endParaRPr lang="en-US" sz="800"/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15AE2964-DEB0-F632-EE02-1101A73413BD}"/>
              </a:ext>
            </a:extLst>
          </p:cNvPr>
          <p:cNvGrpSpPr/>
          <p:nvPr/>
        </p:nvGrpSpPr>
        <p:grpSpPr>
          <a:xfrm>
            <a:off x="360000" y="1368000"/>
            <a:ext cx="4860063" cy="3209544"/>
            <a:chOff x="619659" y="1335024"/>
            <a:chExt cx="5671413" cy="3209544"/>
          </a:xfrm>
        </p:grpSpPr>
        <p:sp>
          <p:nvSpPr>
            <p:cNvPr id="29" name="Text 27">
              <a:extLst>
                <a:ext uri="{FF2B5EF4-FFF2-40B4-BE49-F238E27FC236}">
                  <a16:creationId xmlns:a16="http://schemas.microsoft.com/office/drawing/2014/main" id="{5E452AC4-DBC2-ABCC-479F-83833670992E}"/>
                </a:ext>
              </a:extLst>
            </p:cNvPr>
            <p:cNvSpPr/>
            <p:nvPr/>
          </p:nvSpPr>
          <p:spPr>
            <a:xfrm>
              <a:off x="5152644" y="1508760"/>
              <a:ext cx="91440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1A1A24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Finlandia</a:t>
              </a:r>
              <a:endParaRPr lang="en-US" sz="700">
                <a:latin typeface="EYInterstate" panose="02000503020000020004" pitchFamily="2" charset="0"/>
              </a:endParaRPr>
            </a:p>
          </p:txBody>
        </p: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43AFD22E-B8E5-CBE6-1B84-BF153F53463B}"/>
                </a:ext>
              </a:extLst>
            </p:cNvPr>
            <p:cNvGrpSpPr/>
            <p:nvPr/>
          </p:nvGrpSpPr>
          <p:grpSpPr>
            <a:xfrm>
              <a:off x="619659" y="1335024"/>
              <a:ext cx="5671413" cy="3209544"/>
              <a:chOff x="619659" y="1335024"/>
              <a:chExt cx="5671413" cy="3209544"/>
            </a:xfrm>
          </p:grpSpPr>
          <p:sp>
            <p:nvSpPr>
              <p:cNvPr id="16" name="Text 14">
                <a:extLst>
                  <a:ext uri="{FF2B5EF4-FFF2-40B4-BE49-F238E27FC236}">
                    <a16:creationId xmlns:a16="http://schemas.microsoft.com/office/drawing/2014/main" id="{4518BC9E-EDF7-5E95-6BD5-740F0066CB69}"/>
                  </a:ext>
                </a:extLst>
              </p:cNvPr>
              <p:cNvSpPr/>
              <p:nvPr/>
            </p:nvSpPr>
            <p:spPr>
              <a:xfrm>
                <a:off x="5486400" y="4187952"/>
                <a:ext cx="548640" cy="16459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700">
                    <a:solidFill>
                      <a:srgbClr val="747480"/>
                    </a:solidFill>
                    <a:latin typeface="EYInterstate" panose="02000503020000020004" pitchFamily="2" charset="0"/>
                    <a:ea typeface="Arial" pitchFamily="34" charset="-122"/>
                    <a:cs typeface="Arial" pitchFamily="34" charset="-120"/>
                  </a:rPr>
                  <a:t>90%</a:t>
                </a:r>
                <a:endParaRPr lang="en-US" sz="700">
                  <a:latin typeface="EYInterstate" panose="02000503020000020004" pitchFamily="2" charset="0"/>
                </a:endParaRPr>
              </a:p>
            </p:txBody>
          </p:sp>
          <p:sp>
            <p:nvSpPr>
              <p:cNvPr id="32" name="Text 30">
                <a:extLst>
                  <a:ext uri="{FF2B5EF4-FFF2-40B4-BE49-F238E27FC236}">
                    <a16:creationId xmlns:a16="http://schemas.microsoft.com/office/drawing/2014/main" id="{D96AF8A2-C98D-61CE-C872-FA2F19066F9B}"/>
                  </a:ext>
                </a:extLst>
              </p:cNvPr>
              <p:cNvSpPr/>
              <p:nvPr/>
            </p:nvSpPr>
            <p:spPr>
              <a:xfrm>
                <a:off x="5376672" y="1691640"/>
                <a:ext cx="914400" cy="14630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700">
                    <a:solidFill>
                      <a:srgbClr val="1A1A24"/>
                    </a:solidFill>
                    <a:latin typeface="EYInterstate" panose="02000503020000020004" pitchFamily="2" charset="0"/>
                    <a:ea typeface="Arial" pitchFamily="34" charset="-122"/>
                    <a:cs typeface="Arial" pitchFamily="34" charset="-120"/>
                  </a:rPr>
                  <a:t>Países Bajos</a:t>
                </a:r>
                <a:endParaRPr lang="en-US" sz="700">
                  <a:latin typeface="EYInterstate" panose="02000503020000020004" pitchFamily="2" charset="0"/>
                </a:endParaRPr>
              </a:p>
            </p:txBody>
          </p:sp>
          <p:grpSp>
            <p:nvGrpSpPr>
              <p:cNvPr id="74" name="Group 73">
                <a:extLst>
                  <a:ext uri="{FF2B5EF4-FFF2-40B4-BE49-F238E27FC236}">
                    <a16:creationId xmlns:a16="http://schemas.microsoft.com/office/drawing/2014/main" id="{B97ECFA9-1074-F768-5B08-E4088D5E1D6F}"/>
                  </a:ext>
                </a:extLst>
              </p:cNvPr>
              <p:cNvGrpSpPr/>
              <p:nvPr/>
            </p:nvGrpSpPr>
            <p:grpSpPr>
              <a:xfrm>
                <a:off x="619659" y="1335024"/>
                <a:ext cx="5141061" cy="3209544"/>
                <a:chOff x="619659" y="1335024"/>
                <a:chExt cx="5141061" cy="3209544"/>
              </a:xfrm>
            </p:grpSpPr>
            <p:sp>
              <p:nvSpPr>
                <p:cNvPr id="8" name="Shape 6">
                  <a:extLst>
                    <a:ext uri="{FF2B5EF4-FFF2-40B4-BE49-F238E27FC236}">
                      <a16:creationId xmlns:a16="http://schemas.microsoft.com/office/drawing/2014/main" id="{0D330B29-8155-EC23-DC89-1B34C5995DDB}"/>
                    </a:ext>
                  </a:extLst>
                </p:cNvPr>
                <p:cNvSpPr/>
                <p:nvPr/>
              </p:nvSpPr>
              <p:spPr>
                <a:xfrm>
                  <a:off x="1280160" y="4160520"/>
                  <a:ext cx="4480560" cy="0"/>
                </a:xfrm>
                <a:prstGeom prst="line">
                  <a:avLst/>
                </a:prstGeom>
                <a:noFill/>
                <a:ln w="9525">
                  <a:solidFill>
                    <a:srgbClr val="747480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9" name="Shape 7">
                  <a:extLst>
                    <a:ext uri="{FF2B5EF4-FFF2-40B4-BE49-F238E27FC236}">
                      <a16:creationId xmlns:a16="http://schemas.microsoft.com/office/drawing/2014/main" id="{BC3145AD-E4D7-292B-575B-ACA709BC6B30}"/>
                    </a:ext>
                  </a:extLst>
                </p:cNvPr>
                <p:cNvSpPr/>
                <p:nvPr/>
              </p:nvSpPr>
              <p:spPr>
                <a:xfrm>
                  <a:off x="1280160" y="1417320"/>
                  <a:ext cx="0" cy="2743200"/>
                </a:xfrm>
                <a:prstGeom prst="line">
                  <a:avLst/>
                </a:prstGeom>
                <a:noFill/>
                <a:ln w="9525">
                  <a:solidFill>
                    <a:srgbClr val="747480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10" name="Text 8">
                  <a:extLst>
                    <a:ext uri="{FF2B5EF4-FFF2-40B4-BE49-F238E27FC236}">
                      <a16:creationId xmlns:a16="http://schemas.microsoft.com/office/drawing/2014/main" id="{F12C936E-7AA2-8405-BB4B-144865016285}"/>
                    </a:ext>
                  </a:extLst>
                </p:cNvPr>
                <p:cNvSpPr/>
                <p:nvPr/>
              </p:nvSpPr>
              <p:spPr>
                <a:xfrm>
                  <a:off x="1005840" y="4187952"/>
                  <a:ext cx="548640" cy="164592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700">
                      <a:solidFill>
                        <a:srgbClr val="747480"/>
                      </a:solidFill>
                      <a:latin typeface="EYInterstate" panose="02000503020000020004" pitchFamily="2" charset="0"/>
                      <a:ea typeface="Arial" pitchFamily="34" charset="-122"/>
                      <a:cs typeface="Arial" pitchFamily="34" charset="-120"/>
                    </a:rPr>
                    <a:t>30%</a:t>
                  </a:r>
                  <a:endParaRPr lang="en-US" sz="700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11" name="Text 9">
                  <a:extLst>
                    <a:ext uri="{FF2B5EF4-FFF2-40B4-BE49-F238E27FC236}">
                      <a16:creationId xmlns:a16="http://schemas.microsoft.com/office/drawing/2014/main" id="{B000C7A0-1DC2-9900-A5DC-72ECB4570346}"/>
                    </a:ext>
                  </a:extLst>
                </p:cNvPr>
                <p:cNvSpPr/>
                <p:nvPr/>
              </p:nvSpPr>
              <p:spPr>
                <a:xfrm>
                  <a:off x="1752600" y="4187952"/>
                  <a:ext cx="548640" cy="164592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700">
                      <a:solidFill>
                        <a:srgbClr val="747480"/>
                      </a:solidFill>
                      <a:latin typeface="EYInterstate" panose="02000503020000020004" pitchFamily="2" charset="0"/>
                      <a:ea typeface="Arial" pitchFamily="34" charset="-122"/>
                      <a:cs typeface="Arial" pitchFamily="34" charset="-120"/>
                    </a:rPr>
                    <a:t>40%</a:t>
                  </a:r>
                  <a:endParaRPr lang="en-US" sz="700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12" name="Text 10">
                  <a:extLst>
                    <a:ext uri="{FF2B5EF4-FFF2-40B4-BE49-F238E27FC236}">
                      <a16:creationId xmlns:a16="http://schemas.microsoft.com/office/drawing/2014/main" id="{73DF3E54-9EA4-FA77-DD9D-237520C3D110}"/>
                    </a:ext>
                  </a:extLst>
                </p:cNvPr>
                <p:cNvSpPr/>
                <p:nvPr/>
              </p:nvSpPr>
              <p:spPr>
                <a:xfrm>
                  <a:off x="2499360" y="4187952"/>
                  <a:ext cx="548640" cy="164592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700">
                      <a:solidFill>
                        <a:srgbClr val="747480"/>
                      </a:solidFill>
                      <a:latin typeface="EYInterstate" panose="02000503020000020004" pitchFamily="2" charset="0"/>
                      <a:ea typeface="Arial" pitchFamily="34" charset="-122"/>
                      <a:cs typeface="Arial" pitchFamily="34" charset="-120"/>
                    </a:rPr>
                    <a:t>50%</a:t>
                  </a:r>
                  <a:endParaRPr lang="en-US" sz="700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13" name="Text 11">
                  <a:extLst>
                    <a:ext uri="{FF2B5EF4-FFF2-40B4-BE49-F238E27FC236}">
                      <a16:creationId xmlns:a16="http://schemas.microsoft.com/office/drawing/2014/main" id="{B347CC28-253B-0A1A-F08F-4500283F6385}"/>
                    </a:ext>
                  </a:extLst>
                </p:cNvPr>
                <p:cNvSpPr/>
                <p:nvPr/>
              </p:nvSpPr>
              <p:spPr>
                <a:xfrm>
                  <a:off x="3246120" y="4187952"/>
                  <a:ext cx="548640" cy="164592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700">
                      <a:solidFill>
                        <a:srgbClr val="747480"/>
                      </a:solidFill>
                      <a:latin typeface="EYInterstate" panose="02000503020000020004" pitchFamily="2" charset="0"/>
                      <a:ea typeface="Arial" pitchFamily="34" charset="-122"/>
                      <a:cs typeface="Arial" pitchFamily="34" charset="-120"/>
                    </a:rPr>
                    <a:t>60%</a:t>
                  </a:r>
                  <a:endParaRPr lang="en-US" sz="700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14" name="Text 12">
                  <a:extLst>
                    <a:ext uri="{FF2B5EF4-FFF2-40B4-BE49-F238E27FC236}">
                      <a16:creationId xmlns:a16="http://schemas.microsoft.com/office/drawing/2014/main" id="{A6A17AD0-049C-E01D-855F-6950C43F9AE1}"/>
                    </a:ext>
                  </a:extLst>
                </p:cNvPr>
                <p:cNvSpPr/>
                <p:nvPr/>
              </p:nvSpPr>
              <p:spPr>
                <a:xfrm>
                  <a:off x="3992880" y="4187952"/>
                  <a:ext cx="548640" cy="164592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700">
                      <a:solidFill>
                        <a:srgbClr val="747480"/>
                      </a:solidFill>
                      <a:latin typeface="EYInterstate" panose="02000503020000020004" pitchFamily="2" charset="0"/>
                      <a:ea typeface="Arial" pitchFamily="34" charset="-122"/>
                      <a:cs typeface="Arial" pitchFamily="34" charset="-120"/>
                    </a:rPr>
                    <a:t>70%</a:t>
                  </a:r>
                  <a:endParaRPr lang="en-US" sz="700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15" name="Text 13">
                  <a:extLst>
                    <a:ext uri="{FF2B5EF4-FFF2-40B4-BE49-F238E27FC236}">
                      <a16:creationId xmlns:a16="http://schemas.microsoft.com/office/drawing/2014/main" id="{EED1F776-B261-1AB2-03F0-E33FAB7BDE83}"/>
                    </a:ext>
                  </a:extLst>
                </p:cNvPr>
                <p:cNvSpPr/>
                <p:nvPr/>
              </p:nvSpPr>
              <p:spPr>
                <a:xfrm>
                  <a:off x="4739640" y="4187952"/>
                  <a:ext cx="548640" cy="164592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700">
                      <a:solidFill>
                        <a:srgbClr val="747480"/>
                      </a:solidFill>
                      <a:latin typeface="EYInterstate" panose="02000503020000020004" pitchFamily="2" charset="0"/>
                      <a:ea typeface="Arial" pitchFamily="34" charset="-122"/>
                      <a:cs typeface="Arial" pitchFamily="34" charset="-120"/>
                    </a:rPr>
                    <a:t>80%</a:t>
                  </a:r>
                  <a:endParaRPr lang="en-US" sz="700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17" name="Text 15">
                  <a:extLst>
                    <a:ext uri="{FF2B5EF4-FFF2-40B4-BE49-F238E27FC236}">
                      <a16:creationId xmlns:a16="http://schemas.microsoft.com/office/drawing/2014/main" id="{114C026F-9E8A-C628-2902-305DE9AF9A7D}"/>
                    </a:ext>
                  </a:extLst>
                </p:cNvPr>
                <p:cNvSpPr/>
                <p:nvPr/>
              </p:nvSpPr>
              <p:spPr>
                <a:xfrm>
                  <a:off x="868680" y="3773424"/>
                  <a:ext cx="365760" cy="164592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r">
                    <a:buNone/>
                  </a:pPr>
                  <a:r>
                    <a:rPr lang="en-US" sz="700">
                      <a:solidFill>
                        <a:srgbClr val="747480"/>
                      </a:solidFill>
                      <a:latin typeface="EYInterstate" panose="02000503020000020004" pitchFamily="2" charset="0"/>
                      <a:ea typeface="Arial" pitchFamily="34" charset="-122"/>
                      <a:cs typeface="Arial" pitchFamily="34" charset="-120"/>
                    </a:rPr>
                    <a:t>20%</a:t>
                  </a:r>
                  <a:endParaRPr lang="en-US" sz="700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18" name="Text 16">
                  <a:extLst>
                    <a:ext uri="{FF2B5EF4-FFF2-40B4-BE49-F238E27FC236}">
                      <a16:creationId xmlns:a16="http://schemas.microsoft.com/office/drawing/2014/main" id="{71C2CA1D-C2FA-4BF9-CB89-54370741BDA0}"/>
                    </a:ext>
                  </a:extLst>
                </p:cNvPr>
                <p:cNvSpPr/>
                <p:nvPr/>
              </p:nvSpPr>
              <p:spPr>
                <a:xfrm>
                  <a:off x="868680" y="3163824"/>
                  <a:ext cx="365760" cy="164592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r">
                    <a:buNone/>
                  </a:pPr>
                  <a:r>
                    <a:rPr lang="en-US" sz="700">
                      <a:solidFill>
                        <a:srgbClr val="747480"/>
                      </a:solidFill>
                      <a:latin typeface="EYInterstate" panose="02000503020000020004" pitchFamily="2" charset="0"/>
                      <a:ea typeface="Arial" pitchFamily="34" charset="-122"/>
                      <a:cs typeface="Arial" pitchFamily="34" charset="-120"/>
                    </a:rPr>
                    <a:t>40%</a:t>
                  </a:r>
                  <a:endParaRPr lang="en-US" sz="700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19" name="Text 17">
                  <a:extLst>
                    <a:ext uri="{FF2B5EF4-FFF2-40B4-BE49-F238E27FC236}">
                      <a16:creationId xmlns:a16="http://schemas.microsoft.com/office/drawing/2014/main" id="{15B7A5E5-33AF-24C2-3561-681D653CB6D9}"/>
                    </a:ext>
                  </a:extLst>
                </p:cNvPr>
                <p:cNvSpPr/>
                <p:nvPr/>
              </p:nvSpPr>
              <p:spPr>
                <a:xfrm>
                  <a:off x="868680" y="2554224"/>
                  <a:ext cx="365760" cy="164592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r">
                    <a:buNone/>
                  </a:pPr>
                  <a:r>
                    <a:rPr lang="en-US" sz="700">
                      <a:solidFill>
                        <a:srgbClr val="747480"/>
                      </a:solidFill>
                      <a:latin typeface="EYInterstate" panose="02000503020000020004" pitchFamily="2" charset="0"/>
                      <a:ea typeface="Arial" pitchFamily="34" charset="-122"/>
                      <a:cs typeface="Arial" pitchFamily="34" charset="-120"/>
                    </a:rPr>
                    <a:t>60%</a:t>
                  </a:r>
                  <a:endParaRPr lang="en-US" sz="700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20" name="Text 18">
                  <a:extLst>
                    <a:ext uri="{FF2B5EF4-FFF2-40B4-BE49-F238E27FC236}">
                      <a16:creationId xmlns:a16="http://schemas.microsoft.com/office/drawing/2014/main" id="{7E7BE84E-2C64-06D6-0C7B-8AD3E794773E}"/>
                    </a:ext>
                  </a:extLst>
                </p:cNvPr>
                <p:cNvSpPr/>
                <p:nvPr/>
              </p:nvSpPr>
              <p:spPr>
                <a:xfrm>
                  <a:off x="868680" y="1944624"/>
                  <a:ext cx="365760" cy="164592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r">
                    <a:buNone/>
                  </a:pPr>
                  <a:r>
                    <a:rPr lang="en-US" sz="700">
                      <a:solidFill>
                        <a:srgbClr val="747480"/>
                      </a:solidFill>
                      <a:latin typeface="EYInterstate" panose="02000503020000020004" pitchFamily="2" charset="0"/>
                      <a:ea typeface="Arial" pitchFamily="34" charset="-122"/>
                      <a:cs typeface="Arial" pitchFamily="34" charset="-120"/>
                    </a:rPr>
                    <a:t>80%</a:t>
                  </a:r>
                  <a:endParaRPr lang="en-US" sz="700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21" name="Text 19">
                  <a:extLst>
                    <a:ext uri="{FF2B5EF4-FFF2-40B4-BE49-F238E27FC236}">
                      <a16:creationId xmlns:a16="http://schemas.microsoft.com/office/drawing/2014/main" id="{C423F126-E748-A29E-46AD-FB32E5021481}"/>
                    </a:ext>
                  </a:extLst>
                </p:cNvPr>
                <p:cNvSpPr/>
                <p:nvPr/>
              </p:nvSpPr>
              <p:spPr>
                <a:xfrm>
                  <a:off x="868680" y="1335024"/>
                  <a:ext cx="365760" cy="164592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r">
                    <a:buNone/>
                  </a:pPr>
                  <a:r>
                    <a:rPr lang="en-US" sz="700">
                      <a:solidFill>
                        <a:srgbClr val="747480"/>
                      </a:solidFill>
                      <a:latin typeface="EYInterstate" panose="02000503020000020004" pitchFamily="2" charset="0"/>
                      <a:ea typeface="Arial" pitchFamily="34" charset="-122"/>
                      <a:cs typeface="Arial" pitchFamily="34" charset="-120"/>
                    </a:rPr>
                    <a:t>100%</a:t>
                  </a:r>
                  <a:endParaRPr lang="en-US" sz="700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22" name="Text 20">
                  <a:extLst>
                    <a:ext uri="{FF2B5EF4-FFF2-40B4-BE49-F238E27FC236}">
                      <a16:creationId xmlns:a16="http://schemas.microsoft.com/office/drawing/2014/main" id="{82BA0922-F019-3493-9976-6D1A6B9976E3}"/>
                    </a:ext>
                  </a:extLst>
                </p:cNvPr>
                <p:cNvSpPr/>
                <p:nvPr/>
              </p:nvSpPr>
              <p:spPr>
                <a:xfrm>
                  <a:off x="1280160" y="4361688"/>
                  <a:ext cx="4480560" cy="18288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750" b="1">
                      <a:solidFill>
                        <a:srgbClr val="2E2E38"/>
                      </a:solidFill>
                      <a:latin typeface="EYInterstate" panose="02000503020000020004" pitchFamily="2" charset="0"/>
                      <a:ea typeface="Arial" pitchFamily="34" charset="-122"/>
                      <a:cs typeface="Arial" pitchFamily="34" charset="-120"/>
                    </a:rPr>
                    <a:t>(%) Población con </a:t>
                  </a:r>
                  <a:r>
                    <a:rPr lang="en-US" sz="750" b="1" err="1">
                      <a:solidFill>
                        <a:srgbClr val="2E2E38"/>
                      </a:solidFill>
                      <a:latin typeface="EYInterstate" panose="02000503020000020004" pitchFamily="2" charset="0"/>
                      <a:ea typeface="Arial" pitchFamily="34" charset="-122"/>
                      <a:cs typeface="Arial" pitchFamily="34" charset="-120"/>
                    </a:rPr>
                    <a:t>competencias</a:t>
                  </a:r>
                  <a:r>
                    <a:rPr lang="en-US" sz="750" b="1">
                      <a:solidFill>
                        <a:srgbClr val="2E2E38"/>
                      </a:solidFill>
                      <a:latin typeface="EYInterstate" panose="02000503020000020004" pitchFamily="2" charset="0"/>
                      <a:ea typeface="Arial" pitchFamily="34" charset="-122"/>
                      <a:cs typeface="Arial" pitchFamily="34" charset="-120"/>
                    </a:rPr>
                    <a:t> </a:t>
                  </a:r>
                  <a:r>
                    <a:rPr lang="en-US" sz="750" b="1" err="1">
                      <a:solidFill>
                        <a:srgbClr val="2E2E38"/>
                      </a:solidFill>
                      <a:latin typeface="EYInterstate" panose="02000503020000020004" pitchFamily="2" charset="0"/>
                      <a:ea typeface="Arial" pitchFamily="34" charset="-122"/>
                      <a:cs typeface="Arial" pitchFamily="34" charset="-120"/>
                    </a:rPr>
                    <a:t>digitales</a:t>
                  </a:r>
                  <a:r>
                    <a:rPr lang="en-US" sz="750" b="1">
                      <a:solidFill>
                        <a:srgbClr val="2E2E38"/>
                      </a:solidFill>
                      <a:latin typeface="EYInterstate" panose="02000503020000020004" pitchFamily="2" charset="0"/>
                      <a:ea typeface="Arial" pitchFamily="34" charset="-122"/>
                      <a:cs typeface="Arial" pitchFamily="34" charset="-120"/>
                    </a:rPr>
                    <a:t> </a:t>
                  </a:r>
                  <a:r>
                    <a:rPr lang="en-US" sz="750" b="1" err="1">
                      <a:solidFill>
                        <a:srgbClr val="2E2E38"/>
                      </a:solidFill>
                      <a:latin typeface="EYInterstate" panose="02000503020000020004" pitchFamily="2" charset="0"/>
                      <a:ea typeface="Arial" pitchFamily="34" charset="-122"/>
                      <a:cs typeface="Arial" pitchFamily="34" charset="-120"/>
                    </a:rPr>
                    <a:t>básicas</a:t>
                  </a:r>
                  <a:endParaRPr lang="en-US" sz="750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23" name="Text 21">
                  <a:extLst>
                    <a:ext uri="{FF2B5EF4-FFF2-40B4-BE49-F238E27FC236}">
                      <a16:creationId xmlns:a16="http://schemas.microsoft.com/office/drawing/2014/main" id="{8A6EF86D-63CB-25ED-E01B-AF60840AA19A}"/>
                    </a:ext>
                  </a:extLst>
                </p:cNvPr>
                <p:cNvSpPr/>
                <p:nvPr/>
              </p:nvSpPr>
              <p:spPr>
                <a:xfrm>
                  <a:off x="619659" y="1417320"/>
                  <a:ext cx="228600" cy="2743200"/>
                </a:xfrm>
                <a:prstGeom prst="rect">
                  <a:avLst/>
                </a:prstGeom>
                <a:noFill/>
                <a:ln/>
              </p:spPr>
              <p:txBody>
                <a:bodyPr vert="vert270" wrap="square" lIns="0" tIns="0" rIns="0" bIns="0" rtlCol="0" anchor="ctr"/>
                <a:lstStyle/>
                <a:p>
                  <a:pPr algn="ctr"/>
                  <a:r>
                    <a:rPr lang="en-US" sz="750" b="1">
                      <a:solidFill>
                        <a:srgbClr val="2E2E38"/>
                      </a:solidFill>
                      <a:latin typeface="EYInterstate" panose="02000503020000020004" pitchFamily="2" charset="0"/>
                      <a:ea typeface="Arial" pitchFamily="34" charset="-122"/>
                      <a:cs typeface="Arial" pitchFamily="34" charset="-120"/>
                    </a:rPr>
                    <a:t> (%) Uso Administración online</a:t>
                  </a:r>
                  <a:endParaRPr lang="en-US" sz="750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24" name="Shape 22">
                  <a:extLst>
                    <a:ext uri="{FF2B5EF4-FFF2-40B4-BE49-F238E27FC236}">
                      <a16:creationId xmlns:a16="http://schemas.microsoft.com/office/drawing/2014/main" id="{3D704E48-A2CB-E364-8B0A-5FB3B094BA24}"/>
                    </a:ext>
                  </a:extLst>
                </p:cNvPr>
                <p:cNvSpPr/>
                <p:nvPr/>
              </p:nvSpPr>
              <p:spPr>
                <a:xfrm>
                  <a:off x="3550310" y="1417320"/>
                  <a:ext cx="0" cy="2743200"/>
                </a:xfrm>
                <a:prstGeom prst="line">
                  <a:avLst/>
                </a:prstGeom>
                <a:noFill/>
                <a:ln w="9525">
                  <a:solidFill>
                    <a:srgbClr val="C4C4CD"/>
                  </a:solidFill>
                  <a:prstDash val="dash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25" name="Shape 23">
                  <a:extLst>
                    <a:ext uri="{FF2B5EF4-FFF2-40B4-BE49-F238E27FC236}">
                      <a16:creationId xmlns:a16="http://schemas.microsoft.com/office/drawing/2014/main" id="{52F70565-3C8F-CA42-5C27-D6BFB3A9650A}"/>
                    </a:ext>
                  </a:extLst>
                </p:cNvPr>
                <p:cNvSpPr/>
                <p:nvPr/>
              </p:nvSpPr>
              <p:spPr>
                <a:xfrm>
                  <a:off x="1280160" y="2706624"/>
                  <a:ext cx="4480560" cy="0"/>
                </a:xfrm>
                <a:prstGeom prst="line">
                  <a:avLst/>
                </a:prstGeom>
                <a:noFill/>
                <a:ln w="9525">
                  <a:solidFill>
                    <a:srgbClr val="C4C4CD"/>
                  </a:solidFill>
                  <a:prstDash val="dash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26" name="Text 24">
                  <a:extLst>
                    <a:ext uri="{FF2B5EF4-FFF2-40B4-BE49-F238E27FC236}">
                      <a16:creationId xmlns:a16="http://schemas.microsoft.com/office/drawing/2014/main" id="{7BB18380-3419-4B1C-2A9E-127043944910}"/>
                    </a:ext>
                  </a:extLst>
                </p:cNvPr>
                <p:cNvSpPr/>
                <p:nvPr/>
              </p:nvSpPr>
              <p:spPr>
                <a:xfrm>
                  <a:off x="5029200" y="2523744"/>
                  <a:ext cx="731520" cy="155448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r">
                    <a:buNone/>
                  </a:pPr>
                  <a:r>
                    <a:rPr lang="en-US" sz="650">
                      <a:solidFill>
                        <a:srgbClr val="747480"/>
                      </a:solidFill>
                      <a:latin typeface="EYInterstate" panose="02000503020000020004" pitchFamily="2" charset="0"/>
                      <a:ea typeface="Arial" pitchFamily="34" charset="-122"/>
                      <a:cs typeface="Arial" pitchFamily="34" charset="-120"/>
                    </a:rPr>
                    <a:t>Media UE</a:t>
                  </a:r>
                  <a:endParaRPr lang="en-US" sz="650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27" name="Shape 25">
                  <a:extLst>
                    <a:ext uri="{FF2B5EF4-FFF2-40B4-BE49-F238E27FC236}">
                      <a16:creationId xmlns:a16="http://schemas.microsoft.com/office/drawing/2014/main" id="{E420965C-8EE4-7940-C5D3-9E4D99A93CD7}"/>
                    </a:ext>
                  </a:extLst>
                </p:cNvPr>
                <p:cNvSpPr/>
                <p:nvPr/>
              </p:nvSpPr>
              <p:spPr>
                <a:xfrm flipV="1">
                  <a:off x="1429512" y="1783613"/>
                  <a:ext cx="3883152" cy="1628384"/>
                </a:xfrm>
                <a:prstGeom prst="line">
                  <a:avLst/>
                </a:prstGeom>
                <a:noFill/>
                <a:ln w="12700">
                  <a:solidFill>
                    <a:srgbClr val="2E2E38"/>
                  </a:solidFill>
                  <a:prstDash val="sysDot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28" name="Shape 26">
                  <a:extLst>
                    <a:ext uri="{FF2B5EF4-FFF2-40B4-BE49-F238E27FC236}">
                      <a16:creationId xmlns:a16="http://schemas.microsoft.com/office/drawing/2014/main" id="{748A1330-D15F-C5C6-A383-F06B9428CF65}"/>
                    </a:ext>
                  </a:extLst>
                </p:cNvPr>
                <p:cNvSpPr/>
                <p:nvPr/>
              </p:nvSpPr>
              <p:spPr>
                <a:xfrm>
                  <a:off x="5038344" y="1641348"/>
                  <a:ext cx="100584" cy="100584"/>
                </a:xfrm>
                <a:prstGeom prst="ellipse">
                  <a:avLst/>
                </a:prstGeom>
                <a:solidFill>
                  <a:srgbClr val="2E2E38"/>
                </a:solidFill>
                <a:ln w="6350">
                  <a:solidFill>
                    <a:srgbClr val="2E2E38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30" name="Shape 28">
                  <a:extLst>
                    <a:ext uri="{FF2B5EF4-FFF2-40B4-BE49-F238E27FC236}">
                      <a16:creationId xmlns:a16="http://schemas.microsoft.com/office/drawing/2014/main" id="{2E9A884F-AE66-39F1-AA05-62C703090686}"/>
                    </a:ext>
                  </a:extLst>
                </p:cNvPr>
                <p:cNvSpPr/>
                <p:nvPr/>
              </p:nvSpPr>
              <p:spPr>
                <a:xfrm>
                  <a:off x="5075682" y="1656588"/>
                  <a:ext cx="100584" cy="100584"/>
                </a:xfrm>
                <a:prstGeom prst="ellipse">
                  <a:avLst/>
                </a:prstGeom>
                <a:solidFill>
                  <a:srgbClr val="C4C4CD"/>
                </a:solidFill>
                <a:ln w="6350">
                  <a:solidFill>
                    <a:srgbClr val="C4C4CD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31" name="Shape 29">
                  <a:extLst>
                    <a:ext uri="{FF2B5EF4-FFF2-40B4-BE49-F238E27FC236}">
                      <a16:creationId xmlns:a16="http://schemas.microsoft.com/office/drawing/2014/main" id="{BC0A81DB-89B0-8A52-C1B4-87B9CDC0F6DD}"/>
                    </a:ext>
                  </a:extLst>
                </p:cNvPr>
                <p:cNvSpPr/>
                <p:nvPr/>
              </p:nvSpPr>
              <p:spPr>
                <a:xfrm>
                  <a:off x="5262372" y="1824228"/>
                  <a:ext cx="100584" cy="100584"/>
                </a:xfrm>
                <a:prstGeom prst="ellipse">
                  <a:avLst/>
                </a:prstGeom>
                <a:solidFill>
                  <a:srgbClr val="2E2E38"/>
                </a:solidFill>
                <a:ln w="6350">
                  <a:solidFill>
                    <a:srgbClr val="2E2E38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33" name="Shape 31">
                  <a:extLst>
                    <a:ext uri="{FF2B5EF4-FFF2-40B4-BE49-F238E27FC236}">
                      <a16:creationId xmlns:a16="http://schemas.microsoft.com/office/drawing/2014/main" id="{DC35D3D6-369F-CD12-1BA0-09FE665DC34B}"/>
                    </a:ext>
                  </a:extLst>
                </p:cNvPr>
                <p:cNvSpPr/>
                <p:nvPr/>
              </p:nvSpPr>
              <p:spPr>
                <a:xfrm>
                  <a:off x="5187696" y="2159508"/>
                  <a:ext cx="100584" cy="100584"/>
                </a:xfrm>
                <a:prstGeom prst="ellipse">
                  <a:avLst/>
                </a:prstGeom>
                <a:solidFill>
                  <a:srgbClr val="C4C4CD"/>
                </a:solidFill>
                <a:ln w="6350">
                  <a:solidFill>
                    <a:srgbClr val="C4C4CD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34" name="Shape 32">
                  <a:extLst>
                    <a:ext uri="{FF2B5EF4-FFF2-40B4-BE49-F238E27FC236}">
                      <a16:creationId xmlns:a16="http://schemas.microsoft.com/office/drawing/2014/main" id="{51770775-140D-6C75-BDB4-99C47CCD3F81}"/>
                    </a:ext>
                  </a:extLst>
                </p:cNvPr>
                <p:cNvSpPr/>
                <p:nvPr/>
              </p:nvSpPr>
              <p:spPr>
                <a:xfrm>
                  <a:off x="4216908" y="1854708"/>
                  <a:ext cx="100584" cy="100584"/>
                </a:xfrm>
                <a:prstGeom prst="ellipse">
                  <a:avLst/>
                </a:prstGeom>
                <a:solidFill>
                  <a:srgbClr val="C4C4CD"/>
                </a:solidFill>
                <a:ln w="6350">
                  <a:solidFill>
                    <a:srgbClr val="C4C4CD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35" name="Shape 33">
                  <a:extLst>
                    <a:ext uri="{FF2B5EF4-FFF2-40B4-BE49-F238E27FC236}">
                      <a16:creationId xmlns:a16="http://schemas.microsoft.com/office/drawing/2014/main" id="{53E794EE-5395-8EEC-666B-62A1DAB17908}"/>
                    </a:ext>
                  </a:extLst>
                </p:cNvPr>
                <p:cNvSpPr/>
                <p:nvPr/>
              </p:nvSpPr>
              <p:spPr>
                <a:xfrm>
                  <a:off x="3619500" y="1885188"/>
                  <a:ext cx="100584" cy="100584"/>
                </a:xfrm>
                <a:prstGeom prst="ellipse">
                  <a:avLst/>
                </a:prstGeom>
                <a:solidFill>
                  <a:srgbClr val="C4C4CD"/>
                </a:solidFill>
                <a:ln w="6350">
                  <a:solidFill>
                    <a:srgbClr val="C4C4CD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36" name="Shape 34">
                  <a:extLst>
                    <a:ext uri="{FF2B5EF4-FFF2-40B4-BE49-F238E27FC236}">
                      <a16:creationId xmlns:a16="http://schemas.microsoft.com/office/drawing/2014/main" id="{944A64AC-6E14-7816-AFEC-3CF24D05DD10}"/>
                    </a:ext>
                  </a:extLst>
                </p:cNvPr>
                <p:cNvSpPr/>
                <p:nvPr/>
              </p:nvSpPr>
              <p:spPr>
                <a:xfrm>
                  <a:off x="3619500" y="2098548"/>
                  <a:ext cx="100584" cy="100584"/>
                </a:xfrm>
                <a:prstGeom prst="ellipse">
                  <a:avLst/>
                </a:prstGeom>
                <a:solidFill>
                  <a:srgbClr val="C4C4CD"/>
                </a:solidFill>
                <a:ln w="6350">
                  <a:solidFill>
                    <a:srgbClr val="C4C4CD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37" name="Shape 35">
                  <a:extLst>
                    <a:ext uri="{FF2B5EF4-FFF2-40B4-BE49-F238E27FC236}">
                      <a16:creationId xmlns:a16="http://schemas.microsoft.com/office/drawing/2014/main" id="{9C7C7B4D-1B37-2ECF-6B8E-8B9F742A6F19}"/>
                    </a:ext>
                  </a:extLst>
                </p:cNvPr>
                <p:cNvSpPr/>
                <p:nvPr/>
              </p:nvSpPr>
              <p:spPr>
                <a:xfrm>
                  <a:off x="3694176" y="2281428"/>
                  <a:ext cx="100584" cy="100584"/>
                </a:xfrm>
                <a:prstGeom prst="ellipse">
                  <a:avLst/>
                </a:prstGeom>
                <a:solidFill>
                  <a:srgbClr val="C4C4CD"/>
                </a:solidFill>
                <a:ln w="6350">
                  <a:solidFill>
                    <a:srgbClr val="C4C4CD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38" name="Shape 36">
                  <a:extLst>
                    <a:ext uri="{FF2B5EF4-FFF2-40B4-BE49-F238E27FC236}">
                      <a16:creationId xmlns:a16="http://schemas.microsoft.com/office/drawing/2014/main" id="{8F86883A-6D57-5AE5-E922-41EF0817BE17}"/>
                    </a:ext>
                  </a:extLst>
                </p:cNvPr>
                <p:cNvSpPr/>
                <p:nvPr/>
              </p:nvSpPr>
              <p:spPr>
                <a:xfrm>
                  <a:off x="4216908" y="2372868"/>
                  <a:ext cx="100584" cy="100584"/>
                </a:xfrm>
                <a:prstGeom prst="ellipse">
                  <a:avLst/>
                </a:prstGeom>
                <a:solidFill>
                  <a:srgbClr val="C4C4CD"/>
                </a:solidFill>
                <a:ln w="6350">
                  <a:solidFill>
                    <a:srgbClr val="C4C4CD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39" name="Shape 37">
                  <a:extLst>
                    <a:ext uri="{FF2B5EF4-FFF2-40B4-BE49-F238E27FC236}">
                      <a16:creationId xmlns:a16="http://schemas.microsoft.com/office/drawing/2014/main" id="{A1A12A3F-A0CB-2D51-F641-B8577803E749}"/>
                    </a:ext>
                  </a:extLst>
                </p:cNvPr>
                <p:cNvSpPr/>
                <p:nvPr/>
              </p:nvSpPr>
              <p:spPr>
                <a:xfrm>
                  <a:off x="3992880" y="2433828"/>
                  <a:ext cx="100584" cy="100584"/>
                </a:xfrm>
                <a:prstGeom prst="ellipse">
                  <a:avLst/>
                </a:prstGeom>
                <a:solidFill>
                  <a:srgbClr val="C4C4CD"/>
                </a:solidFill>
                <a:ln w="6350">
                  <a:solidFill>
                    <a:srgbClr val="C4C4CD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40" name="Shape 38">
                  <a:extLst>
                    <a:ext uri="{FF2B5EF4-FFF2-40B4-BE49-F238E27FC236}">
                      <a16:creationId xmlns:a16="http://schemas.microsoft.com/office/drawing/2014/main" id="{2EE1B0E2-5B4E-1A48-8AD5-A261F0D9A33C}"/>
                    </a:ext>
                  </a:extLst>
                </p:cNvPr>
                <p:cNvSpPr/>
                <p:nvPr/>
              </p:nvSpPr>
              <p:spPr>
                <a:xfrm>
                  <a:off x="3955542" y="2449068"/>
                  <a:ext cx="100584" cy="100584"/>
                </a:xfrm>
                <a:prstGeom prst="ellipse">
                  <a:avLst/>
                </a:prstGeom>
                <a:solidFill>
                  <a:srgbClr val="C4C4CD"/>
                </a:solidFill>
                <a:ln w="6350">
                  <a:solidFill>
                    <a:srgbClr val="C4C4CD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41" name="Shape 39">
                  <a:extLst>
                    <a:ext uri="{FF2B5EF4-FFF2-40B4-BE49-F238E27FC236}">
                      <a16:creationId xmlns:a16="http://schemas.microsoft.com/office/drawing/2014/main" id="{40AF8C8B-6AA7-C51F-9F33-54EAC27719FC}"/>
                    </a:ext>
                  </a:extLst>
                </p:cNvPr>
                <p:cNvSpPr/>
                <p:nvPr/>
              </p:nvSpPr>
              <p:spPr>
                <a:xfrm>
                  <a:off x="3869435" y="2467356"/>
                  <a:ext cx="176786" cy="142920"/>
                </a:xfrm>
                <a:prstGeom prst="ellipse">
                  <a:avLst/>
                </a:prstGeom>
                <a:solidFill>
                  <a:srgbClr val="FFE600"/>
                </a:solidFill>
                <a:ln w="12700">
                  <a:solidFill>
                    <a:srgbClr val="1A1A24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42" name="Text 40">
                  <a:extLst>
                    <a:ext uri="{FF2B5EF4-FFF2-40B4-BE49-F238E27FC236}">
                      <a16:creationId xmlns:a16="http://schemas.microsoft.com/office/drawing/2014/main" id="{2FCE562A-05AA-289D-0E40-F2D7B6C7A655}"/>
                    </a:ext>
                  </a:extLst>
                </p:cNvPr>
                <p:cNvSpPr/>
                <p:nvPr/>
              </p:nvSpPr>
              <p:spPr>
                <a:xfrm>
                  <a:off x="4032504" y="2362200"/>
                  <a:ext cx="914400" cy="146304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>
                    <a:buNone/>
                  </a:pPr>
                  <a:r>
                    <a:rPr lang="en-US" sz="850" b="1">
                      <a:solidFill>
                        <a:srgbClr val="1A1A24"/>
                      </a:solidFill>
                      <a:latin typeface="EYInterstate" panose="02000503020000020004" pitchFamily="2" charset="0"/>
                      <a:ea typeface="Arial" pitchFamily="34" charset="-122"/>
                      <a:cs typeface="Arial" pitchFamily="34" charset="-120"/>
                    </a:rPr>
                    <a:t>España</a:t>
                  </a:r>
                  <a:endParaRPr lang="en-US" sz="850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43" name="Shape 41">
                  <a:extLst>
                    <a:ext uri="{FF2B5EF4-FFF2-40B4-BE49-F238E27FC236}">
                      <a16:creationId xmlns:a16="http://schemas.microsoft.com/office/drawing/2014/main" id="{0126B868-FBEC-4C67-CDE1-02EFDC3CDB97}"/>
                    </a:ext>
                  </a:extLst>
                </p:cNvPr>
                <p:cNvSpPr/>
                <p:nvPr/>
              </p:nvSpPr>
              <p:spPr>
                <a:xfrm>
                  <a:off x="4179570" y="2494788"/>
                  <a:ext cx="100584" cy="100584"/>
                </a:xfrm>
                <a:prstGeom prst="ellipse">
                  <a:avLst/>
                </a:prstGeom>
                <a:solidFill>
                  <a:srgbClr val="C4C4CD"/>
                </a:solidFill>
                <a:ln w="6350">
                  <a:solidFill>
                    <a:srgbClr val="C4C4CD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44" name="Shape 42">
                  <a:extLst>
                    <a:ext uri="{FF2B5EF4-FFF2-40B4-BE49-F238E27FC236}">
                      <a16:creationId xmlns:a16="http://schemas.microsoft.com/office/drawing/2014/main" id="{C8A1852B-0BB8-FE0C-C07C-9FCD7877905E}"/>
                    </a:ext>
                  </a:extLst>
                </p:cNvPr>
                <p:cNvSpPr/>
                <p:nvPr/>
              </p:nvSpPr>
              <p:spPr>
                <a:xfrm>
                  <a:off x="3395472" y="2555748"/>
                  <a:ext cx="100584" cy="100584"/>
                </a:xfrm>
                <a:prstGeom prst="ellipse">
                  <a:avLst/>
                </a:prstGeom>
                <a:solidFill>
                  <a:srgbClr val="C4C4CD"/>
                </a:solidFill>
                <a:ln w="6350">
                  <a:solidFill>
                    <a:srgbClr val="C4C4CD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45" name="Shape 43">
                  <a:extLst>
                    <a:ext uri="{FF2B5EF4-FFF2-40B4-BE49-F238E27FC236}">
                      <a16:creationId xmlns:a16="http://schemas.microsoft.com/office/drawing/2014/main" id="{518BBEB7-3057-9B6C-6BFF-B84529B2BC03}"/>
                    </a:ext>
                  </a:extLst>
                </p:cNvPr>
                <p:cNvSpPr/>
                <p:nvPr/>
              </p:nvSpPr>
              <p:spPr>
                <a:xfrm>
                  <a:off x="3694176" y="2738628"/>
                  <a:ext cx="100584" cy="100584"/>
                </a:xfrm>
                <a:prstGeom prst="ellipse">
                  <a:avLst/>
                </a:prstGeom>
                <a:solidFill>
                  <a:srgbClr val="2E2E38"/>
                </a:solidFill>
                <a:ln w="6350">
                  <a:solidFill>
                    <a:srgbClr val="2E2E38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46" name="Text 44">
                  <a:extLst>
                    <a:ext uri="{FF2B5EF4-FFF2-40B4-BE49-F238E27FC236}">
                      <a16:creationId xmlns:a16="http://schemas.microsoft.com/office/drawing/2014/main" id="{0834289D-0C00-A632-D1EA-5DEC10D9CF9D}"/>
                    </a:ext>
                  </a:extLst>
                </p:cNvPr>
                <p:cNvSpPr/>
                <p:nvPr/>
              </p:nvSpPr>
              <p:spPr>
                <a:xfrm>
                  <a:off x="3622691" y="2835777"/>
                  <a:ext cx="914400" cy="146304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>
                    <a:buNone/>
                  </a:pPr>
                  <a:r>
                    <a:rPr lang="en-US" sz="700" err="1">
                      <a:solidFill>
                        <a:srgbClr val="1A1A24"/>
                      </a:solidFill>
                      <a:latin typeface="EYInterstate" panose="02000503020000020004" pitchFamily="2" charset="0"/>
                      <a:ea typeface="Arial" pitchFamily="34" charset="-122"/>
                      <a:cs typeface="Arial" pitchFamily="34" charset="-120"/>
                    </a:rPr>
                    <a:t>Croacia</a:t>
                  </a:r>
                  <a:endParaRPr lang="en-US" sz="700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47" name="Shape 45">
                  <a:extLst>
                    <a:ext uri="{FF2B5EF4-FFF2-40B4-BE49-F238E27FC236}">
                      <a16:creationId xmlns:a16="http://schemas.microsoft.com/office/drawing/2014/main" id="{9A7F1226-C406-474B-7923-B98579FA1BA9}"/>
                    </a:ext>
                  </a:extLst>
                </p:cNvPr>
                <p:cNvSpPr/>
                <p:nvPr/>
              </p:nvSpPr>
              <p:spPr>
                <a:xfrm>
                  <a:off x="3470148" y="2860548"/>
                  <a:ext cx="100584" cy="100584"/>
                </a:xfrm>
                <a:prstGeom prst="ellipse">
                  <a:avLst/>
                </a:prstGeom>
                <a:solidFill>
                  <a:srgbClr val="C4C4CD"/>
                </a:solidFill>
                <a:ln w="6350">
                  <a:solidFill>
                    <a:srgbClr val="C4C4CD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48" name="Shape 46">
                  <a:extLst>
                    <a:ext uri="{FF2B5EF4-FFF2-40B4-BE49-F238E27FC236}">
                      <a16:creationId xmlns:a16="http://schemas.microsoft.com/office/drawing/2014/main" id="{4067E68F-B802-8677-6B7D-36DD29F361BA}"/>
                    </a:ext>
                  </a:extLst>
                </p:cNvPr>
                <p:cNvSpPr/>
                <p:nvPr/>
              </p:nvSpPr>
              <p:spPr>
                <a:xfrm>
                  <a:off x="3022092" y="2769108"/>
                  <a:ext cx="100584" cy="100584"/>
                </a:xfrm>
                <a:prstGeom prst="ellipse">
                  <a:avLst/>
                </a:prstGeom>
                <a:solidFill>
                  <a:srgbClr val="C4C4CD"/>
                </a:solidFill>
                <a:ln w="6350">
                  <a:solidFill>
                    <a:srgbClr val="C4C4CD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49" name="Shape 47">
                  <a:extLst>
                    <a:ext uri="{FF2B5EF4-FFF2-40B4-BE49-F238E27FC236}">
                      <a16:creationId xmlns:a16="http://schemas.microsoft.com/office/drawing/2014/main" id="{3FFC0005-FEAB-03BF-280D-15EBE16681BB}"/>
                    </a:ext>
                  </a:extLst>
                </p:cNvPr>
                <p:cNvSpPr/>
                <p:nvPr/>
              </p:nvSpPr>
              <p:spPr>
                <a:xfrm>
                  <a:off x="2760726" y="3012948"/>
                  <a:ext cx="100584" cy="100584"/>
                </a:xfrm>
                <a:prstGeom prst="ellipse">
                  <a:avLst/>
                </a:prstGeom>
                <a:solidFill>
                  <a:srgbClr val="C4C4CD"/>
                </a:solidFill>
                <a:ln w="6350">
                  <a:solidFill>
                    <a:srgbClr val="C4C4CD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50" name="Shape 48">
                  <a:extLst>
                    <a:ext uri="{FF2B5EF4-FFF2-40B4-BE49-F238E27FC236}">
                      <a16:creationId xmlns:a16="http://schemas.microsoft.com/office/drawing/2014/main" id="{CDC39714-6652-DE5D-F89A-37193E7EF392}"/>
                    </a:ext>
                  </a:extLst>
                </p:cNvPr>
                <p:cNvSpPr/>
                <p:nvPr/>
              </p:nvSpPr>
              <p:spPr>
                <a:xfrm>
                  <a:off x="3022092" y="3104388"/>
                  <a:ext cx="100584" cy="100584"/>
                </a:xfrm>
                <a:prstGeom prst="ellipse">
                  <a:avLst/>
                </a:prstGeom>
                <a:solidFill>
                  <a:srgbClr val="2E2E38"/>
                </a:solidFill>
                <a:ln w="6350">
                  <a:solidFill>
                    <a:srgbClr val="2E2E38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51" name="Text 49">
                  <a:extLst>
                    <a:ext uri="{FF2B5EF4-FFF2-40B4-BE49-F238E27FC236}">
                      <a16:creationId xmlns:a16="http://schemas.microsoft.com/office/drawing/2014/main" id="{C7434BB9-298F-2E07-8D7B-B9109CBD02F7}"/>
                    </a:ext>
                  </a:extLst>
                </p:cNvPr>
                <p:cNvSpPr/>
                <p:nvPr/>
              </p:nvSpPr>
              <p:spPr>
                <a:xfrm>
                  <a:off x="3136392" y="2971800"/>
                  <a:ext cx="914400" cy="146304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>
                    <a:buNone/>
                  </a:pPr>
                  <a:r>
                    <a:rPr lang="en-US" sz="700">
                      <a:solidFill>
                        <a:srgbClr val="1A1A24"/>
                      </a:solidFill>
                      <a:latin typeface="EYInterstate" panose="02000503020000020004" pitchFamily="2" charset="0"/>
                      <a:ea typeface="Arial" pitchFamily="34" charset="-122"/>
                      <a:cs typeface="Arial" pitchFamily="34" charset="-120"/>
                    </a:rPr>
                    <a:t>Italia</a:t>
                  </a:r>
                  <a:endParaRPr lang="en-US" sz="700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52" name="Shape 50">
                  <a:extLst>
                    <a:ext uri="{FF2B5EF4-FFF2-40B4-BE49-F238E27FC236}">
                      <a16:creationId xmlns:a16="http://schemas.microsoft.com/office/drawing/2014/main" id="{047B8226-892A-9AFA-40F8-0FD8C22DEE1E}"/>
                    </a:ext>
                  </a:extLst>
                </p:cNvPr>
                <p:cNvSpPr/>
                <p:nvPr/>
              </p:nvSpPr>
              <p:spPr>
                <a:xfrm>
                  <a:off x="1827276" y="3622548"/>
                  <a:ext cx="100584" cy="100584"/>
                </a:xfrm>
                <a:prstGeom prst="ellipse">
                  <a:avLst/>
                </a:prstGeom>
                <a:solidFill>
                  <a:srgbClr val="2E2E38"/>
                </a:solidFill>
                <a:ln w="6350">
                  <a:solidFill>
                    <a:srgbClr val="2E2E38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53" name="Text 51">
                  <a:extLst>
                    <a:ext uri="{FF2B5EF4-FFF2-40B4-BE49-F238E27FC236}">
                      <a16:creationId xmlns:a16="http://schemas.microsoft.com/office/drawing/2014/main" id="{9BB3C564-2038-D96F-1445-2C671966BC13}"/>
                    </a:ext>
                  </a:extLst>
                </p:cNvPr>
                <p:cNvSpPr/>
                <p:nvPr/>
              </p:nvSpPr>
              <p:spPr>
                <a:xfrm>
                  <a:off x="1941576" y="3489960"/>
                  <a:ext cx="914400" cy="146304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>
                    <a:buNone/>
                  </a:pPr>
                  <a:r>
                    <a:rPr lang="en-US" sz="700">
                      <a:solidFill>
                        <a:srgbClr val="1A1A24"/>
                      </a:solidFill>
                      <a:latin typeface="EYInterstate" panose="02000503020000020004" pitchFamily="2" charset="0"/>
                      <a:ea typeface="Arial" pitchFamily="34" charset="-122"/>
                      <a:cs typeface="Arial" pitchFamily="34" charset="-120"/>
                    </a:rPr>
                    <a:t>Bulgaria</a:t>
                  </a:r>
                  <a:endParaRPr lang="en-US" sz="700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54" name="Shape 52">
                  <a:extLst>
                    <a:ext uri="{FF2B5EF4-FFF2-40B4-BE49-F238E27FC236}">
                      <a16:creationId xmlns:a16="http://schemas.microsoft.com/office/drawing/2014/main" id="{B633A02D-F151-9E69-F3AA-8EFA57F5DF24}"/>
                    </a:ext>
                  </a:extLst>
                </p:cNvPr>
                <p:cNvSpPr/>
                <p:nvPr/>
              </p:nvSpPr>
              <p:spPr>
                <a:xfrm>
                  <a:off x="1379220" y="3896868"/>
                  <a:ext cx="100584" cy="100584"/>
                </a:xfrm>
                <a:prstGeom prst="ellipse">
                  <a:avLst/>
                </a:prstGeom>
                <a:solidFill>
                  <a:srgbClr val="2E2E38"/>
                </a:solidFill>
                <a:ln w="6350">
                  <a:solidFill>
                    <a:srgbClr val="2E2E38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55" name="Text 53">
                  <a:extLst>
                    <a:ext uri="{FF2B5EF4-FFF2-40B4-BE49-F238E27FC236}">
                      <a16:creationId xmlns:a16="http://schemas.microsoft.com/office/drawing/2014/main" id="{45995C2D-3CEE-B013-D3B1-7D08009887E0}"/>
                    </a:ext>
                  </a:extLst>
                </p:cNvPr>
                <p:cNvSpPr/>
                <p:nvPr/>
              </p:nvSpPr>
              <p:spPr>
                <a:xfrm>
                  <a:off x="1493520" y="3764280"/>
                  <a:ext cx="914400" cy="146304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>
                    <a:buNone/>
                  </a:pPr>
                  <a:r>
                    <a:rPr lang="en-US" sz="700">
                      <a:solidFill>
                        <a:srgbClr val="1A1A24"/>
                      </a:solidFill>
                      <a:latin typeface="EYInterstate" panose="02000503020000020004" pitchFamily="2" charset="0"/>
                      <a:ea typeface="Arial" pitchFamily="34" charset="-122"/>
                      <a:cs typeface="Arial" pitchFamily="34" charset="-120"/>
                    </a:rPr>
                    <a:t>Rumanía</a:t>
                  </a:r>
                  <a:endParaRPr lang="en-US" sz="700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56" name="Shape 54">
                  <a:extLst>
                    <a:ext uri="{FF2B5EF4-FFF2-40B4-BE49-F238E27FC236}">
                      <a16:creationId xmlns:a16="http://schemas.microsoft.com/office/drawing/2014/main" id="{2408C561-E690-875B-4855-D0BC74DC8E77}"/>
                    </a:ext>
                  </a:extLst>
                </p:cNvPr>
                <p:cNvSpPr/>
                <p:nvPr/>
              </p:nvSpPr>
              <p:spPr>
                <a:xfrm>
                  <a:off x="2424684" y="2220468"/>
                  <a:ext cx="100584" cy="100584"/>
                </a:xfrm>
                <a:prstGeom prst="ellipse">
                  <a:avLst/>
                </a:prstGeom>
                <a:solidFill>
                  <a:srgbClr val="C4C4CD"/>
                </a:solidFill>
                <a:ln w="6350">
                  <a:solidFill>
                    <a:srgbClr val="C4C4CD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57" name="Shape 55">
                  <a:extLst>
                    <a:ext uri="{FF2B5EF4-FFF2-40B4-BE49-F238E27FC236}">
                      <a16:creationId xmlns:a16="http://schemas.microsoft.com/office/drawing/2014/main" id="{49A18021-9585-17A8-E4BD-400F2F6BF1F5}"/>
                    </a:ext>
                  </a:extLst>
                </p:cNvPr>
                <p:cNvSpPr/>
                <p:nvPr/>
              </p:nvSpPr>
              <p:spPr>
                <a:xfrm>
                  <a:off x="3022092" y="2250948"/>
                  <a:ext cx="100584" cy="100584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C4C4CD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58" name="Shape 56">
                  <a:extLst>
                    <a:ext uri="{FF2B5EF4-FFF2-40B4-BE49-F238E27FC236}">
                      <a16:creationId xmlns:a16="http://schemas.microsoft.com/office/drawing/2014/main" id="{D3B9145D-7037-AD49-EC2E-EC7628209E39}"/>
                    </a:ext>
                  </a:extLst>
                </p:cNvPr>
                <p:cNvSpPr/>
                <p:nvPr/>
              </p:nvSpPr>
              <p:spPr>
                <a:xfrm>
                  <a:off x="3246120" y="2129028"/>
                  <a:ext cx="100584" cy="100584"/>
                </a:xfrm>
                <a:prstGeom prst="ellipse">
                  <a:avLst/>
                </a:prstGeom>
                <a:solidFill>
                  <a:srgbClr val="C4C4CD"/>
                </a:solidFill>
                <a:ln w="6350">
                  <a:solidFill>
                    <a:srgbClr val="C4C4CD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59" name="Shape 57">
                  <a:extLst>
                    <a:ext uri="{FF2B5EF4-FFF2-40B4-BE49-F238E27FC236}">
                      <a16:creationId xmlns:a16="http://schemas.microsoft.com/office/drawing/2014/main" id="{DE05E266-71C3-4892-FA05-AD874672DAA0}"/>
                    </a:ext>
                  </a:extLst>
                </p:cNvPr>
                <p:cNvSpPr/>
                <p:nvPr/>
              </p:nvSpPr>
              <p:spPr>
                <a:xfrm>
                  <a:off x="3171444" y="2403348"/>
                  <a:ext cx="100584" cy="100584"/>
                </a:xfrm>
                <a:prstGeom prst="ellipse">
                  <a:avLst/>
                </a:prstGeom>
                <a:solidFill>
                  <a:srgbClr val="C4C4CD"/>
                </a:solidFill>
                <a:ln w="6350">
                  <a:solidFill>
                    <a:srgbClr val="C4C4CD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60" name="Shape 58">
                  <a:extLst>
                    <a:ext uri="{FF2B5EF4-FFF2-40B4-BE49-F238E27FC236}">
                      <a16:creationId xmlns:a16="http://schemas.microsoft.com/office/drawing/2014/main" id="{C50758B9-7292-558F-5EA2-3E81A0DB11D4}"/>
                    </a:ext>
                  </a:extLst>
                </p:cNvPr>
                <p:cNvSpPr/>
                <p:nvPr/>
              </p:nvSpPr>
              <p:spPr>
                <a:xfrm>
                  <a:off x="2462022" y="2494788"/>
                  <a:ext cx="100584" cy="100584"/>
                </a:xfrm>
                <a:prstGeom prst="ellipse">
                  <a:avLst/>
                </a:prstGeom>
                <a:solidFill>
                  <a:srgbClr val="C4C4CD"/>
                </a:solidFill>
                <a:ln w="6350">
                  <a:solidFill>
                    <a:srgbClr val="C4C4CD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61" name="Shape 59">
                  <a:extLst>
                    <a:ext uri="{FF2B5EF4-FFF2-40B4-BE49-F238E27FC236}">
                      <a16:creationId xmlns:a16="http://schemas.microsoft.com/office/drawing/2014/main" id="{E49FE884-B1C5-7DBD-9203-2E10F7400B5F}"/>
                    </a:ext>
                  </a:extLst>
                </p:cNvPr>
                <p:cNvSpPr/>
                <p:nvPr/>
              </p:nvSpPr>
              <p:spPr>
                <a:xfrm>
                  <a:off x="2798064" y="2555748"/>
                  <a:ext cx="100584" cy="100584"/>
                </a:xfrm>
                <a:prstGeom prst="ellipse">
                  <a:avLst/>
                </a:prstGeom>
                <a:solidFill>
                  <a:srgbClr val="C4C4CD"/>
                </a:solidFill>
                <a:ln w="6350">
                  <a:solidFill>
                    <a:srgbClr val="C4C4CD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</p:grpSp>
        </p:grp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F07EEE40-4A9D-2F18-A84D-DF89E4FBC027}"/>
              </a:ext>
            </a:extLst>
          </p:cNvPr>
          <p:cNvGrpSpPr/>
          <p:nvPr/>
        </p:nvGrpSpPr>
        <p:grpSpPr>
          <a:xfrm>
            <a:off x="5166870" y="2733579"/>
            <a:ext cx="3474720" cy="1936382"/>
            <a:chOff x="5257800" y="1269512"/>
            <a:chExt cx="3474720" cy="1936382"/>
          </a:xfrm>
        </p:grpSpPr>
        <p:sp>
          <p:nvSpPr>
            <p:cNvPr id="78" name="Text 5">
              <a:extLst>
                <a:ext uri="{FF2B5EF4-FFF2-40B4-BE49-F238E27FC236}">
                  <a16:creationId xmlns:a16="http://schemas.microsoft.com/office/drawing/2014/main" id="{496E00E9-5220-0192-1429-FE06982CBB56}"/>
                </a:ext>
              </a:extLst>
            </p:cNvPr>
            <p:cNvSpPr/>
            <p:nvPr/>
          </p:nvSpPr>
          <p:spPr>
            <a:xfrm>
              <a:off x="5349240" y="1269512"/>
              <a:ext cx="33832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>
                  <a:solidFill>
                    <a:srgbClr val="000000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Por </a:t>
              </a:r>
              <a:r>
                <a:rPr lang="en-US" sz="1100" b="1" err="1">
                  <a:solidFill>
                    <a:srgbClr val="000000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edad</a:t>
              </a:r>
              <a:r>
                <a:rPr lang="en-US" sz="1100" b="1">
                  <a:solidFill>
                    <a:srgbClr val="000000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 (UE-27)</a:t>
              </a:r>
              <a:endParaRPr lang="en-US" sz="1100">
                <a:latin typeface="EYInterstate" panose="02000503020000020004" pitchFamily="2" charset="0"/>
              </a:endParaRPr>
            </a:p>
          </p:txBody>
        </p:sp>
        <p:graphicFrame>
          <p:nvGraphicFramePr>
            <p:cNvPr id="80" name="Chart 1">
              <a:extLst>
                <a:ext uri="{FF2B5EF4-FFF2-40B4-BE49-F238E27FC236}">
                  <a16:creationId xmlns:a16="http://schemas.microsoft.com/office/drawing/2014/main" id="{AE8CBC77-E63D-8ED0-4A98-9C8C6E40E90F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030008505"/>
                </p:ext>
              </p:extLst>
            </p:nvPr>
          </p:nvGraphicFramePr>
          <p:xfrm>
            <a:off x="5257800" y="1408176"/>
            <a:ext cx="3474720" cy="179771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BA36B985-7233-59BB-8EBC-1969A47A5784}"/>
              </a:ext>
            </a:extLst>
          </p:cNvPr>
          <p:cNvGrpSpPr/>
          <p:nvPr/>
        </p:nvGrpSpPr>
        <p:grpSpPr>
          <a:xfrm>
            <a:off x="5226983" y="2062258"/>
            <a:ext cx="3354494" cy="549338"/>
            <a:chOff x="5310724" y="3797255"/>
            <a:chExt cx="3354494" cy="755709"/>
          </a:xfrm>
        </p:grpSpPr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8D37F6BC-813B-D738-D2A1-D5082A1B9A2B}"/>
                </a:ext>
              </a:extLst>
            </p:cNvPr>
            <p:cNvGrpSpPr/>
            <p:nvPr/>
          </p:nvGrpSpPr>
          <p:grpSpPr>
            <a:xfrm>
              <a:off x="5310724" y="3810973"/>
              <a:ext cx="3354494" cy="728273"/>
              <a:chOff x="5310724" y="3594739"/>
              <a:chExt cx="3354494" cy="930790"/>
            </a:xfrm>
          </p:grpSpPr>
          <p:sp>
            <p:nvSpPr>
              <p:cNvPr id="84" name="Shape 6">
                <a:extLst>
                  <a:ext uri="{FF2B5EF4-FFF2-40B4-BE49-F238E27FC236}">
                    <a16:creationId xmlns:a16="http://schemas.microsoft.com/office/drawing/2014/main" id="{06CA1FC4-012D-C455-204C-95CE79EF0033}"/>
                  </a:ext>
                </a:extLst>
              </p:cNvPr>
              <p:cNvSpPr/>
              <p:nvPr/>
            </p:nvSpPr>
            <p:spPr>
              <a:xfrm>
                <a:off x="5327658" y="3594739"/>
                <a:ext cx="3337560" cy="930790"/>
              </a:xfrm>
              <a:prstGeom prst="rect">
                <a:avLst/>
              </a:prstGeom>
              <a:solidFill>
                <a:srgbClr val="F6F6FA"/>
              </a:solidFill>
              <a:ln w="12700">
                <a:solidFill>
                  <a:srgbClr val="F6F6FA"/>
                </a:solidFill>
                <a:prstDash val="solid"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86" name="Shape 7">
                <a:extLst>
                  <a:ext uri="{FF2B5EF4-FFF2-40B4-BE49-F238E27FC236}">
                    <a16:creationId xmlns:a16="http://schemas.microsoft.com/office/drawing/2014/main" id="{27916D45-B951-1105-A29F-B5B9EAD8C087}"/>
                  </a:ext>
                </a:extLst>
              </p:cNvPr>
              <p:cNvSpPr/>
              <p:nvPr/>
            </p:nvSpPr>
            <p:spPr>
              <a:xfrm>
                <a:off x="5310724" y="3594739"/>
                <a:ext cx="54739" cy="930790"/>
              </a:xfrm>
              <a:prstGeom prst="rect">
                <a:avLst/>
              </a:prstGeom>
              <a:solidFill>
                <a:srgbClr val="FFE600"/>
              </a:solidFill>
              <a:ln w="12700">
                <a:solidFill>
                  <a:srgbClr val="FFE600"/>
                </a:solidFill>
                <a:prstDash val="solid"/>
              </a:ln>
            </p:spPr>
            <p:txBody>
              <a:bodyPr/>
              <a:lstStyle/>
              <a:p>
                <a:endParaRPr lang="es-ES"/>
              </a:p>
            </p:txBody>
          </p:sp>
        </p:grpSp>
        <p:sp>
          <p:nvSpPr>
            <p:cNvPr id="88" name="Text 8">
              <a:extLst>
                <a:ext uri="{FF2B5EF4-FFF2-40B4-BE49-F238E27FC236}">
                  <a16:creationId xmlns:a16="http://schemas.microsoft.com/office/drawing/2014/main" id="{B8B1EAA8-F4B0-17B0-09A0-B16535812EC9}"/>
                </a:ext>
              </a:extLst>
            </p:cNvPr>
            <p:cNvSpPr/>
            <p:nvPr/>
          </p:nvSpPr>
          <p:spPr>
            <a:xfrm>
              <a:off x="5467359" y="3797255"/>
              <a:ext cx="3108960" cy="75570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950">
                  <a:solidFill>
                    <a:srgbClr val="2E2E38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España </a:t>
              </a:r>
              <a:r>
                <a:rPr lang="en-US" sz="950" err="1">
                  <a:solidFill>
                    <a:srgbClr val="2E2E38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está</a:t>
              </a:r>
              <a:r>
                <a:rPr lang="en-US" sz="950">
                  <a:solidFill>
                    <a:srgbClr val="2E2E38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sz="950" err="1">
                  <a:solidFill>
                    <a:srgbClr val="2E2E38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por</a:t>
              </a:r>
              <a:r>
                <a:rPr lang="en-US" sz="950">
                  <a:solidFill>
                    <a:srgbClr val="2E2E38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sz="950" err="1">
                  <a:solidFill>
                    <a:srgbClr val="2E2E38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encima</a:t>
              </a:r>
              <a:r>
                <a:rPr lang="en-US" sz="950">
                  <a:solidFill>
                    <a:srgbClr val="2E2E38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 de la media </a:t>
              </a:r>
              <a:r>
                <a:rPr lang="en-US" sz="950" err="1">
                  <a:solidFill>
                    <a:srgbClr val="2E2E38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en</a:t>
              </a:r>
              <a:r>
                <a:rPr lang="en-US" sz="950">
                  <a:solidFill>
                    <a:srgbClr val="2E2E38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 ambas variables</a:t>
              </a:r>
              <a:endParaRPr lang="en-US" sz="950">
                <a:latin typeface="EYInterstate" panose="02000503020000020004" pitchFamily="2" charset="0"/>
              </a:endParaRP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984B0CF4-B7B4-686A-DE43-279EC7FD1604}"/>
              </a:ext>
            </a:extLst>
          </p:cNvPr>
          <p:cNvGrpSpPr/>
          <p:nvPr/>
        </p:nvGrpSpPr>
        <p:grpSpPr>
          <a:xfrm>
            <a:off x="6412586" y="1124784"/>
            <a:ext cx="983288" cy="815616"/>
            <a:chOff x="6172200" y="1360656"/>
            <a:chExt cx="983288" cy="815616"/>
          </a:xfrm>
        </p:grpSpPr>
        <p:sp>
          <p:nvSpPr>
            <p:cNvPr id="90" name="Text 60">
              <a:extLst>
                <a:ext uri="{FF2B5EF4-FFF2-40B4-BE49-F238E27FC236}">
                  <a16:creationId xmlns:a16="http://schemas.microsoft.com/office/drawing/2014/main" id="{9EA4AAE8-1D31-5C90-FC9D-52A7B9E8B7B8}"/>
                </a:ext>
              </a:extLst>
            </p:cNvPr>
            <p:cNvSpPr/>
            <p:nvPr/>
          </p:nvSpPr>
          <p:spPr>
            <a:xfrm>
              <a:off x="6172200" y="1360656"/>
              <a:ext cx="983288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en-US" sz="3000" b="1">
                  <a:solidFill>
                    <a:srgbClr val="1A1A24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0,78</a:t>
              </a:r>
              <a:endParaRPr lang="en-US" sz="3000">
                <a:latin typeface="EYInterstate" panose="02000503020000020004" pitchFamily="2" charset="0"/>
              </a:endParaRPr>
            </a:p>
          </p:txBody>
        </p:sp>
        <p:sp>
          <p:nvSpPr>
            <p:cNvPr id="91" name="Text 61">
              <a:extLst>
                <a:ext uri="{FF2B5EF4-FFF2-40B4-BE49-F238E27FC236}">
                  <a16:creationId xmlns:a16="http://schemas.microsoft.com/office/drawing/2014/main" id="{09A8A6F7-FC7C-8331-E8D9-37AD5BCA0B27}"/>
                </a:ext>
              </a:extLst>
            </p:cNvPr>
            <p:cNvSpPr/>
            <p:nvPr/>
          </p:nvSpPr>
          <p:spPr>
            <a:xfrm>
              <a:off x="6172200" y="1856232"/>
              <a:ext cx="937568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850" err="1">
                  <a:solidFill>
                    <a:srgbClr val="747480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Correlación</a:t>
              </a:r>
              <a:r>
                <a:rPr lang="en-US" sz="850">
                  <a:solidFill>
                    <a:srgbClr val="747480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 de UE </a:t>
              </a:r>
              <a:r>
                <a:rPr lang="en-US" sz="850" err="1">
                  <a:solidFill>
                    <a:srgbClr val="747480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competencias-uso</a:t>
              </a:r>
              <a:endParaRPr lang="en-US" sz="850">
                <a:latin typeface="EYInterstate" panose="02000503020000020004" pitchFamily="2" charset="0"/>
              </a:endParaRPr>
            </a:p>
          </p:txBody>
        </p:sp>
      </p:grpSp>
      <p:sp>
        <p:nvSpPr>
          <p:cNvPr id="63" name="Text 44">
            <a:extLst>
              <a:ext uri="{FF2B5EF4-FFF2-40B4-BE49-F238E27FC236}">
                <a16:creationId xmlns:a16="http://schemas.microsoft.com/office/drawing/2014/main" id="{2372A9C3-BC2C-736D-A808-948397456144}"/>
              </a:ext>
            </a:extLst>
          </p:cNvPr>
          <p:cNvSpPr/>
          <p:nvPr/>
        </p:nvSpPr>
        <p:spPr>
          <a:xfrm>
            <a:off x="2160239" y="2070405"/>
            <a:ext cx="78358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1A1A24"/>
                </a:solidFill>
                <a:latin typeface="EYInterstate" panose="02000503020000020004" pitchFamily="2" charset="0"/>
                <a:cs typeface="Arial" pitchFamily="34" charset="-120"/>
              </a:rPr>
              <a:t>Lithuania</a:t>
            </a:r>
            <a:endParaRPr lang="en-US" sz="700">
              <a:latin typeface="EYInterstate" panose="0200050302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1161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28016" cy="128016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EYInterstate" panose="02000503020000020004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58368" y="24688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0" cap="none" spc="150" normalizeH="0" baseline="0" noProof="0">
                <a:ln>
                  <a:noFill/>
                </a:ln>
                <a:solidFill>
                  <a:srgbClr val="747480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P3 · CALIDAD → USO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EYInterstate" panose="02000503020000020004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Las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mejores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plataformas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se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usan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más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,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pero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la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calidad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pesa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menos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que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las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competencias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EYInterstate" panose="02000503020000020004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4681728"/>
            <a:ext cx="8229600" cy="0"/>
          </a:xfrm>
          <a:prstGeom prst="line">
            <a:avLst/>
          </a:prstGeom>
          <a:noFill/>
          <a:ln w="6350">
            <a:solidFill>
              <a:srgbClr val="C4C4C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EYInterstate" panose="02000503020000020004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47274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747480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Fuente: Comisión Europea, eGovernment Benchmark 2025 (Overall Score); Eurostat, 2025. Cada punto es un </a:t>
            </a:r>
            <a:r>
              <a:rPr kumimoji="0" lang="en-US" sz="700" b="0" i="0" u="none" strike="noStrike" kern="1200" cap="none" spc="0" normalizeH="0" baseline="0" noProof="0" err="1">
                <a:ln>
                  <a:noFill/>
                </a:ln>
                <a:solidFill>
                  <a:srgbClr val="747480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país</a:t>
            </a: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747480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; </a:t>
            </a:r>
            <a:r>
              <a:rPr kumimoji="0" lang="en-US" sz="700" b="0" i="0" u="none" strike="noStrike" kern="1200" cap="none" spc="0" normalizeH="0" baseline="0" noProof="0" err="1">
                <a:ln>
                  <a:noFill/>
                </a:ln>
                <a:solidFill>
                  <a:srgbClr val="747480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líneas</a:t>
            </a: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747480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700" b="0" i="0" u="none" strike="noStrike" kern="1200" cap="none" spc="0" normalizeH="0" baseline="0" noProof="0" err="1">
                <a:ln>
                  <a:noFill/>
                </a:ln>
                <a:solidFill>
                  <a:srgbClr val="747480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discontinuas</a:t>
            </a: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747480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= media UE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EYInterstate" panose="02000503020000020004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772400" y="47274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EY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747480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  6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EYInterstate" panose="02000503020000020004" pitchFamily="2" charset="0"/>
            </a:endParaRP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4AE1C9EF-DCB5-8940-116E-D2D65F36E2C6}"/>
              </a:ext>
            </a:extLst>
          </p:cNvPr>
          <p:cNvGrpSpPr/>
          <p:nvPr/>
        </p:nvGrpSpPr>
        <p:grpSpPr>
          <a:xfrm>
            <a:off x="5806998" y="2693750"/>
            <a:ext cx="2514600" cy="1229868"/>
            <a:chOff x="5750383" y="2654118"/>
            <a:chExt cx="2514600" cy="1229868"/>
          </a:xfrm>
        </p:grpSpPr>
        <p:sp>
          <p:nvSpPr>
            <p:cNvPr id="64" name="Shape 62"/>
            <p:cNvSpPr/>
            <p:nvPr/>
          </p:nvSpPr>
          <p:spPr>
            <a:xfrm>
              <a:off x="5750383" y="2654118"/>
              <a:ext cx="2514600" cy="1229868"/>
            </a:xfrm>
            <a:prstGeom prst="rect">
              <a:avLst/>
            </a:prstGeom>
            <a:solidFill>
              <a:srgbClr val="FFE600"/>
            </a:solidFill>
            <a:ln w="12700">
              <a:solidFill>
                <a:srgbClr val="FFE600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65" name="Text 63"/>
            <p:cNvSpPr/>
            <p:nvPr/>
          </p:nvSpPr>
          <p:spPr>
            <a:xfrm>
              <a:off x="5914975" y="2860593"/>
              <a:ext cx="2185416" cy="8169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5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1" i="0" u="none" strike="noStrike" kern="1200" cap="none" spc="0" normalizeH="0" baseline="0" noProof="0">
                  <a:ln>
                    <a:noFill/>
                  </a:ln>
                  <a:solidFill>
                    <a:srgbClr val="1A1A24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Las personas </a:t>
              </a:r>
              <a:r>
                <a:rPr kumimoji="0" lang="en-US" sz="1300" b="1" i="0" u="none" strike="noStrike" kern="1200" cap="none" spc="0" normalizeH="0" baseline="0" noProof="0" err="1">
                  <a:ln>
                    <a:noFill/>
                  </a:ln>
                  <a:solidFill>
                    <a:srgbClr val="1A1A24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influyen</a:t>
              </a:r>
              <a:r>
                <a:rPr kumimoji="0" lang="en-US" sz="1300" b="1" i="0" u="none" strike="noStrike" kern="1200" cap="none" spc="0" normalizeH="0" baseline="0" noProof="0">
                  <a:ln>
                    <a:noFill/>
                  </a:ln>
                  <a:solidFill>
                    <a:srgbClr val="1A1A24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kumimoji="0" lang="en-US" sz="1300" b="1" i="0" u="none" strike="noStrike" kern="1200" cap="none" spc="0" normalizeH="0" baseline="0" noProof="0" err="1">
                  <a:ln>
                    <a:noFill/>
                  </a:ln>
                  <a:solidFill>
                    <a:srgbClr val="1A1A24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más</a:t>
              </a:r>
              <a:r>
                <a:rPr kumimoji="0" lang="en-US" sz="1300" b="1" i="0" u="none" strike="noStrike" kern="1200" cap="none" spc="0" normalizeH="0" baseline="0" noProof="0">
                  <a:ln>
                    <a:noFill/>
                  </a:ln>
                  <a:solidFill>
                    <a:srgbClr val="1A1A24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kumimoji="0" lang="en-US" sz="1300" b="1" i="0" u="none" strike="noStrike" kern="1200" cap="none" spc="0" normalizeH="0" baseline="0" noProof="0" err="1">
                  <a:ln>
                    <a:noFill/>
                  </a:ln>
                  <a:solidFill>
                    <a:srgbClr val="1A1A24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que</a:t>
              </a:r>
              <a:r>
                <a:rPr kumimoji="0" lang="en-US" sz="1300" b="1" i="0" u="none" strike="noStrike" kern="1200" cap="none" spc="0" normalizeH="0" baseline="0" noProof="0">
                  <a:ln>
                    <a:noFill/>
                  </a:ln>
                  <a:solidFill>
                    <a:srgbClr val="1A1A24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 l</a:t>
              </a:r>
              <a:r>
                <a:rPr lang="en-US" sz="1300" b="1">
                  <a:solidFill>
                    <a:srgbClr val="1A1A24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as </a:t>
              </a:r>
              <a:r>
                <a:rPr lang="en-US" sz="1300" b="1" err="1">
                  <a:solidFill>
                    <a:srgbClr val="1A1A24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plataformas</a:t>
              </a:r>
              <a:endParaRPr kumimoji="0" lang="en-US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5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50" b="0" i="0" u="none" strike="noStrike" kern="1200" cap="none" spc="0" normalizeH="0" baseline="0" noProof="0" err="1">
                  <a:ln>
                    <a:noFill/>
                  </a:ln>
                  <a:solidFill>
                    <a:srgbClr val="1A1A24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Ningún</a:t>
              </a:r>
              <a:r>
                <a:rPr kumimoji="0" lang="en-US" sz="950" b="0" i="0" u="none" strike="noStrike" kern="1200" cap="none" spc="0" normalizeH="0" baseline="0" noProof="0">
                  <a:ln>
                    <a:noFill/>
                  </a:ln>
                  <a:solidFill>
                    <a:srgbClr val="1A1A24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kumimoji="0" lang="en-US" sz="950" b="0" i="0" u="none" strike="noStrike" kern="1200" cap="none" spc="0" normalizeH="0" baseline="0" noProof="0" err="1">
                  <a:ln>
                    <a:noFill/>
                  </a:ln>
                  <a:solidFill>
                    <a:srgbClr val="1A1A24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país</a:t>
              </a:r>
              <a:r>
                <a:rPr kumimoji="0" lang="en-US" sz="950" b="0" i="0" u="none" strike="noStrike" kern="1200" cap="none" spc="0" normalizeH="0" baseline="0" noProof="0">
                  <a:ln>
                    <a:noFill/>
                  </a:ln>
                  <a:solidFill>
                    <a:srgbClr val="1A1A24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 con </a:t>
              </a:r>
              <a:r>
                <a:rPr kumimoji="0" lang="en-US" sz="950" b="0" i="0" u="none" strike="noStrike" kern="1200" cap="none" spc="0" normalizeH="0" baseline="0" noProof="0" err="1">
                  <a:ln>
                    <a:noFill/>
                  </a:ln>
                  <a:solidFill>
                    <a:srgbClr val="1A1A24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buena</a:t>
              </a:r>
              <a:r>
                <a:rPr kumimoji="0" lang="en-US" sz="950" b="0" i="0" u="none" strike="noStrike" kern="1200" cap="none" spc="0" normalizeH="0" baseline="0" noProof="0">
                  <a:ln>
                    <a:noFill/>
                  </a:ln>
                  <a:solidFill>
                    <a:srgbClr val="1A1A24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kumimoji="0" lang="en-US" sz="950" b="0" i="0" u="none" strike="noStrike" kern="1200" cap="none" spc="0" normalizeH="0" baseline="0" noProof="0" err="1">
                  <a:ln>
                    <a:noFill/>
                  </a:ln>
                  <a:solidFill>
                    <a:srgbClr val="1A1A24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plataforma</a:t>
              </a:r>
              <a:r>
                <a:rPr kumimoji="0" lang="en-US" sz="950" b="0" i="0" u="none" strike="noStrike" kern="1200" cap="none" spc="0" normalizeH="0" baseline="0" noProof="0">
                  <a:ln>
                    <a:noFill/>
                  </a:ln>
                  <a:solidFill>
                    <a:srgbClr val="1A1A24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kumimoji="0" lang="en-US" sz="950" b="0" i="0" u="none" strike="noStrike" kern="1200" cap="none" spc="0" normalizeH="0" baseline="0" noProof="0" err="1">
                  <a:ln>
                    <a:noFill/>
                  </a:ln>
                  <a:solidFill>
                    <a:srgbClr val="1A1A24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tiene</a:t>
              </a:r>
              <a:r>
                <a:rPr kumimoji="0" lang="en-US" sz="950" b="0" i="0" u="none" strike="noStrike" kern="1200" cap="none" spc="0" normalizeH="0" baseline="0" noProof="0">
                  <a:ln>
                    <a:noFill/>
                  </a:ln>
                  <a:solidFill>
                    <a:srgbClr val="1A1A24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 poco </a:t>
              </a:r>
              <a:r>
                <a:rPr kumimoji="0" lang="en-US" sz="950" b="0" i="0" u="none" strike="noStrike" kern="1200" cap="none" spc="0" normalizeH="0" baseline="0" noProof="0" err="1">
                  <a:ln>
                    <a:noFill/>
                  </a:ln>
                  <a:solidFill>
                    <a:srgbClr val="1A1A24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uso</a:t>
              </a:r>
              <a:endParaRPr kumimoji="0" lang="en-US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E3C8585F-3C23-815D-47B8-266F04EC2D19}"/>
              </a:ext>
            </a:extLst>
          </p:cNvPr>
          <p:cNvGrpSpPr/>
          <p:nvPr/>
        </p:nvGrpSpPr>
        <p:grpSpPr>
          <a:xfrm>
            <a:off x="360628" y="1327781"/>
            <a:ext cx="5238196" cy="3072384"/>
            <a:chOff x="709567" y="1517904"/>
            <a:chExt cx="5536882" cy="3072384"/>
          </a:xfrm>
        </p:grpSpPr>
        <p:sp>
          <p:nvSpPr>
            <p:cNvPr id="8" name="Shape 6"/>
            <p:cNvSpPr/>
            <p:nvPr/>
          </p:nvSpPr>
          <p:spPr>
            <a:xfrm>
              <a:off x="1280160" y="4206240"/>
              <a:ext cx="4480560" cy="0"/>
            </a:xfrm>
            <a:prstGeom prst="line">
              <a:avLst/>
            </a:prstGeom>
            <a:noFill/>
            <a:ln w="9525">
              <a:solidFill>
                <a:srgbClr val="747480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9" name="Shape 7"/>
            <p:cNvSpPr/>
            <p:nvPr/>
          </p:nvSpPr>
          <p:spPr>
            <a:xfrm>
              <a:off x="1280160" y="1600200"/>
              <a:ext cx="0" cy="2606040"/>
            </a:xfrm>
            <a:prstGeom prst="line">
              <a:avLst/>
            </a:prstGeom>
            <a:noFill/>
            <a:ln w="9525">
              <a:solidFill>
                <a:srgbClr val="747480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1453896" y="4233672"/>
              <a:ext cx="54864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747480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50</a:t>
              </a:r>
              <a:endPara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2350008" y="4233672"/>
              <a:ext cx="54864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747480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60</a:t>
              </a:r>
              <a:endPara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12" name="Text 10"/>
            <p:cNvSpPr/>
            <p:nvPr/>
          </p:nvSpPr>
          <p:spPr>
            <a:xfrm>
              <a:off x="3246120" y="4233672"/>
              <a:ext cx="54864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747480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70</a:t>
              </a:r>
              <a:endPara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13" name="Text 11"/>
            <p:cNvSpPr/>
            <p:nvPr/>
          </p:nvSpPr>
          <p:spPr>
            <a:xfrm>
              <a:off x="4142232" y="4233672"/>
              <a:ext cx="54864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747480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80</a:t>
              </a:r>
              <a:endPara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14" name="Text 12"/>
            <p:cNvSpPr/>
            <p:nvPr/>
          </p:nvSpPr>
          <p:spPr>
            <a:xfrm>
              <a:off x="5038344" y="4233672"/>
              <a:ext cx="54864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747480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90</a:t>
              </a:r>
              <a:endPara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15" name="Text 13"/>
            <p:cNvSpPr/>
            <p:nvPr/>
          </p:nvSpPr>
          <p:spPr>
            <a:xfrm>
              <a:off x="868680" y="3834384"/>
              <a:ext cx="36576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747480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20%</a:t>
              </a:r>
              <a:endPara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16" name="Text 14"/>
            <p:cNvSpPr/>
            <p:nvPr/>
          </p:nvSpPr>
          <p:spPr>
            <a:xfrm>
              <a:off x="868680" y="3255264"/>
              <a:ext cx="36576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747480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40%</a:t>
              </a:r>
              <a:endPara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17" name="Text 15"/>
            <p:cNvSpPr/>
            <p:nvPr/>
          </p:nvSpPr>
          <p:spPr>
            <a:xfrm>
              <a:off x="868680" y="2676144"/>
              <a:ext cx="36576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747480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60%</a:t>
              </a:r>
              <a:endPara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18" name="Text 16"/>
            <p:cNvSpPr/>
            <p:nvPr/>
          </p:nvSpPr>
          <p:spPr>
            <a:xfrm>
              <a:off x="868680" y="2097024"/>
              <a:ext cx="36576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747480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80%</a:t>
              </a:r>
              <a:endPara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19" name="Text 17"/>
            <p:cNvSpPr/>
            <p:nvPr/>
          </p:nvSpPr>
          <p:spPr>
            <a:xfrm>
              <a:off x="868680" y="1517904"/>
              <a:ext cx="36576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747480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100%</a:t>
              </a:r>
              <a:endPara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20" name="Text 18"/>
            <p:cNvSpPr/>
            <p:nvPr/>
          </p:nvSpPr>
          <p:spPr>
            <a:xfrm>
              <a:off x="1280160" y="4407408"/>
              <a:ext cx="44805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1200" cap="none" spc="0" normalizeH="0" baseline="0" noProof="0" err="1">
                  <a:ln>
                    <a:noFill/>
                  </a:ln>
                  <a:solidFill>
                    <a:srgbClr val="2E2E38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Puntuación</a:t>
              </a:r>
              <a:r>
                <a:rPr kumimoji="0" lang="en-US" sz="750" b="1" i="0" u="none" strike="noStrike" kern="1200" cap="none" spc="0" normalizeH="0" baseline="0" noProof="0">
                  <a:ln>
                    <a:noFill/>
                  </a:ln>
                  <a:solidFill>
                    <a:srgbClr val="2E2E38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 de </a:t>
              </a:r>
              <a:r>
                <a:rPr kumimoji="0" lang="en-US" sz="750" b="1" i="0" u="none" strike="noStrike" kern="1200" cap="none" spc="0" normalizeH="0" baseline="0" noProof="0" err="1">
                  <a:ln>
                    <a:noFill/>
                  </a:ln>
                  <a:solidFill>
                    <a:srgbClr val="2E2E38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calidad</a:t>
              </a:r>
              <a:r>
                <a:rPr kumimoji="0" lang="en-US" sz="750" b="1" i="0" u="none" strike="noStrike" kern="1200" cap="none" spc="0" normalizeH="0" baseline="0" noProof="0">
                  <a:ln>
                    <a:noFill/>
                  </a:ln>
                  <a:solidFill>
                    <a:srgbClr val="2E2E38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 de la </a:t>
              </a:r>
              <a:r>
                <a:rPr kumimoji="0" lang="en-US" sz="750" b="1" i="0" u="none" strike="noStrike" kern="1200" cap="none" spc="0" normalizeH="0" baseline="0" noProof="0" err="1">
                  <a:ln>
                    <a:noFill/>
                  </a:ln>
                  <a:solidFill>
                    <a:srgbClr val="2E2E38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plataforma</a:t>
              </a:r>
              <a:r>
                <a:rPr kumimoji="0" lang="en-US" sz="750" b="1" i="0" u="none" strike="noStrike" kern="1200" cap="none" spc="0" normalizeH="0" baseline="0" noProof="0">
                  <a:ln>
                    <a:noFill/>
                  </a:ln>
                  <a:solidFill>
                    <a:srgbClr val="2E2E38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 (0-100)</a:t>
              </a:r>
              <a:endParaRPr kumimoji="0" lang="en-US" sz="7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21" name="Text 19"/>
            <p:cNvSpPr/>
            <p:nvPr/>
          </p:nvSpPr>
          <p:spPr>
            <a:xfrm>
              <a:off x="709567" y="1679434"/>
              <a:ext cx="228600" cy="2606040"/>
            </a:xfrm>
            <a:prstGeom prst="rect">
              <a:avLst/>
            </a:prstGeom>
            <a:noFill/>
            <a:ln/>
          </p:spPr>
          <p:txBody>
            <a:bodyPr vert="vert270"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1200" cap="none" spc="0" normalizeH="0" baseline="0" noProof="0">
                  <a:ln>
                    <a:noFill/>
                  </a:ln>
                  <a:solidFill>
                    <a:srgbClr val="2E2E38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(%) Uso Administración online</a:t>
              </a:r>
              <a:endParaRPr kumimoji="0" lang="en-US" sz="7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22" name="Shape 20"/>
            <p:cNvSpPr/>
            <p:nvPr/>
          </p:nvSpPr>
          <p:spPr>
            <a:xfrm>
              <a:off x="3942509" y="1600200"/>
              <a:ext cx="0" cy="2606040"/>
            </a:xfrm>
            <a:prstGeom prst="line">
              <a:avLst/>
            </a:prstGeom>
            <a:noFill/>
            <a:ln w="9525">
              <a:solidFill>
                <a:srgbClr val="C4C4CD"/>
              </a:solidFill>
              <a:prstDash val="dash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23" name="Shape 21"/>
            <p:cNvSpPr/>
            <p:nvPr/>
          </p:nvSpPr>
          <p:spPr>
            <a:xfrm>
              <a:off x="1280160" y="2825039"/>
              <a:ext cx="4480560" cy="0"/>
            </a:xfrm>
            <a:prstGeom prst="line">
              <a:avLst/>
            </a:prstGeom>
            <a:noFill/>
            <a:ln w="9525">
              <a:solidFill>
                <a:srgbClr val="C4C4CD"/>
              </a:solidFill>
              <a:prstDash val="dash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24" name="Text 22"/>
            <p:cNvSpPr/>
            <p:nvPr/>
          </p:nvSpPr>
          <p:spPr>
            <a:xfrm>
              <a:off x="4572000" y="2642159"/>
              <a:ext cx="1188720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0" i="0" u="none" strike="noStrike" kern="1200" cap="none" spc="0" normalizeH="0" baseline="0" noProof="0">
                  <a:ln>
                    <a:noFill/>
                  </a:ln>
                  <a:solidFill>
                    <a:srgbClr val="747480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Media UE</a:t>
              </a:r>
              <a:endParaRPr kumimoji="0" lang="en-US" sz="6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25" name="Shape 23"/>
            <p:cNvSpPr/>
            <p:nvPr/>
          </p:nvSpPr>
          <p:spPr>
            <a:xfrm flipV="1">
              <a:off x="1459382" y="2090003"/>
              <a:ext cx="4059387" cy="1388093"/>
            </a:xfrm>
            <a:prstGeom prst="line">
              <a:avLst/>
            </a:prstGeom>
            <a:noFill/>
            <a:ln w="12700">
              <a:solidFill>
                <a:srgbClr val="2E2E38"/>
              </a:solidFill>
              <a:prstDash val="sysDot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26" name="Shape 24"/>
            <p:cNvSpPr/>
            <p:nvPr/>
          </p:nvSpPr>
          <p:spPr>
            <a:xfrm>
              <a:off x="4169115" y="1810512"/>
              <a:ext cx="100584" cy="100584"/>
            </a:xfrm>
            <a:prstGeom prst="ellipse">
              <a:avLst/>
            </a:prstGeom>
            <a:solidFill>
              <a:srgbClr val="C4C4CD"/>
            </a:solidFill>
            <a:ln w="6350">
              <a:solidFill>
                <a:srgbClr val="C4C4CD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27" name="Shape 25"/>
            <p:cNvSpPr/>
            <p:nvPr/>
          </p:nvSpPr>
          <p:spPr>
            <a:xfrm>
              <a:off x="3622487" y="2285390"/>
              <a:ext cx="100584" cy="100584"/>
            </a:xfrm>
            <a:prstGeom prst="ellipse">
              <a:avLst/>
            </a:prstGeom>
            <a:solidFill>
              <a:srgbClr val="C4C4CD"/>
            </a:solidFill>
            <a:ln w="6350">
              <a:solidFill>
                <a:srgbClr val="C4C4CD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28" name="Shape 26"/>
            <p:cNvSpPr/>
            <p:nvPr/>
          </p:nvSpPr>
          <p:spPr>
            <a:xfrm>
              <a:off x="4160154" y="2018995"/>
              <a:ext cx="100584" cy="100584"/>
            </a:xfrm>
            <a:prstGeom prst="ellipse">
              <a:avLst/>
            </a:prstGeom>
            <a:solidFill>
              <a:srgbClr val="C4C4CD"/>
            </a:solidFill>
            <a:ln w="6350">
              <a:solidFill>
                <a:srgbClr val="C4C4CD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29" name="Shape 27"/>
            <p:cNvSpPr/>
            <p:nvPr/>
          </p:nvSpPr>
          <p:spPr>
            <a:xfrm>
              <a:off x="5199644" y="2039264"/>
              <a:ext cx="100584" cy="100584"/>
            </a:xfrm>
            <a:prstGeom prst="ellipse">
              <a:avLst/>
            </a:prstGeom>
            <a:solidFill>
              <a:srgbClr val="C4C4CD"/>
            </a:solidFill>
            <a:ln w="6350">
              <a:solidFill>
                <a:srgbClr val="C4C4CD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30" name="Shape 28"/>
            <p:cNvSpPr/>
            <p:nvPr/>
          </p:nvSpPr>
          <p:spPr>
            <a:xfrm>
              <a:off x="5217566" y="2259330"/>
              <a:ext cx="100584" cy="100584"/>
            </a:xfrm>
            <a:prstGeom prst="ellipse">
              <a:avLst/>
            </a:prstGeom>
            <a:solidFill>
              <a:srgbClr val="C4C4CD"/>
            </a:solidFill>
            <a:ln w="6350">
              <a:solidFill>
                <a:srgbClr val="C4C4CD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31" name="Shape 29"/>
            <p:cNvSpPr/>
            <p:nvPr/>
          </p:nvSpPr>
          <p:spPr>
            <a:xfrm>
              <a:off x="3783787" y="2433066"/>
              <a:ext cx="100584" cy="100584"/>
            </a:xfrm>
            <a:prstGeom prst="ellipse">
              <a:avLst/>
            </a:prstGeom>
            <a:solidFill>
              <a:srgbClr val="C4C4CD"/>
            </a:solidFill>
            <a:ln w="6350">
              <a:solidFill>
                <a:srgbClr val="C4C4CD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32" name="Shape 30"/>
            <p:cNvSpPr/>
            <p:nvPr/>
          </p:nvSpPr>
          <p:spPr>
            <a:xfrm>
              <a:off x="3488070" y="2519934"/>
              <a:ext cx="100584" cy="100584"/>
            </a:xfrm>
            <a:prstGeom prst="ellipse">
              <a:avLst/>
            </a:prstGeom>
            <a:solidFill>
              <a:srgbClr val="C4C4CD"/>
            </a:solidFill>
            <a:ln w="6350">
              <a:solidFill>
                <a:srgbClr val="C4C4CD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33" name="Shape 31"/>
            <p:cNvSpPr/>
            <p:nvPr/>
          </p:nvSpPr>
          <p:spPr>
            <a:xfrm>
              <a:off x="3093781" y="2464918"/>
              <a:ext cx="100584" cy="100584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C4C4CD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34" name="Shape 32"/>
            <p:cNvSpPr/>
            <p:nvPr/>
          </p:nvSpPr>
          <p:spPr>
            <a:xfrm>
              <a:off x="5468478" y="2569159"/>
              <a:ext cx="100584" cy="100584"/>
            </a:xfrm>
            <a:prstGeom prst="ellipse">
              <a:avLst/>
            </a:prstGeom>
            <a:solidFill>
              <a:srgbClr val="C4C4CD"/>
            </a:solidFill>
            <a:ln w="6350">
              <a:solidFill>
                <a:srgbClr val="C4C4CD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35" name="Shape 33"/>
            <p:cNvSpPr/>
            <p:nvPr/>
          </p:nvSpPr>
          <p:spPr>
            <a:xfrm>
              <a:off x="4635094" y="2629967"/>
              <a:ext cx="100584" cy="100584"/>
            </a:xfrm>
            <a:prstGeom prst="ellipse">
              <a:avLst/>
            </a:prstGeom>
            <a:solidFill>
              <a:srgbClr val="C4C4CD"/>
            </a:solidFill>
            <a:ln w="6350">
              <a:solidFill>
                <a:srgbClr val="C4C4CD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36" name="Shape 34"/>
            <p:cNvSpPr/>
            <p:nvPr/>
          </p:nvSpPr>
          <p:spPr>
            <a:xfrm>
              <a:off x="4545482" y="2679192"/>
              <a:ext cx="100584" cy="100584"/>
            </a:xfrm>
            <a:prstGeom prst="ellipse">
              <a:avLst/>
            </a:prstGeom>
            <a:solidFill>
              <a:srgbClr val="C4C4CD"/>
            </a:solidFill>
            <a:ln w="6350">
              <a:solidFill>
                <a:srgbClr val="C4C4CD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37" name="Shape 35"/>
            <p:cNvSpPr/>
            <p:nvPr/>
          </p:nvSpPr>
          <p:spPr>
            <a:xfrm>
              <a:off x="2789103" y="2965856"/>
              <a:ext cx="100584" cy="100584"/>
            </a:xfrm>
            <a:prstGeom prst="ellipse">
              <a:avLst/>
            </a:prstGeom>
            <a:solidFill>
              <a:srgbClr val="C4C4CD"/>
            </a:solidFill>
            <a:ln w="6350">
              <a:solidFill>
                <a:srgbClr val="C4C4CD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38" name="Shape 36"/>
            <p:cNvSpPr/>
            <p:nvPr/>
          </p:nvSpPr>
          <p:spPr>
            <a:xfrm>
              <a:off x="2681569" y="2878988"/>
              <a:ext cx="100584" cy="100584"/>
            </a:xfrm>
            <a:prstGeom prst="ellipse">
              <a:avLst/>
            </a:prstGeom>
            <a:solidFill>
              <a:srgbClr val="C4C4CD"/>
            </a:solidFill>
            <a:ln w="6350">
              <a:solidFill>
                <a:srgbClr val="C4C4CD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39" name="Shape 37"/>
            <p:cNvSpPr/>
            <p:nvPr/>
          </p:nvSpPr>
          <p:spPr>
            <a:xfrm>
              <a:off x="3837554" y="3122219"/>
              <a:ext cx="100584" cy="100584"/>
            </a:xfrm>
            <a:prstGeom prst="ellipse">
              <a:avLst/>
            </a:prstGeom>
            <a:solidFill>
              <a:srgbClr val="C4C4CD"/>
            </a:solidFill>
            <a:ln w="6350">
              <a:solidFill>
                <a:srgbClr val="C4C4CD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40" name="Shape 38"/>
            <p:cNvSpPr/>
            <p:nvPr/>
          </p:nvSpPr>
          <p:spPr>
            <a:xfrm>
              <a:off x="4886005" y="2372258"/>
              <a:ext cx="100584" cy="100584"/>
            </a:xfrm>
            <a:prstGeom prst="ellipse">
              <a:avLst/>
            </a:prstGeom>
            <a:solidFill>
              <a:srgbClr val="C4C4CD"/>
            </a:solidFill>
            <a:ln w="6350">
              <a:solidFill>
                <a:srgbClr val="C4C4CD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41" name="Shape 39"/>
            <p:cNvSpPr/>
            <p:nvPr/>
          </p:nvSpPr>
          <p:spPr>
            <a:xfrm>
              <a:off x="4778472" y="2401214"/>
              <a:ext cx="100584" cy="100584"/>
            </a:xfrm>
            <a:prstGeom prst="ellipse">
              <a:avLst/>
            </a:prstGeom>
            <a:solidFill>
              <a:srgbClr val="C4C4CD"/>
            </a:solidFill>
            <a:ln w="6350">
              <a:solidFill>
                <a:srgbClr val="C4C4CD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42" name="Shape 40"/>
            <p:cNvSpPr/>
            <p:nvPr/>
          </p:nvSpPr>
          <p:spPr>
            <a:xfrm>
              <a:off x="3703137" y="2282495"/>
              <a:ext cx="100584" cy="100584"/>
            </a:xfrm>
            <a:prstGeom prst="ellipse">
              <a:avLst/>
            </a:prstGeom>
            <a:solidFill>
              <a:srgbClr val="C4C4CD"/>
            </a:solidFill>
            <a:ln w="6350">
              <a:solidFill>
                <a:srgbClr val="C4C4CD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43" name="Shape 41"/>
            <p:cNvSpPr/>
            <p:nvPr/>
          </p:nvSpPr>
          <p:spPr>
            <a:xfrm>
              <a:off x="2636764" y="2534412"/>
              <a:ext cx="100584" cy="100584"/>
            </a:xfrm>
            <a:prstGeom prst="ellipse">
              <a:avLst/>
            </a:prstGeom>
            <a:solidFill>
              <a:srgbClr val="C4C4CD"/>
            </a:solidFill>
            <a:ln w="6350">
              <a:solidFill>
                <a:srgbClr val="C4C4CD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44" name="Shape 42"/>
            <p:cNvSpPr/>
            <p:nvPr/>
          </p:nvSpPr>
          <p:spPr>
            <a:xfrm>
              <a:off x="3873398" y="2635758"/>
              <a:ext cx="100584" cy="100584"/>
            </a:xfrm>
            <a:prstGeom prst="ellipse">
              <a:avLst/>
            </a:prstGeom>
            <a:solidFill>
              <a:srgbClr val="C4C4CD"/>
            </a:solidFill>
            <a:ln w="6350">
              <a:solidFill>
                <a:srgbClr val="C4C4CD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45" name="Shape 43"/>
            <p:cNvSpPr/>
            <p:nvPr/>
          </p:nvSpPr>
          <p:spPr>
            <a:xfrm>
              <a:off x="3004170" y="2679192"/>
              <a:ext cx="100584" cy="100584"/>
            </a:xfrm>
            <a:prstGeom prst="ellipse">
              <a:avLst/>
            </a:prstGeom>
            <a:solidFill>
              <a:srgbClr val="C4C4CD"/>
            </a:solidFill>
            <a:ln w="6350">
              <a:solidFill>
                <a:srgbClr val="C4C4CD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46" name="Shape 44"/>
            <p:cNvSpPr/>
            <p:nvPr/>
          </p:nvSpPr>
          <p:spPr>
            <a:xfrm>
              <a:off x="5208605" y="1801825"/>
              <a:ext cx="100584" cy="100584"/>
            </a:xfrm>
            <a:prstGeom prst="ellipse">
              <a:avLst/>
            </a:prstGeom>
            <a:solidFill>
              <a:srgbClr val="2E2E38"/>
            </a:solidFill>
            <a:ln w="6350">
              <a:solidFill>
                <a:srgbClr val="2E2E3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47" name="Text 45"/>
            <p:cNvSpPr/>
            <p:nvPr/>
          </p:nvSpPr>
          <p:spPr>
            <a:xfrm>
              <a:off x="5332049" y="1669237"/>
              <a:ext cx="91440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1A1A24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Finlandia</a:t>
              </a:r>
              <a:endPara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48" name="Shape 46"/>
            <p:cNvSpPr/>
            <p:nvPr/>
          </p:nvSpPr>
          <p:spPr>
            <a:xfrm>
              <a:off x="4518599" y="1987144"/>
              <a:ext cx="100584" cy="100584"/>
            </a:xfrm>
            <a:prstGeom prst="ellipse">
              <a:avLst/>
            </a:prstGeom>
            <a:solidFill>
              <a:srgbClr val="2E2E38"/>
            </a:solidFill>
            <a:ln w="6350">
              <a:solidFill>
                <a:srgbClr val="2E2E3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49" name="Text 47"/>
            <p:cNvSpPr/>
            <p:nvPr/>
          </p:nvSpPr>
          <p:spPr>
            <a:xfrm>
              <a:off x="4642043" y="1854556"/>
              <a:ext cx="91440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1A1A24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Países Bajos</a:t>
              </a:r>
              <a:endPara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50" name="Shape 48"/>
            <p:cNvSpPr/>
            <p:nvPr/>
          </p:nvSpPr>
          <p:spPr>
            <a:xfrm>
              <a:off x="4258178" y="2608326"/>
              <a:ext cx="155448" cy="155448"/>
            </a:xfrm>
            <a:prstGeom prst="ellipse">
              <a:avLst/>
            </a:prstGeom>
            <a:solidFill>
              <a:srgbClr val="FFE600"/>
            </a:solidFill>
            <a:ln w="12700">
              <a:solidFill>
                <a:srgbClr val="1A1A24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51" name="Text 49"/>
            <p:cNvSpPr/>
            <p:nvPr/>
          </p:nvSpPr>
          <p:spPr>
            <a:xfrm>
              <a:off x="4409054" y="2503170"/>
              <a:ext cx="91440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0" b="1" i="0" u="none" strike="noStrike" kern="1200" cap="none" spc="0" normalizeH="0" baseline="0" noProof="0">
                  <a:ln>
                    <a:noFill/>
                  </a:ln>
                  <a:solidFill>
                    <a:srgbClr val="1A1A24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España</a:t>
              </a:r>
              <a:endParaRPr kumimoji="0" lang="en-US" sz="8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52" name="Shape 50"/>
            <p:cNvSpPr/>
            <p:nvPr/>
          </p:nvSpPr>
          <p:spPr>
            <a:xfrm>
              <a:off x="3183392" y="2844241"/>
              <a:ext cx="100584" cy="100584"/>
            </a:xfrm>
            <a:prstGeom prst="ellipse">
              <a:avLst/>
            </a:prstGeom>
            <a:solidFill>
              <a:srgbClr val="2E2E38"/>
            </a:solidFill>
            <a:ln w="6350">
              <a:solidFill>
                <a:srgbClr val="2E2E3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53" name="Text 51"/>
            <p:cNvSpPr/>
            <p:nvPr/>
          </p:nvSpPr>
          <p:spPr>
            <a:xfrm>
              <a:off x="3306836" y="2940253"/>
              <a:ext cx="91440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1A1A24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Croacia</a:t>
              </a:r>
              <a:endPara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54" name="Shape 52"/>
            <p:cNvSpPr/>
            <p:nvPr/>
          </p:nvSpPr>
          <p:spPr>
            <a:xfrm>
              <a:off x="3434304" y="3188818"/>
              <a:ext cx="100584" cy="100584"/>
            </a:xfrm>
            <a:prstGeom prst="ellipse">
              <a:avLst/>
            </a:prstGeom>
            <a:solidFill>
              <a:srgbClr val="2E2E38"/>
            </a:solidFill>
            <a:ln w="6350">
              <a:solidFill>
                <a:srgbClr val="2E2E3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55" name="Text 53"/>
            <p:cNvSpPr/>
            <p:nvPr/>
          </p:nvSpPr>
          <p:spPr>
            <a:xfrm>
              <a:off x="3557748" y="3056230"/>
              <a:ext cx="91440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1A1A24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Italia</a:t>
              </a:r>
              <a:endPara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56" name="Shape 54"/>
            <p:cNvSpPr/>
            <p:nvPr/>
          </p:nvSpPr>
          <p:spPr>
            <a:xfrm>
              <a:off x="3281964" y="3678174"/>
              <a:ext cx="100584" cy="100584"/>
            </a:xfrm>
            <a:prstGeom prst="ellipse">
              <a:avLst/>
            </a:prstGeom>
            <a:solidFill>
              <a:srgbClr val="2E2E38"/>
            </a:solidFill>
            <a:ln w="6350">
              <a:solidFill>
                <a:srgbClr val="2E2E3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57" name="Text 55"/>
            <p:cNvSpPr/>
            <p:nvPr/>
          </p:nvSpPr>
          <p:spPr>
            <a:xfrm>
              <a:off x="3405408" y="3545586"/>
              <a:ext cx="91440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1A1A24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Bulgaria</a:t>
              </a:r>
              <a:endPara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58" name="Shape 56"/>
            <p:cNvSpPr/>
            <p:nvPr/>
          </p:nvSpPr>
          <p:spPr>
            <a:xfrm>
              <a:off x="1409090" y="3973525"/>
              <a:ext cx="100584" cy="100584"/>
            </a:xfrm>
            <a:prstGeom prst="ellipse">
              <a:avLst/>
            </a:prstGeom>
            <a:solidFill>
              <a:srgbClr val="2E2E38"/>
            </a:solidFill>
            <a:ln w="6350">
              <a:solidFill>
                <a:srgbClr val="2E2E3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59" name="Text 57"/>
            <p:cNvSpPr/>
            <p:nvPr/>
          </p:nvSpPr>
          <p:spPr>
            <a:xfrm>
              <a:off x="1532534" y="3840937"/>
              <a:ext cx="91440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1A1A24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Rumanía</a:t>
              </a:r>
              <a:endPara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67" name="Text 55">
              <a:extLst>
                <a:ext uri="{FF2B5EF4-FFF2-40B4-BE49-F238E27FC236}">
                  <a16:creationId xmlns:a16="http://schemas.microsoft.com/office/drawing/2014/main" id="{5C0C889D-8AD5-D64A-A9BE-51DC2549FF53}"/>
                </a:ext>
              </a:extLst>
            </p:cNvPr>
            <p:cNvSpPr/>
            <p:nvPr/>
          </p:nvSpPr>
          <p:spPr>
            <a:xfrm>
              <a:off x="2977816" y="2322468"/>
              <a:ext cx="91440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700">
                  <a:solidFill>
                    <a:srgbClr val="1A1A24"/>
                  </a:solidFill>
                  <a:latin typeface="EYInterstate" panose="02000503020000020004" pitchFamily="2" charset="0"/>
                  <a:cs typeface="Arial" pitchFamily="34" charset="-120"/>
                </a:rPr>
                <a:t>France</a:t>
              </a:r>
              <a:endPara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1B7BEF80-11D7-7E51-1903-8AA02002396A}"/>
              </a:ext>
            </a:extLst>
          </p:cNvPr>
          <p:cNvGrpSpPr/>
          <p:nvPr/>
        </p:nvGrpSpPr>
        <p:grpSpPr>
          <a:xfrm>
            <a:off x="5586719" y="1682765"/>
            <a:ext cx="2955159" cy="657361"/>
            <a:chOff x="5586719" y="1682765"/>
            <a:chExt cx="2955159" cy="657361"/>
          </a:xfrm>
        </p:grpSpPr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4A60210B-5E2C-A3B0-5231-1C1A153FD876}"/>
                </a:ext>
              </a:extLst>
            </p:cNvPr>
            <p:cNvGrpSpPr/>
            <p:nvPr/>
          </p:nvGrpSpPr>
          <p:grpSpPr>
            <a:xfrm>
              <a:off x="5586719" y="1682765"/>
              <a:ext cx="1197266" cy="657361"/>
              <a:chOff x="6014729" y="1721675"/>
              <a:chExt cx="1197266" cy="657361"/>
            </a:xfrm>
          </p:grpSpPr>
          <p:sp>
            <p:nvSpPr>
              <p:cNvPr id="69" name="Text 56">
                <a:extLst>
                  <a:ext uri="{FF2B5EF4-FFF2-40B4-BE49-F238E27FC236}">
                    <a16:creationId xmlns:a16="http://schemas.microsoft.com/office/drawing/2014/main" id="{BD611B17-F86D-0283-2E0C-89269618F2BF}"/>
                  </a:ext>
                </a:extLst>
              </p:cNvPr>
              <p:cNvSpPr/>
              <p:nvPr/>
            </p:nvSpPr>
            <p:spPr>
              <a:xfrm>
                <a:off x="6014729" y="1721675"/>
                <a:ext cx="1197266" cy="5029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b"/>
              <a:lstStyle/>
              <a:p>
                <a:pPr marL="0" indent="0" algn="ctr">
                  <a:buNone/>
                </a:pPr>
                <a:r>
                  <a:rPr lang="en-US" sz="3000" b="1">
                    <a:solidFill>
                      <a:srgbClr val="1A1A24"/>
                    </a:solidFill>
                    <a:latin typeface="EYInterstate" panose="02000503020000020004" pitchFamily="2" charset="0"/>
                    <a:ea typeface="Arial" pitchFamily="34" charset="-122"/>
                    <a:cs typeface="Arial" pitchFamily="34" charset="-120"/>
                  </a:rPr>
                  <a:t>0,65</a:t>
                </a:r>
                <a:endParaRPr lang="en-US" sz="3000">
                  <a:latin typeface="EYInterstate" panose="02000503020000020004" pitchFamily="2" charset="0"/>
                </a:endParaRPr>
              </a:p>
            </p:txBody>
          </p:sp>
          <p:sp>
            <p:nvSpPr>
              <p:cNvPr id="70" name="Text 57">
                <a:extLst>
                  <a:ext uri="{FF2B5EF4-FFF2-40B4-BE49-F238E27FC236}">
                    <a16:creationId xmlns:a16="http://schemas.microsoft.com/office/drawing/2014/main" id="{871D1AE9-8774-B3BE-BAB5-F938B914C8A6}"/>
                  </a:ext>
                </a:extLst>
              </p:cNvPr>
              <p:cNvSpPr/>
              <p:nvPr/>
            </p:nvSpPr>
            <p:spPr>
              <a:xfrm>
                <a:off x="6014729" y="2248598"/>
                <a:ext cx="1197266" cy="13043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ctr">
                  <a:buNone/>
                </a:pPr>
                <a:r>
                  <a:rPr lang="en-US" sz="850">
                    <a:solidFill>
                      <a:srgbClr val="747480"/>
                    </a:solidFill>
                    <a:latin typeface="EYInterstate" panose="02000503020000020004" pitchFamily="2" charset="0"/>
                    <a:ea typeface="Arial" pitchFamily="34" charset="-122"/>
                    <a:cs typeface="Arial" pitchFamily="34" charset="-120"/>
                  </a:rPr>
                  <a:t>Correlación </a:t>
                </a:r>
                <a:r>
                  <a:rPr lang="en-US" sz="850" err="1">
                    <a:solidFill>
                      <a:srgbClr val="747480"/>
                    </a:solidFill>
                    <a:latin typeface="EYInterstate" panose="02000503020000020004" pitchFamily="2" charset="0"/>
                    <a:ea typeface="Arial" pitchFamily="34" charset="-122"/>
                    <a:cs typeface="Arial" pitchFamily="34" charset="-120"/>
                  </a:rPr>
                  <a:t>calidad-uso</a:t>
                </a:r>
                <a:endParaRPr lang="en-US" sz="850">
                  <a:latin typeface="EYInterstate" panose="02000503020000020004" pitchFamily="2" charset="0"/>
                </a:endParaRPr>
              </a:p>
            </p:txBody>
          </p:sp>
        </p:grp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62AFAA06-2682-7B4D-89D3-5923D9B46AF5}"/>
                </a:ext>
              </a:extLst>
            </p:cNvPr>
            <p:cNvGrpSpPr/>
            <p:nvPr/>
          </p:nvGrpSpPr>
          <p:grpSpPr>
            <a:xfrm>
              <a:off x="7344612" y="1684595"/>
              <a:ext cx="1197266" cy="653701"/>
              <a:chOff x="7493767" y="1721675"/>
              <a:chExt cx="1197266" cy="653701"/>
            </a:xfrm>
          </p:grpSpPr>
          <p:sp>
            <p:nvSpPr>
              <p:cNvPr id="72" name="Text 58">
                <a:extLst>
                  <a:ext uri="{FF2B5EF4-FFF2-40B4-BE49-F238E27FC236}">
                    <a16:creationId xmlns:a16="http://schemas.microsoft.com/office/drawing/2014/main" id="{E10E428E-0B07-DB36-AC87-EE8E398C750D}"/>
                  </a:ext>
                </a:extLst>
              </p:cNvPr>
              <p:cNvSpPr/>
              <p:nvPr/>
            </p:nvSpPr>
            <p:spPr>
              <a:xfrm>
                <a:off x="7493767" y="1721675"/>
                <a:ext cx="1197266" cy="5029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b"/>
              <a:lstStyle/>
              <a:p>
                <a:pPr marL="0" indent="0" algn="ctr">
                  <a:buNone/>
                </a:pPr>
                <a:r>
                  <a:rPr lang="en-US" sz="3000" b="1">
                    <a:solidFill>
                      <a:srgbClr val="747480"/>
                    </a:solidFill>
                    <a:latin typeface="EYInterstate" panose="02000503020000020004" pitchFamily="2" charset="0"/>
                    <a:ea typeface="Arial" pitchFamily="34" charset="-122"/>
                    <a:cs typeface="Arial" pitchFamily="34" charset="-120"/>
                  </a:rPr>
                  <a:t>0,78</a:t>
                </a:r>
                <a:endParaRPr lang="en-US" sz="3000">
                  <a:latin typeface="EYInterstate" panose="02000503020000020004" pitchFamily="2" charset="0"/>
                </a:endParaRPr>
              </a:p>
            </p:txBody>
          </p:sp>
          <p:sp>
            <p:nvSpPr>
              <p:cNvPr id="73" name="Text 59">
                <a:extLst>
                  <a:ext uri="{FF2B5EF4-FFF2-40B4-BE49-F238E27FC236}">
                    <a16:creationId xmlns:a16="http://schemas.microsoft.com/office/drawing/2014/main" id="{D8B0818A-C576-4086-9ACF-22E4BE065DD7}"/>
                  </a:ext>
                </a:extLst>
              </p:cNvPr>
              <p:cNvSpPr/>
              <p:nvPr/>
            </p:nvSpPr>
            <p:spPr>
              <a:xfrm>
                <a:off x="7493767" y="2234882"/>
                <a:ext cx="1197266" cy="14049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ctr">
                  <a:buNone/>
                </a:pPr>
                <a:r>
                  <a:rPr lang="en-US" sz="850" err="1">
                    <a:solidFill>
                      <a:srgbClr val="747480"/>
                    </a:solidFill>
                    <a:latin typeface="EYInterstate" panose="02000503020000020004" pitchFamily="2" charset="0"/>
                    <a:ea typeface="Arial" pitchFamily="34" charset="-122"/>
                    <a:cs typeface="Arial" pitchFamily="34" charset="-120"/>
                  </a:rPr>
                  <a:t>Competencias-uso</a:t>
                </a:r>
                <a:r>
                  <a:rPr lang="en-US" sz="850">
                    <a:solidFill>
                      <a:srgbClr val="747480"/>
                    </a:solidFill>
                    <a:latin typeface="EYInterstate" panose="02000503020000020004" pitchFamily="2" charset="0"/>
                    <a:ea typeface="Arial" pitchFamily="34" charset="-122"/>
                    <a:cs typeface="Arial" pitchFamily="34" charset="-120"/>
                  </a:rPr>
                  <a:t> (P2)</a:t>
                </a:r>
                <a:endParaRPr lang="en-US" sz="850">
                  <a:latin typeface="EYInterstate" panose="02000503020000020004" pitchFamily="2" charset="0"/>
                </a:endParaRPr>
              </a:p>
            </p:txBody>
          </p:sp>
        </p:grpSp>
        <p:sp>
          <p:nvSpPr>
            <p:cNvPr id="74" name="Text 56">
              <a:extLst>
                <a:ext uri="{FF2B5EF4-FFF2-40B4-BE49-F238E27FC236}">
                  <a16:creationId xmlns:a16="http://schemas.microsoft.com/office/drawing/2014/main" id="{502707F8-2C56-0C01-86B0-8377CF62F073}"/>
                </a:ext>
              </a:extLst>
            </p:cNvPr>
            <p:cNvSpPr/>
            <p:nvPr/>
          </p:nvSpPr>
          <p:spPr>
            <a:xfrm>
              <a:off x="6940601" y="1759985"/>
              <a:ext cx="247396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>
                <a:buNone/>
              </a:pPr>
              <a:r>
                <a:rPr lang="en-US" sz="3000">
                  <a:solidFill>
                    <a:srgbClr val="747480"/>
                  </a:solidFill>
                  <a:latin typeface="EYInterstate" panose="02000503020000020004" pitchFamily="2" charset="0"/>
                </a:rPr>
                <a:t>&lt;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D757D-6B0F-CAF5-6ACC-E2ED3D368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3074FE9-A758-BD12-89A3-29A8156EACD1}"/>
              </a:ext>
            </a:extLst>
          </p:cNvPr>
          <p:cNvSpPr/>
          <p:nvPr/>
        </p:nvSpPr>
        <p:spPr>
          <a:xfrm>
            <a:off x="457200" y="292608"/>
            <a:ext cx="128016" cy="128016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91719F0-FE16-A412-F53F-1E50DA3C3E73}"/>
              </a:ext>
            </a:extLst>
          </p:cNvPr>
          <p:cNvSpPr/>
          <p:nvPr/>
        </p:nvSpPr>
        <p:spPr>
          <a:xfrm>
            <a:off x="658368" y="24688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CONCLUSIONES Y RECOMENDACIONES</a:t>
            </a:r>
            <a:endParaRPr lang="en-US" sz="850">
              <a:latin typeface="EYInterstate" panose="02000503020000020004" pitchFamily="2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6CE3695-867B-A631-006C-106F202B34C4}"/>
              </a:ext>
            </a:extLst>
          </p:cNvPr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2000">
                <a:solidFill>
                  <a:srgbClr val="1A1A24"/>
                </a:solidFill>
                <a:latin typeface="EYInterstate"/>
                <a:ea typeface="Arial" pitchFamily="34" charset="-122"/>
                <a:cs typeface="Arial"/>
              </a:rPr>
              <a:t>El uso de la Administración digital depende más de las personas que de la plataforma</a:t>
            </a:r>
            <a:endParaRPr lang="es-ES" sz="2000">
              <a:solidFill>
                <a:srgbClr val="000000"/>
              </a:solidFill>
              <a:latin typeface="EYInterstate"/>
              <a:ea typeface="Arial" pitchFamily="34" charset="-122"/>
              <a:cs typeface="Arial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39BF162-88BF-BBF5-C65A-696B3E730C6A}"/>
              </a:ext>
            </a:extLst>
          </p:cNvPr>
          <p:cNvSpPr/>
          <p:nvPr/>
        </p:nvSpPr>
        <p:spPr>
          <a:xfrm>
            <a:off x="457200" y="4681728"/>
            <a:ext cx="8229600" cy="0"/>
          </a:xfrm>
          <a:prstGeom prst="line">
            <a:avLst/>
          </a:prstGeom>
          <a:noFill/>
          <a:ln w="6350">
            <a:solidFill>
              <a:srgbClr val="C4C4C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F6697E1-D953-9C45-4861-A7DE03142CA6}"/>
              </a:ext>
            </a:extLst>
          </p:cNvPr>
          <p:cNvSpPr/>
          <p:nvPr/>
        </p:nvSpPr>
        <p:spPr>
          <a:xfrm>
            <a:off x="7772400" y="47274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1A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</a:t>
            </a:r>
            <a:r>
              <a:rPr lang="en-US" sz="800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2</a:t>
            </a:r>
            <a:endParaRPr lang="en-US" sz="800"/>
          </a:p>
        </p:txBody>
      </p:sp>
      <p:sp>
        <p:nvSpPr>
          <p:cNvPr id="32" name="Shape 5">
            <a:extLst>
              <a:ext uri="{FF2B5EF4-FFF2-40B4-BE49-F238E27FC236}">
                <a16:creationId xmlns:a16="http://schemas.microsoft.com/office/drawing/2014/main" id="{4D28765D-172B-5B83-DDB6-939F568FD739}"/>
              </a:ext>
            </a:extLst>
          </p:cNvPr>
          <p:cNvSpPr/>
          <p:nvPr/>
        </p:nvSpPr>
        <p:spPr>
          <a:xfrm>
            <a:off x="1188720" y="1371600"/>
            <a:ext cx="2331720" cy="3657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Text 6">
            <a:extLst>
              <a:ext uri="{FF2B5EF4-FFF2-40B4-BE49-F238E27FC236}">
                <a16:creationId xmlns:a16="http://schemas.microsoft.com/office/drawing/2014/main" id="{249FC4E2-6FF7-2D5B-4299-D9B02FD1B174}"/>
              </a:ext>
            </a:extLst>
          </p:cNvPr>
          <p:cNvSpPr/>
          <p:nvPr/>
        </p:nvSpPr>
        <p:spPr>
          <a:xfrm>
            <a:off x="1298448" y="13716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Dato</a:t>
            </a:r>
            <a:endParaRPr lang="en-US" sz="1100">
              <a:latin typeface="EYInterstate" panose="02000503020000020004" pitchFamily="2" charset="0"/>
            </a:endParaRPr>
          </a:p>
        </p:txBody>
      </p:sp>
      <p:sp>
        <p:nvSpPr>
          <p:cNvPr id="36" name="Shape 7">
            <a:extLst>
              <a:ext uri="{FF2B5EF4-FFF2-40B4-BE49-F238E27FC236}">
                <a16:creationId xmlns:a16="http://schemas.microsoft.com/office/drawing/2014/main" id="{C7187B2A-69FE-8A28-6C7D-9FF81499A17D}"/>
              </a:ext>
            </a:extLst>
          </p:cNvPr>
          <p:cNvSpPr/>
          <p:nvPr/>
        </p:nvSpPr>
        <p:spPr>
          <a:xfrm>
            <a:off x="3611880" y="1371600"/>
            <a:ext cx="2331720" cy="3657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8" name="Text 8">
            <a:extLst>
              <a:ext uri="{FF2B5EF4-FFF2-40B4-BE49-F238E27FC236}">
                <a16:creationId xmlns:a16="http://schemas.microsoft.com/office/drawing/2014/main" id="{60958626-EB34-7F36-29C3-009D97A6B391}"/>
              </a:ext>
            </a:extLst>
          </p:cNvPr>
          <p:cNvSpPr/>
          <p:nvPr/>
        </p:nvSpPr>
        <p:spPr>
          <a:xfrm>
            <a:off x="3721608" y="13716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Insight</a:t>
            </a:r>
            <a:endParaRPr lang="en-US" sz="1100">
              <a:latin typeface="EYInterstate" panose="02000503020000020004" pitchFamily="2" charset="0"/>
            </a:endParaRPr>
          </a:p>
        </p:txBody>
      </p:sp>
      <p:sp>
        <p:nvSpPr>
          <p:cNvPr id="40" name="Shape 9">
            <a:extLst>
              <a:ext uri="{FF2B5EF4-FFF2-40B4-BE49-F238E27FC236}">
                <a16:creationId xmlns:a16="http://schemas.microsoft.com/office/drawing/2014/main" id="{76579E11-91E5-065E-6A92-3E461D90AC48}"/>
              </a:ext>
            </a:extLst>
          </p:cNvPr>
          <p:cNvSpPr/>
          <p:nvPr/>
        </p:nvSpPr>
        <p:spPr>
          <a:xfrm>
            <a:off x="6035040" y="1371600"/>
            <a:ext cx="2651760" cy="365760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B8BE4371-1E5D-F994-91FA-A37F97AC868B}"/>
              </a:ext>
            </a:extLst>
          </p:cNvPr>
          <p:cNvSpPr/>
          <p:nvPr/>
        </p:nvSpPr>
        <p:spPr>
          <a:xfrm>
            <a:off x="6144768" y="1371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0000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Recomendación</a:t>
            </a:r>
            <a:endParaRPr lang="en-US" sz="1100">
              <a:latin typeface="EYInterstate" panose="02000503020000020004" pitchFamily="2" charset="0"/>
            </a:endParaRPr>
          </a:p>
        </p:txBody>
      </p:sp>
      <p:sp>
        <p:nvSpPr>
          <p:cNvPr id="44" name="Shape 11">
            <a:extLst>
              <a:ext uri="{FF2B5EF4-FFF2-40B4-BE49-F238E27FC236}">
                <a16:creationId xmlns:a16="http://schemas.microsoft.com/office/drawing/2014/main" id="{ECFE4FE6-B264-D5B1-423C-ABB7DB0AFFEC}"/>
              </a:ext>
            </a:extLst>
          </p:cNvPr>
          <p:cNvSpPr/>
          <p:nvPr/>
        </p:nvSpPr>
        <p:spPr>
          <a:xfrm>
            <a:off x="457200" y="1847088"/>
            <a:ext cx="8229600" cy="868680"/>
          </a:xfrm>
          <a:prstGeom prst="rect">
            <a:avLst/>
          </a:prstGeom>
          <a:solidFill>
            <a:srgbClr val="F6F6FA"/>
          </a:solidFill>
          <a:ln w="12700">
            <a:solidFill>
              <a:srgbClr val="F6F6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6" name="Text 12">
            <a:extLst>
              <a:ext uri="{FF2B5EF4-FFF2-40B4-BE49-F238E27FC236}">
                <a16:creationId xmlns:a16="http://schemas.microsoft.com/office/drawing/2014/main" id="{933F70D3-0977-B14D-0E47-00A03980D458}"/>
              </a:ext>
            </a:extLst>
          </p:cNvPr>
          <p:cNvSpPr/>
          <p:nvPr/>
        </p:nvSpPr>
        <p:spPr>
          <a:xfrm>
            <a:off x="457200" y="1847088"/>
            <a:ext cx="8001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600" b="1">
                <a:solidFill>
                  <a:srgbClr val="00000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P1</a:t>
            </a:r>
          </a:p>
          <a:p>
            <a:pPr marL="0" indent="0" algn="ctr">
              <a:spcBef>
                <a:spcPts val="200"/>
              </a:spcBef>
              <a:buNone/>
            </a:pPr>
            <a:r>
              <a:rPr lang="es-ES" sz="600">
                <a:solidFill>
                  <a:srgbClr val="747480"/>
                </a:solidFill>
                <a:latin typeface="EYInterstate"/>
                <a:cs typeface="Arial"/>
              </a:rPr>
              <a:t>Calidad</a:t>
            </a:r>
            <a:endParaRPr lang="en-US" sz="600">
              <a:solidFill>
                <a:srgbClr val="747480"/>
              </a:solidFill>
              <a:latin typeface="EYInterstate"/>
              <a:cs typeface="Arial"/>
            </a:endParaRPr>
          </a:p>
        </p:txBody>
      </p:sp>
      <p:sp>
        <p:nvSpPr>
          <p:cNvPr id="48" name="Text 13">
            <a:extLst>
              <a:ext uri="{FF2B5EF4-FFF2-40B4-BE49-F238E27FC236}">
                <a16:creationId xmlns:a16="http://schemas.microsoft.com/office/drawing/2014/main" id="{41E60497-78F0-492E-FC95-B1FBE9C9FCEB}"/>
              </a:ext>
            </a:extLst>
          </p:cNvPr>
          <p:cNvSpPr/>
          <p:nvPr/>
        </p:nvSpPr>
        <p:spPr>
          <a:xfrm>
            <a:off x="1298448" y="1847088"/>
            <a:ext cx="2130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b="1">
                <a:solidFill>
                  <a:srgbClr val="1A1A24"/>
                </a:solidFill>
                <a:latin typeface="EYInterstate"/>
                <a:ea typeface="Arial" pitchFamily="34" charset="-122"/>
                <a:cs typeface="Arial"/>
              </a:rPr>
              <a:t>98,5  vs  53,8</a:t>
            </a:r>
            <a:endParaRPr lang="es-ES"/>
          </a:p>
          <a:p>
            <a:pPr>
              <a:spcBef>
                <a:spcPts val="200"/>
              </a:spcBef>
            </a:pPr>
            <a:endParaRPr lang="es-ES" sz="850">
              <a:solidFill>
                <a:srgbClr val="747480"/>
              </a:solidFill>
              <a:latin typeface="EYInterstate"/>
              <a:cs typeface="Arial"/>
            </a:endParaRPr>
          </a:p>
        </p:txBody>
      </p:sp>
      <p:sp>
        <p:nvSpPr>
          <p:cNvPr id="50" name="Text 14">
            <a:extLst>
              <a:ext uri="{FF2B5EF4-FFF2-40B4-BE49-F238E27FC236}">
                <a16:creationId xmlns:a16="http://schemas.microsoft.com/office/drawing/2014/main" id="{06F318DB-AED0-9047-8778-157279B02950}"/>
              </a:ext>
            </a:extLst>
          </p:cNvPr>
          <p:cNvSpPr/>
          <p:nvPr/>
        </p:nvSpPr>
        <p:spPr>
          <a:xfrm>
            <a:off x="3721608" y="1847088"/>
            <a:ext cx="2130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El </a:t>
            </a:r>
            <a:r>
              <a:rPr lang="en-US" sz="10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trámite</a:t>
            </a:r>
            <a:r>
              <a:rPr lang="en-US" sz="10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está</a:t>
            </a:r>
            <a:r>
              <a:rPr lang="en-US" sz="10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online, </a:t>
            </a:r>
            <a:r>
              <a:rPr lang="en-US" sz="10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pero</a:t>
            </a:r>
            <a:r>
              <a:rPr lang="en-US" sz="10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no es claro </a:t>
            </a:r>
            <a:r>
              <a:rPr lang="en-US" sz="10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ni</a:t>
            </a:r>
            <a:r>
              <a:rPr lang="en-US" sz="10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accesible</a:t>
            </a:r>
            <a:r>
              <a:rPr lang="en-US" sz="10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para </a:t>
            </a:r>
            <a:r>
              <a:rPr lang="en-US" sz="10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todos</a:t>
            </a:r>
            <a:endParaRPr lang="en-US" sz="950">
              <a:latin typeface="EYInterstate" panose="02000503020000020004" pitchFamily="2" charset="0"/>
            </a:endParaRPr>
          </a:p>
        </p:txBody>
      </p:sp>
      <p:sp>
        <p:nvSpPr>
          <p:cNvPr id="52" name="Text 15">
            <a:extLst>
              <a:ext uri="{FF2B5EF4-FFF2-40B4-BE49-F238E27FC236}">
                <a16:creationId xmlns:a16="http://schemas.microsoft.com/office/drawing/2014/main" id="{982B3D62-C472-6B02-A7BF-1C07C571A5F7}"/>
              </a:ext>
            </a:extLst>
          </p:cNvPr>
          <p:cNvSpPr/>
          <p:nvPr/>
        </p:nvSpPr>
        <p:spPr>
          <a:xfrm>
            <a:off x="6144768" y="1847088"/>
            <a:ext cx="2450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Revisar</a:t>
            </a:r>
            <a:r>
              <a:rPr lang="en-US" sz="1100" b="1" dirty="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b="1" dirty="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accesibilidad</a:t>
            </a:r>
            <a:r>
              <a:rPr lang="en-US" sz="1100" b="1" dirty="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y </a:t>
            </a:r>
            <a:r>
              <a:rPr lang="en-US" sz="1100" b="1" dirty="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plazos</a:t>
            </a:r>
            <a:r>
              <a:rPr lang="en-US" sz="1100" b="1" dirty="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b="1" dirty="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en</a:t>
            </a:r>
            <a:r>
              <a:rPr lang="en-US" sz="1100" b="1" dirty="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b="1" dirty="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los</a:t>
            </a:r>
            <a:r>
              <a:rPr lang="en-US" sz="1100" b="1" dirty="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b="1" dirty="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trámites</a:t>
            </a:r>
            <a:r>
              <a:rPr lang="en-US" sz="1100" b="1" dirty="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b="1" dirty="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más</a:t>
            </a:r>
            <a:r>
              <a:rPr lang="en-US" sz="1100" b="1" dirty="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b="1" dirty="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usados</a:t>
            </a:r>
            <a:endParaRPr lang="en-US" sz="950" dirty="0">
              <a:latin typeface="EYInterstate" panose="02000503020000020004" pitchFamily="2" charset="0"/>
            </a:endParaRPr>
          </a:p>
        </p:txBody>
      </p:sp>
      <p:sp>
        <p:nvSpPr>
          <p:cNvPr id="54" name="Shape 16">
            <a:extLst>
              <a:ext uri="{FF2B5EF4-FFF2-40B4-BE49-F238E27FC236}">
                <a16:creationId xmlns:a16="http://schemas.microsoft.com/office/drawing/2014/main" id="{A4A64B3C-F733-69E6-1040-70F118E41DC7}"/>
              </a:ext>
            </a:extLst>
          </p:cNvPr>
          <p:cNvSpPr/>
          <p:nvPr/>
        </p:nvSpPr>
        <p:spPr>
          <a:xfrm>
            <a:off x="457200" y="2807208"/>
            <a:ext cx="8229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6" name="Text 17">
            <a:extLst>
              <a:ext uri="{FF2B5EF4-FFF2-40B4-BE49-F238E27FC236}">
                <a16:creationId xmlns:a16="http://schemas.microsoft.com/office/drawing/2014/main" id="{120E8EC3-C3A5-6908-D554-A3D1C70D7C3C}"/>
              </a:ext>
            </a:extLst>
          </p:cNvPr>
          <p:cNvSpPr/>
          <p:nvPr/>
        </p:nvSpPr>
        <p:spPr>
          <a:xfrm>
            <a:off x="457200" y="2807208"/>
            <a:ext cx="8001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600" b="1">
                <a:solidFill>
                  <a:srgbClr val="00000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P2</a:t>
            </a:r>
          </a:p>
          <a:p>
            <a:pPr marL="0" indent="0" algn="ctr">
              <a:spcBef>
                <a:spcPts val="200"/>
              </a:spcBef>
              <a:buNone/>
            </a:pPr>
            <a:r>
              <a:rPr lang="es-ES" sz="600">
                <a:solidFill>
                  <a:srgbClr val="747480"/>
                </a:solidFill>
                <a:latin typeface="EYInterstate"/>
                <a:cs typeface="Arial"/>
              </a:rPr>
              <a:t>Competencias-uso</a:t>
            </a:r>
            <a:endParaRPr lang="en-US" sz="600">
              <a:latin typeface="EYInterstate" panose="02000503020000020004" pitchFamily="2" charset="0"/>
            </a:endParaRPr>
          </a:p>
        </p:txBody>
      </p:sp>
      <p:sp>
        <p:nvSpPr>
          <p:cNvPr id="58" name="Text 18">
            <a:extLst>
              <a:ext uri="{FF2B5EF4-FFF2-40B4-BE49-F238E27FC236}">
                <a16:creationId xmlns:a16="http://schemas.microsoft.com/office/drawing/2014/main" id="{53490BB5-13A3-1234-FF0F-F8EBAFD34458}"/>
              </a:ext>
            </a:extLst>
          </p:cNvPr>
          <p:cNvSpPr/>
          <p:nvPr/>
        </p:nvSpPr>
        <p:spPr>
          <a:xfrm>
            <a:off x="1298448" y="2807208"/>
            <a:ext cx="2130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800" b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r = 0,78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s-ES" sz="85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Competencias–uso. Solo el 43 % de los +55 tiene competencias</a:t>
            </a:r>
            <a:endParaRPr lang="en-US" sz="950">
              <a:latin typeface="EYInterstate" panose="02000503020000020004" pitchFamily="2" charset="0"/>
            </a:endParaRPr>
          </a:p>
        </p:txBody>
      </p:sp>
      <p:sp>
        <p:nvSpPr>
          <p:cNvPr id="60" name="Text 19">
            <a:extLst>
              <a:ext uri="{FF2B5EF4-FFF2-40B4-BE49-F238E27FC236}">
                <a16:creationId xmlns:a16="http://schemas.microsoft.com/office/drawing/2014/main" id="{F40C1F6B-E4FD-8076-1F37-31E03E52F2BC}"/>
              </a:ext>
            </a:extLst>
          </p:cNvPr>
          <p:cNvSpPr/>
          <p:nvPr/>
        </p:nvSpPr>
        <p:spPr>
          <a:xfrm>
            <a:off x="3721608" y="2807208"/>
            <a:ext cx="2130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Los </a:t>
            </a:r>
            <a:r>
              <a:rPr lang="en-US" sz="10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mayores</a:t>
            </a:r>
            <a:r>
              <a:rPr lang="en-US" sz="10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necesitan</a:t>
            </a:r>
            <a:r>
              <a:rPr lang="en-US" sz="10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capacidad</a:t>
            </a:r>
            <a:r>
              <a:rPr lang="en-US" sz="10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; </a:t>
            </a:r>
            <a:r>
              <a:rPr lang="en-US" sz="10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los</a:t>
            </a:r>
            <a:r>
              <a:rPr lang="en-US" sz="10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jóvenes</a:t>
            </a:r>
            <a:r>
              <a:rPr lang="en-US" sz="10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, un </a:t>
            </a:r>
            <a:r>
              <a:rPr lang="en-US" sz="10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motivo</a:t>
            </a:r>
            <a:r>
              <a:rPr lang="en-US" sz="10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para </a:t>
            </a:r>
            <a:r>
              <a:rPr lang="en-US" sz="10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usarla</a:t>
            </a:r>
            <a:endParaRPr lang="en-US" sz="950">
              <a:latin typeface="EYInterstate" panose="02000503020000020004" pitchFamily="2" charset="0"/>
            </a:endParaRPr>
          </a:p>
        </p:txBody>
      </p:sp>
      <p:sp>
        <p:nvSpPr>
          <p:cNvPr id="62" name="Text 20">
            <a:extLst>
              <a:ext uri="{FF2B5EF4-FFF2-40B4-BE49-F238E27FC236}">
                <a16:creationId xmlns:a16="http://schemas.microsoft.com/office/drawing/2014/main" id="{4F009494-B372-37D4-3924-772A33D2879E}"/>
              </a:ext>
            </a:extLst>
          </p:cNvPr>
          <p:cNvSpPr/>
          <p:nvPr/>
        </p:nvSpPr>
        <p:spPr>
          <a:xfrm>
            <a:off x="6144768" y="2807208"/>
            <a:ext cx="2450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Formación para +55 y canales móviles para jóvenes</a:t>
            </a:r>
            <a:endParaRPr lang="en-US" sz="950">
              <a:latin typeface="EYInterstate" panose="02000503020000020004" pitchFamily="2" charset="0"/>
            </a:endParaRPr>
          </a:p>
        </p:txBody>
      </p:sp>
      <p:sp>
        <p:nvSpPr>
          <p:cNvPr id="64" name="Shape 21">
            <a:extLst>
              <a:ext uri="{FF2B5EF4-FFF2-40B4-BE49-F238E27FC236}">
                <a16:creationId xmlns:a16="http://schemas.microsoft.com/office/drawing/2014/main" id="{BBF00513-0D11-037B-7F15-0E1DCC080ADB}"/>
              </a:ext>
            </a:extLst>
          </p:cNvPr>
          <p:cNvSpPr/>
          <p:nvPr/>
        </p:nvSpPr>
        <p:spPr>
          <a:xfrm>
            <a:off x="457200" y="3767328"/>
            <a:ext cx="8229600" cy="868680"/>
          </a:xfrm>
          <a:prstGeom prst="rect">
            <a:avLst/>
          </a:prstGeom>
          <a:solidFill>
            <a:srgbClr val="F6F6FA"/>
          </a:solidFill>
          <a:ln w="12700">
            <a:solidFill>
              <a:srgbClr val="F6F6FA"/>
            </a:solidFill>
            <a:prstDash val="solid"/>
          </a:ln>
        </p:spPr>
        <p:txBody>
          <a:bodyPr/>
          <a:lstStyle/>
          <a:p>
            <a:endParaRPr lang="es-ES">
              <a:latin typeface="EYInterstate" panose="02000503020000020004" pitchFamily="2" charset="0"/>
            </a:endParaRPr>
          </a:p>
        </p:txBody>
      </p:sp>
      <p:sp>
        <p:nvSpPr>
          <p:cNvPr id="66" name="Text 22">
            <a:extLst>
              <a:ext uri="{FF2B5EF4-FFF2-40B4-BE49-F238E27FC236}">
                <a16:creationId xmlns:a16="http://schemas.microsoft.com/office/drawing/2014/main" id="{AA87173F-8966-BF01-20FE-FE490D22DA24}"/>
              </a:ext>
            </a:extLst>
          </p:cNvPr>
          <p:cNvSpPr/>
          <p:nvPr/>
        </p:nvSpPr>
        <p:spPr>
          <a:xfrm>
            <a:off x="457200" y="3767328"/>
            <a:ext cx="8001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600" b="1">
                <a:solidFill>
                  <a:srgbClr val="00000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P3</a:t>
            </a:r>
          </a:p>
          <a:p>
            <a:pPr marL="0" indent="0" algn="ctr">
              <a:spcBef>
                <a:spcPts val="200"/>
              </a:spcBef>
              <a:buNone/>
            </a:pPr>
            <a:r>
              <a:rPr lang="es-ES" sz="600">
                <a:solidFill>
                  <a:srgbClr val="747480"/>
                </a:solidFill>
                <a:latin typeface="EYInterstate"/>
                <a:cs typeface="Arial"/>
              </a:rPr>
              <a:t>Calidad-uso</a:t>
            </a:r>
            <a:endParaRPr lang="en-US" sz="600">
              <a:solidFill>
                <a:srgbClr val="747480"/>
              </a:solidFill>
              <a:latin typeface="EYInterstate"/>
              <a:cs typeface="Arial"/>
            </a:endParaRPr>
          </a:p>
        </p:txBody>
      </p:sp>
      <p:sp>
        <p:nvSpPr>
          <p:cNvPr id="68" name="Text 23">
            <a:extLst>
              <a:ext uri="{FF2B5EF4-FFF2-40B4-BE49-F238E27FC236}">
                <a16:creationId xmlns:a16="http://schemas.microsoft.com/office/drawing/2014/main" id="{808AA589-C307-F5E9-8015-255684E6269C}"/>
              </a:ext>
            </a:extLst>
          </p:cNvPr>
          <p:cNvSpPr/>
          <p:nvPr/>
        </p:nvSpPr>
        <p:spPr>
          <a:xfrm>
            <a:off x="1298448" y="3767328"/>
            <a:ext cx="2130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800" b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r = 0,65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s-ES" sz="85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Calidad–uso: relación más débil que la de competencias</a:t>
            </a:r>
            <a:endParaRPr lang="en-US" sz="950">
              <a:latin typeface="EYInterstate" panose="02000503020000020004" pitchFamily="2" charset="0"/>
            </a:endParaRPr>
          </a:p>
        </p:txBody>
      </p:sp>
      <p:sp>
        <p:nvSpPr>
          <p:cNvPr id="70" name="Text 24">
            <a:extLst>
              <a:ext uri="{FF2B5EF4-FFF2-40B4-BE49-F238E27FC236}">
                <a16:creationId xmlns:a16="http://schemas.microsoft.com/office/drawing/2014/main" id="{808ADC69-2F2E-8A73-A960-26EFADAD30EA}"/>
              </a:ext>
            </a:extLst>
          </p:cNvPr>
          <p:cNvSpPr/>
          <p:nvPr/>
        </p:nvSpPr>
        <p:spPr>
          <a:xfrm>
            <a:off x="3721608" y="3767328"/>
            <a:ext cx="2130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Mejorar</a:t>
            </a:r>
            <a:r>
              <a:rPr lang="en-US" sz="10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la </a:t>
            </a:r>
            <a:r>
              <a:rPr lang="en-US" sz="10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plataforma</a:t>
            </a:r>
            <a:r>
              <a:rPr lang="en-US" sz="10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ayuda</a:t>
            </a:r>
            <a:r>
              <a:rPr lang="en-US" sz="10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0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pero</a:t>
            </a:r>
            <a:r>
              <a:rPr lang="en-US" sz="10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no </a:t>
            </a:r>
            <a:r>
              <a:rPr lang="en-US" sz="10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garantiza</a:t>
            </a:r>
            <a:r>
              <a:rPr lang="en-US" sz="10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que</a:t>
            </a:r>
            <a:r>
              <a:rPr lang="en-US" sz="10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se use</a:t>
            </a:r>
            <a:endParaRPr lang="en-US" sz="950">
              <a:latin typeface="EYInterstate" panose="02000503020000020004" pitchFamily="2" charset="0"/>
            </a:endParaRPr>
          </a:p>
        </p:txBody>
      </p:sp>
      <p:sp>
        <p:nvSpPr>
          <p:cNvPr id="72" name="Text 25">
            <a:extLst>
              <a:ext uri="{FF2B5EF4-FFF2-40B4-BE49-F238E27FC236}">
                <a16:creationId xmlns:a16="http://schemas.microsoft.com/office/drawing/2014/main" id="{8EA14F8C-05B1-C794-67E4-9A03AC0E49B8}"/>
              </a:ext>
            </a:extLst>
          </p:cNvPr>
          <p:cNvSpPr/>
          <p:nvPr/>
        </p:nvSpPr>
        <p:spPr>
          <a:xfrm>
            <a:off x="6144768" y="3767328"/>
            <a:ext cx="2450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Cada inversión tecnológica, con su plan de adopción</a:t>
            </a:r>
            <a:endParaRPr lang="en-US" sz="950">
              <a:latin typeface="EYInterstate" panose="02000503020000020004" pitchFamily="2" charset="0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E2081AEB-C28F-278A-01B5-D212E85E45D0}"/>
              </a:ext>
            </a:extLst>
          </p:cNvPr>
          <p:cNvSpPr/>
          <p:nvPr/>
        </p:nvSpPr>
        <p:spPr>
          <a:xfrm>
            <a:off x="6035040" y="1847088"/>
            <a:ext cx="2651760" cy="2788920"/>
          </a:xfrm>
          <a:prstGeom prst="rect">
            <a:avLst/>
          </a:prstGeom>
          <a:noFill/>
          <a:ln w="19050">
            <a:solidFill>
              <a:srgbClr val="FFE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6" name="Text 4">
            <a:extLst>
              <a:ext uri="{FF2B5EF4-FFF2-40B4-BE49-F238E27FC236}">
                <a16:creationId xmlns:a16="http://schemas.microsoft.com/office/drawing/2014/main" id="{40556E67-55B0-267E-9034-F193459A7AC8}"/>
              </a:ext>
            </a:extLst>
          </p:cNvPr>
          <p:cNvSpPr/>
          <p:nvPr/>
        </p:nvSpPr>
        <p:spPr>
          <a:xfrm>
            <a:off x="457200" y="47274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>
                <a:solidFill>
                  <a:srgbClr val="C4C4CD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Fuentes: Eurostat 2025; Comisión Europea, eGovernment Benchmark 2025. </a:t>
            </a:r>
            <a:r>
              <a:rPr lang="en-US" sz="700" err="1">
                <a:solidFill>
                  <a:srgbClr val="C4C4CD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Correlaciones</a:t>
            </a:r>
            <a:r>
              <a:rPr lang="en-US" sz="700">
                <a:solidFill>
                  <a:srgbClr val="C4C4CD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entre 27 </a:t>
            </a:r>
            <a:r>
              <a:rPr lang="en-US" sz="700" err="1">
                <a:solidFill>
                  <a:srgbClr val="C4C4CD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países</a:t>
            </a:r>
            <a:r>
              <a:rPr lang="en-US" sz="700">
                <a:solidFill>
                  <a:srgbClr val="C4C4CD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: indican </a:t>
            </a:r>
            <a:r>
              <a:rPr lang="en-US" sz="700" err="1">
                <a:solidFill>
                  <a:srgbClr val="C4C4CD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relación</a:t>
            </a:r>
            <a:r>
              <a:rPr lang="en-US" sz="700">
                <a:solidFill>
                  <a:srgbClr val="C4C4CD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, no </a:t>
            </a:r>
            <a:r>
              <a:rPr lang="en-US" sz="700" err="1">
                <a:solidFill>
                  <a:srgbClr val="C4C4CD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causalidad</a:t>
            </a:r>
            <a:endParaRPr lang="en-US" sz="700">
              <a:latin typeface="EYInterstate" panose="02000503020000020004" pitchFamily="2" charset="0"/>
            </a:endParaRPr>
          </a:p>
        </p:txBody>
      </p:sp>
      <p:sp>
        <p:nvSpPr>
          <p:cNvPr id="9" name="Text 13">
            <a:extLst>
              <a:ext uri="{FF2B5EF4-FFF2-40B4-BE49-F238E27FC236}">
                <a16:creationId xmlns:a16="http://schemas.microsoft.com/office/drawing/2014/main" id="{B83CFDA4-A655-BB30-B41A-0E82EBBD74FF}"/>
              </a:ext>
            </a:extLst>
          </p:cNvPr>
          <p:cNvSpPr/>
          <p:nvPr/>
        </p:nvSpPr>
        <p:spPr>
          <a:xfrm>
            <a:off x="1255799" y="2273581"/>
            <a:ext cx="2130551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Bef>
                <a:spcPts val="200"/>
              </a:spcBef>
            </a:pPr>
            <a:r>
              <a:rPr lang="es-ES" sz="850">
                <a:solidFill>
                  <a:srgbClr val="747480"/>
                </a:solidFill>
                <a:latin typeface="EYInterstate"/>
                <a:cs typeface="Arial"/>
              </a:rPr>
              <a:t>Disponibilidad            Accesibilidad</a:t>
            </a:r>
            <a:endParaRPr lang="en-US" sz="950">
              <a:latin typeface="EYInterstate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184068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135D1C-4280-3D74-C92E-88793B319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13F5A66-72DE-1BBF-AA6F-B5F0F29C2B2B}"/>
              </a:ext>
            </a:extLst>
          </p:cNvPr>
          <p:cNvSpPr/>
          <p:nvPr/>
        </p:nvSpPr>
        <p:spPr>
          <a:xfrm>
            <a:off x="658368" y="2268855"/>
            <a:ext cx="3931920" cy="605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defRPr/>
            </a:pPr>
            <a:r>
              <a:rPr lang="en-US" sz="3600" b="1">
                <a:solidFill>
                  <a:srgbClr val="FFFFFF"/>
                </a:solidFill>
                <a:latin typeface="EYInterstate" panose="02000503020000020004" pitchFamily="2" charset="0"/>
                <a:ea typeface="+mn-lt"/>
                <a:cs typeface="Arial" panose="020B0604020202020204" pitchFamily="34" charset="0"/>
              </a:rPr>
              <a:t>¡</a:t>
            </a:r>
            <a:r>
              <a:rPr kumimoji="0" lang="en-US" sz="3600" b="1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YInterstate" panose="02000503020000020004" pitchFamily="2" charset="0"/>
                <a:ea typeface="+mn-lt"/>
                <a:cs typeface="Arial" panose="020B0604020202020204" pitchFamily="34" charset="0"/>
              </a:rPr>
              <a:t>Muchas</a:t>
            </a:r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YInterstate" panose="02000503020000020004" pitchFamily="2" charset="0"/>
                <a:ea typeface="+mn-lt"/>
                <a:cs typeface="Arial" panose="020B0604020202020204" pitchFamily="34" charset="0"/>
              </a:rPr>
              <a:t> gracias!</a:t>
            </a:r>
            <a:endParaRPr lang="es-ES" sz="3600">
              <a:latin typeface="EYInterstate" panose="02000503020000020004" pitchFamily="2" charset="0"/>
              <a:ea typeface="+mn-lt"/>
              <a:cs typeface="Arial" panose="020B0604020202020204" pitchFamily="34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DFA92D6-1593-C862-350E-1BFE1670865C}"/>
              </a:ext>
            </a:extLst>
          </p:cNvPr>
          <p:cNvSpPr/>
          <p:nvPr/>
        </p:nvSpPr>
        <p:spPr>
          <a:xfrm>
            <a:off x="640080" y="3244618"/>
            <a:ext cx="3931920" cy="55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Calidad de las </a:t>
            </a: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plataformas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, </a:t>
            </a: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competencias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digitales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básicas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de la población y </a:t>
            </a: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uso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de la Administración online </a:t>
            </a: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en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la UE (2025)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EYInterstate" panose="02000503020000020004" pitchFamily="2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31EECD8-2E32-E4B3-B8B4-CAF2D1911BEC}"/>
              </a:ext>
            </a:extLst>
          </p:cNvPr>
          <p:cNvSpPr/>
          <p:nvPr/>
        </p:nvSpPr>
        <p:spPr>
          <a:xfrm>
            <a:off x="658368" y="3848911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err="1">
                <a:ln>
                  <a:noFill/>
                </a:ln>
                <a:solidFill>
                  <a:srgbClr val="FFE600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Administraci</a:t>
            </a:r>
            <a:r>
              <a:rPr lang="en-US" sz="1000" b="1" err="1">
                <a:solidFill>
                  <a:srgbClr val="FFE60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ón</a:t>
            </a:r>
            <a:r>
              <a:rPr lang="en-US" sz="1000" b="1">
                <a:solidFill>
                  <a:srgbClr val="FFE60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Digital </a:t>
            </a:r>
            <a:r>
              <a:rPr lang="en-US" sz="1000" b="1" err="1">
                <a:solidFill>
                  <a:srgbClr val="FFE60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en</a:t>
            </a:r>
            <a:r>
              <a:rPr lang="en-US" sz="1000" b="1">
                <a:solidFill>
                  <a:srgbClr val="FFE60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Europa | </a:t>
            </a:r>
            <a:r>
              <a:rPr kumimoji="0" lang="en-US" sz="1000" b="1" i="0" u="none" strike="noStrike" kern="1200" cap="none" spc="0" normalizeH="0" baseline="0" noProof="0" err="1">
                <a:ln>
                  <a:noFill/>
                </a:ln>
                <a:solidFill>
                  <a:srgbClr val="FFE600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Octubre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E600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2026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EYInterstate" panose="0200050302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03614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86D757D-6B0F-CAF5-6ACC-E2ED3D368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3074FE9-A758-BD12-89A3-29A8156EACD1}"/>
              </a:ext>
            </a:extLst>
          </p:cNvPr>
          <p:cNvSpPr/>
          <p:nvPr/>
        </p:nvSpPr>
        <p:spPr>
          <a:xfrm>
            <a:off x="457200" y="292608"/>
            <a:ext cx="128016" cy="128016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91719F0-FE16-A412-F53F-1E50DA3C3E73}"/>
              </a:ext>
            </a:extLst>
          </p:cNvPr>
          <p:cNvSpPr/>
          <p:nvPr/>
        </p:nvSpPr>
        <p:spPr>
          <a:xfrm>
            <a:off x="658368" y="24688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CONCLUSIONES Y RECOMENDACIONES</a:t>
            </a:r>
            <a:endParaRPr lang="en-US" sz="850">
              <a:latin typeface="EYInterstate" panose="02000503020000020004" pitchFamily="2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6CE3695-867B-A631-006C-106F202B34C4}"/>
              </a:ext>
            </a:extLst>
          </p:cNvPr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2000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El uso de la Administración digital depende más de las personas que de la plataforma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39BF162-88BF-BBF5-C65A-696B3E730C6A}"/>
              </a:ext>
            </a:extLst>
          </p:cNvPr>
          <p:cNvSpPr/>
          <p:nvPr/>
        </p:nvSpPr>
        <p:spPr>
          <a:xfrm>
            <a:off x="457200" y="4681728"/>
            <a:ext cx="8229600" cy="0"/>
          </a:xfrm>
          <a:prstGeom prst="line">
            <a:avLst/>
          </a:prstGeom>
          <a:noFill/>
          <a:ln w="6350">
            <a:solidFill>
              <a:srgbClr val="C4C4C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F6697E1-D953-9C45-4861-A7DE03142CA6}"/>
              </a:ext>
            </a:extLst>
          </p:cNvPr>
          <p:cNvSpPr/>
          <p:nvPr/>
        </p:nvSpPr>
        <p:spPr>
          <a:xfrm>
            <a:off x="7772400" y="47274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1A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</a:t>
            </a:r>
            <a:r>
              <a:rPr lang="en-US" sz="800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2</a:t>
            </a:r>
            <a:endParaRPr lang="en-US" sz="800"/>
          </a:p>
        </p:txBody>
      </p:sp>
      <p:sp>
        <p:nvSpPr>
          <p:cNvPr id="32" name="Shape 5">
            <a:extLst>
              <a:ext uri="{FF2B5EF4-FFF2-40B4-BE49-F238E27FC236}">
                <a16:creationId xmlns:a16="http://schemas.microsoft.com/office/drawing/2014/main" id="{4D28765D-172B-5B83-DDB6-939F568FD739}"/>
              </a:ext>
            </a:extLst>
          </p:cNvPr>
          <p:cNvSpPr/>
          <p:nvPr/>
        </p:nvSpPr>
        <p:spPr>
          <a:xfrm>
            <a:off x="1188720" y="1371600"/>
            <a:ext cx="2331720" cy="3657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Text 6">
            <a:extLst>
              <a:ext uri="{FF2B5EF4-FFF2-40B4-BE49-F238E27FC236}">
                <a16:creationId xmlns:a16="http://schemas.microsoft.com/office/drawing/2014/main" id="{249FC4E2-6FF7-2D5B-4299-D9B02FD1B174}"/>
              </a:ext>
            </a:extLst>
          </p:cNvPr>
          <p:cNvSpPr/>
          <p:nvPr/>
        </p:nvSpPr>
        <p:spPr>
          <a:xfrm>
            <a:off x="1298448" y="13716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Dato</a:t>
            </a:r>
            <a:endParaRPr lang="en-US" sz="1100">
              <a:latin typeface="EYInterstate" panose="02000503020000020004" pitchFamily="2" charset="0"/>
            </a:endParaRPr>
          </a:p>
        </p:txBody>
      </p:sp>
      <p:sp>
        <p:nvSpPr>
          <p:cNvPr id="36" name="Shape 7">
            <a:extLst>
              <a:ext uri="{FF2B5EF4-FFF2-40B4-BE49-F238E27FC236}">
                <a16:creationId xmlns:a16="http://schemas.microsoft.com/office/drawing/2014/main" id="{C7187B2A-69FE-8A28-6C7D-9FF81499A17D}"/>
              </a:ext>
            </a:extLst>
          </p:cNvPr>
          <p:cNvSpPr/>
          <p:nvPr/>
        </p:nvSpPr>
        <p:spPr>
          <a:xfrm>
            <a:off x="3611880" y="1371600"/>
            <a:ext cx="2331720" cy="3657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8" name="Text 8">
            <a:extLst>
              <a:ext uri="{FF2B5EF4-FFF2-40B4-BE49-F238E27FC236}">
                <a16:creationId xmlns:a16="http://schemas.microsoft.com/office/drawing/2014/main" id="{60958626-EB34-7F36-29C3-009D97A6B391}"/>
              </a:ext>
            </a:extLst>
          </p:cNvPr>
          <p:cNvSpPr/>
          <p:nvPr/>
        </p:nvSpPr>
        <p:spPr>
          <a:xfrm>
            <a:off x="3721608" y="13716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Insight</a:t>
            </a:r>
            <a:endParaRPr lang="en-US" sz="1100">
              <a:latin typeface="EYInterstate" panose="02000503020000020004" pitchFamily="2" charset="0"/>
            </a:endParaRPr>
          </a:p>
        </p:txBody>
      </p:sp>
      <p:sp>
        <p:nvSpPr>
          <p:cNvPr id="40" name="Shape 9">
            <a:extLst>
              <a:ext uri="{FF2B5EF4-FFF2-40B4-BE49-F238E27FC236}">
                <a16:creationId xmlns:a16="http://schemas.microsoft.com/office/drawing/2014/main" id="{76579E11-91E5-065E-6A92-3E461D90AC48}"/>
              </a:ext>
            </a:extLst>
          </p:cNvPr>
          <p:cNvSpPr/>
          <p:nvPr/>
        </p:nvSpPr>
        <p:spPr>
          <a:xfrm>
            <a:off x="6035040" y="1371600"/>
            <a:ext cx="2651760" cy="365760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B8BE4371-1E5D-F994-91FA-A37F97AC868B}"/>
              </a:ext>
            </a:extLst>
          </p:cNvPr>
          <p:cNvSpPr/>
          <p:nvPr/>
        </p:nvSpPr>
        <p:spPr>
          <a:xfrm>
            <a:off x="6144768" y="1371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0000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Recomendación</a:t>
            </a:r>
            <a:endParaRPr lang="en-US" sz="1100">
              <a:latin typeface="EYInterstate" panose="02000503020000020004" pitchFamily="2" charset="0"/>
            </a:endParaRPr>
          </a:p>
        </p:txBody>
      </p:sp>
      <p:sp>
        <p:nvSpPr>
          <p:cNvPr id="44" name="Shape 11">
            <a:extLst>
              <a:ext uri="{FF2B5EF4-FFF2-40B4-BE49-F238E27FC236}">
                <a16:creationId xmlns:a16="http://schemas.microsoft.com/office/drawing/2014/main" id="{ECFE4FE6-B264-D5B1-423C-ABB7DB0AFFEC}"/>
              </a:ext>
            </a:extLst>
          </p:cNvPr>
          <p:cNvSpPr/>
          <p:nvPr/>
        </p:nvSpPr>
        <p:spPr>
          <a:xfrm>
            <a:off x="457200" y="1847088"/>
            <a:ext cx="8229600" cy="868680"/>
          </a:xfrm>
          <a:prstGeom prst="rect">
            <a:avLst/>
          </a:prstGeom>
          <a:solidFill>
            <a:srgbClr val="F6F6FA"/>
          </a:solidFill>
          <a:ln w="12700">
            <a:solidFill>
              <a:srgbClr val="F6F6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6" name="Text 12">
            <a:extLst>
              <a:ext uri="{FF2B5EF4-FFF2-40B4-BE49-F238E27FC236}">
                <a16:creationId xmlns:a16="http://schemas.microsoft.com/office/drawing/2014/main" id="{933F70D3-0977-B14D-0E47-00A03980D458}"/>
              </a:ext>
            </a:extLst>
          </p:cNvPr>
          <p:cNvSpPr/>
          <p:nvPr/>
        </p:nvSpPr>
        <p:spPr>
          <a:xfrm>
            <a:off x="457200" y="1847088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00000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P1</a:t>
            </a:r>
            <a:endParaRPr lang="en-US" sz="1600">
              <a:latin typeface="EYInterstate" panose="02000503020000020004" pitchFamily="2" charset="0"/>
            </a:endParaRPr>
          </a:p>
        </p:txBody>
      </p:sp>
      <p:sp>
        <p:nvSpPr>
          <p:cNvPr id="48" name="Text 13">
            <a:extLst>
              <a:ext uri="{FF2B5EF4-FFF2-40B4-BE49-F238E27FC236}">
                <a16:creationId xmlns:a16="http://schemas.microsoft.com/office/drawing/2014/main" id="{41E60497-78F0-492E-FC95-B1FBE9C9FCEB}"/>
              </a:ext>
            </a:extLst>
          </p:cNvPr>
          <p:cNvSpPr/>
          <p:nvPr/>
        </p:nvSpPr>
        <p:spPr>
          <a:xfrm>
            <a:off x="1298448" y="1847088"/>
            <a:ext cx="2130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Disponibilidad 98,5 vs. accesibilidad 54</a:t>
            </a:r>
            <a:endParaRPr lang="en-US" sz="950">
              <a:latin typeface="EYInterstate" panose="02000503020000020004" pitchFamily="2" charset="0"/>
            </a:endParaRPr>
          </a:p>
        </p:txBody>
      </p:sp>
      <p:sp>
        <p:nvSpPr>
          <p:cNvPr id="50" name="Text 14">
            <a:extLst>
              <a:ext uri="{FF2B5EF4-FFF2-40B4-BE49-F238E27FC236}">
                <a16:creationId xmlns:a16="http://schemas.microsoft.com/office/drawing/2014/main" id="{06F318DB-AED0-9047-8778-157279B02950}"/>
              </a:ext>
            </a:extLst>
          </p:cNvPr>
          <p:cNvSpPr/>
          <p:nvPr/>
        </p:nvSpPr>
        <p:spPr>
          <a:xfrm>
            <a:off x="3721608" y="1847088"/>
            <a:ext cx="2130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950">
              <a:solidFill>
                <a:srgbClr val="2E2E38"/>
              </a:solidFill>
              <a:latin typeface="EYInterstate"/>
              <a:cs typeface="Arial"/>
            </a:endParaRPr>
          </a:p>
          <a:p>
            <a:endParaRPr lang="en-US" sz="950">
              <a:solidFill>
                <a:srgbClr val="2E2E38"/>
              </a:solidFill>
              <a:latin typeface="EYInterstate"/>
              <a:cs typeface="Arial"/>
            </a:endParaRPr>
          </a:p>
          <a:p>
            <a:r>
              <a:rPr lang="en-US" sz="950">
                <a:solidFill>
                  <a:srgbClr val="2E2E38"/>
                </a:solidFill>
                <a:latin typeface="EYInterstate"/>
                <a:cs typeface="Arial"/>
              </a:rPr>
              <a:t>El </a:t>
            </a:r>
            <a:r>
              <a:rPr lang="en-US" sz="950" err="1">
                <a:solidFill>
                  <a:srgbClr val="2E2E38"/>
                </a:solidFill>
                <a:latin typeface="EYInterstate"/>
                <a:cs typeface="Arial"/>
              </a:rPr>
              <a:t>trámite</a:t>
            </a:r>
            <a:r>
              <a:rPr lang="en-US" sz="950">
                <a:solidFill>
                  <a:srgbClr val="2E2E38"/>
                </a:solidFill>
                <a:latin typeface="EYInterstate"/>
                <a:cs typeface="Arial"/>
              </a:rPr>
              <a:t> </a:t>
            </a:r>
            <a:r>
              <a:rPr lang="en-US" sz="950" err="1">
                <a:solidFill>
                  <a:srgbClr val="2E2E38"/>
                </a:solidFill>
                <a:latin typeface="EYInterstate"/>
                <a:cs typeface="Arial"/>
              </a:rPr>
              <a:t>está</a:t>
            </a:r>
            <a:r>
              <a:rPr lang="en-US" sz="950">
                <a:solidFill>
                  <a:srgbClr val="2E2E38"/>
                </a:solidFill>
                <a:latin typeface="EYInterstate"/>
                <a:cs typeface="Arial"/>
              </a:rPr>
              <a:t> online, </a:t>
            </a:r>
            <a:r>
              <a:rPr lang="en-US" sz="950" err="1">
                <a:solidFill>
                  <a:srgbClr val="2E2E38"/>
                </a:solidFill>
                <a:latin typeface="EYInterstate"/>
                <a:cs typeface="Arial"/>
              </a:rPr>
              <a:t>pero</a:t>
            </a:r>
            <a:r>
              <a:rPr lang="en-US" sz="950">
                <a:solidFill>
                  <a:srgbClr val="2E2E38"/>
                </a:solidFill>
                <a:latin typeface="EYInterstate"/>
                <a:cs typeface="Arial"/>
              </a:rPr>
              <a:t> no es claro </a:t>
            </a:r>
            <a:r>
              <a:rPr lang="en-US" sz="950" err="1">
                <a:solidFill>
                  <a:srgbClr val="2E2E38"/>
                </a:solidFill>
                <a:latin typeface="EYInterstate"/>
                <a:cs typeface="Arial"/>
              </a:rPr>
              <a:t>ni</a:t>
            </a:r>
            <a:r>
              <a:rPr lang="en-US" sz="950">
                <a:solidFill>
                  <a:srgbClr val="2E2E38"/>
                </a:solidFill>
                <a:latin typeface="EYInterstate"/>
                <a:cs typeface="Arial"/>
              </a:rPr>
              <a:t> </a:t>
            </a:r>
            <a:r>
              <a:rPr lang="en-US" sz="950" err="1">
                <a:solidFill>
                  <a:srgbClr val="2E2E38"/>
                </a:solidFill>
                <a:latin typeface="EYInterstate"/>
                <a:cs typeface="Arial"/>
              </a:rPr>
              <a:t>accesible</a:t>
            </a:r>
            <a:r>
              <a:rPr lang="en-US" sz="950">
                <a:solidFill>
                  <a:srgbClr val="2E2E38"/>
                </a:solidFill>
                <a:latin typeface="EYInterstate"/>
                <a:cs typeface="Arial"/>
              </a:rPr>
              <a:t> para </a:t>
            </a:r>
            <a:r>
              <a:rPr lang="en-US" sz="950" err="1">
                <a:solidFill>
                  <a:srgbClr val="2E2E38"/>
                </a:solidFill>
                <a:latin typeface="EYInterstate"/>
                <a:cs typeface="Arial"/>
              </a:rPr>
              <a:t>todos</a:t>
            </a:r>
            <a:r>
              <a:rPr lang="en-US" sz="950">
                <a:solidFill>
                  <a:srgbClr val="2E2E38"/>
                </a:solidFill>
                <a:latin typeface="EYInterstate"/>
                <a:cs typeface="Arial"/>
              </a:rPr>
              <a:t>.</a:t>
            </a:r>
            <a:endParaRPr lang="en-US">
              <a:ea typeface="Calibri"/>
              <a:cs typeface="Calibri"/>
            </a:endParaRPr>
          </a:p>
          <a:p>
            <a:endParaRPr lang="en-US" sz="950">
              <a:solidFill>
                <a:srgbClr val="2E2E38"/>
              </a:solidFill>
              <a:latin typeface="EYInterstate"/>
              <a:cs typeface="Arial"/>
            </a:endParaRPr>
          </a:p>
          <a:p>
            <a:pPr marL="0" indent="0">
              <a:buNone/>
            </a:pPr>
            <a:endParaRPr lang="en-US" sz="950">
              <a:solidFill>
                <a:srgbClr val="2E2E38"/>
              </a:solidFill>
              <a:latin typeface="EYInterstate" panose="02000503020000020004" pitchFamily="2" charset="0"/>
              <a:cs typeface="Arial"/>
            </a:endParaRPr>
          </a:p>
        </p:txBody>
      </p:sp>
      <p:sp>
        <p:nvSpPr>
          <p:cNvPr id="52" name="Text 15">
            <a:extLst>
              <a:ext uri="{FF2B5EF4-FFF2-40B4-BE49-F238E27FC236}">
                <a16:creationId xmlns:a16="http://schemas.microsoft.com/office/drawing/2014/main" id="{982B3D62-C472-6B02-A7BF-1C07C571A5F7}"/>
              </a:ext>
            </a:extLst>
          </p:cNvPr>
          <p:cNvSpPr/>
          <p:nvPr/>
        </p:nvSpPr>
        <p:spPr>
          <a:xfrm>
            <a:off x="6144768" y="1847088"/>
            <a:ext cx="2450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 err="1">
                <a:solidFill>
                  <a:srgbClr val="2E2E38"/>
                </a:solidFill>
                <a:latin typeface="EYInterstate"/>
                <a:ea typeface="Arial" pitchFamily="34" charset="-122"/>
                <a:cs typeface="Arial"/>
              </a:rPr>
              <a:t>Revisar</a:t>
            </a:r>
            <a:r>
              <a:rPr lang="en-US" sz="950" b="1">
                <a:solidFill>
                  <a:srgbClr val="2E2E38"/>
                </a:solidFill>
                <a:latin typeface="EYInterstate"/>
                <a:ea typeface="Arial" pitchFamily="34" charset="-122"/>
                <a:cs typeface="Arial"/>
              </a:rPr>
              <a:t> </a:t>
            </a:r>
            <a:r>
              <a:rPr lang="en-US" sz="950" b="1" err="1">
                <a:solidFill>
                  <a:srgbClr val="2E2E38"/>
                </a:solidFill>
                <a:latin typeface="EYInterstate"/>
                <a:ea typeface="Arial" pitchFamily="34" charset="-122"/>
                <a:cs typeface="Arial"/>
              </a:rPr>
              <a:t>accesibilidad</a:t>
            </a:r>
            <a:r>
              <a:rPr lang="en-US" sz="950" b="1">
                <a:solidFill>
                  <a:srgbClr val="2E2E38"/>
                </a:solidFill>
                <a:latin typeface="EYInterstate"/>
                <a:ea typeface="Arial" pitchFamily="34" charset="-122"/>
                <a:cs typeface="Arial"/>
              </a:rPr>
              <a:t> y </a:t>
            </a:r>
            <a:r>
              <a:rPr lang="en-US" sz="950" b="1" err="1">
                <a:solidFill>
                  <a:srgbClr val="2E2E38"/>
                </a:solidFill>
                <a:latin typeface="EYInterstate"/>
                <a:ea typeface="Arial" pitchFamily="34" charset="-122"/>
                <a:cs typeface="Arial"/>
              </a:rPr>
              <a:t>comunicar</a:t>
            </a:r>
            <a:r>
              <a:rPr lang="en-US" sz="950" b="1">
                <a:solidFill>
                  <a:srgbClr val="2E2E38"/>
                </a:solidFill>
                <a:latin typeface="EYInterstate"/>
                <a:ea typeface="Arial" pitchFamily="34" charset="-122"/>
                <a:cs typeface="Arial"/>
              </a:rPr>
              <a:t> </a:t>
            </a:r>
            <a:r>
              <a:rPr lang="en-US" sz="950" b="1" err="1">
                <a:solidFill>
                  <a:srgbClr val="2E2E38"/>
                </a:solidFill>
                <a:latin typeface="EYInterstate"/>
                <a:ea typeface="Arial" pitchFamily="34" charset="-122"/>
                <a:cs typeface="Arial"/>
              </a:rPr>
              <a:t>plazos</a:t>
            </a:r>
            <a:r>
              <a:rPr lang="en-US" sz="950" b="1">
                <a:solidFill>
                  <a:srgbClr val="2E2E38"/>
                </a:solidFill>
                <a:latin typeface="EYInterstate"/>
                <a:ea typeface="Arial" pitchFamily="34" charset="-122"/>
                <a:cs typeface="Arial"/>
              </a:rPr>
              <a:t> </a:t>
            </a:r>
            <a:r>
              <a:rPr lang="en-US" sz="950" b="1" err="1">
                <a:solidFill>
                  <a:srgbClr val="2E2E38"/>
                </a:solidFill>
                <a:latin typeface="EYInterstate"/>
                <a:ea typeface="Arial" pitchFamily="34" charset="-122"/>
                <a:cs typeface="Arial"/>
              </a:rPr>
              <a:t>en</a:t>
            </a:r>
            <a:r>
              <a:rPr lang="en-US" sz="950" b="1">
                <a:solidFill>
                  <a:srgbClr val="2E2E38"/>
                </a:solidFill>
                <a:latin typeface="EYInterstate"/>
                <a:ea typeface="Arial" pitchFamily="34" charset="-122"/>
                <a:cs typeface="Arial"/>
              </a:rPr>
              <a:t> </a:t>
            </a:r>
            <a:r>
              <a:rPr lang="en-US" sz="950" b="1" err="1">
                <a:solidFill>
                  <a:srgbClr val="2E2E38"/>
                </a:solidFill>
                <a:latin typeface="EYInterstate"/>
                <a:ea typeface="Arial" pitchFamily="34" charset="-122"/>
                <a:cs typeface="Arial"/>
              </a:rPr>
              <a:t>los</a:t>
            </a:r>
            <a:r>
              <a:rPr lang="en-US" sz="950" b="1">
                <a:solidFill>
                  <a:srgbClr val="2E2E38"/>
                </a:solidFill>
                <a:latin typeface="EYInterstate"/>
                <a:ea typeface="Arial" pitchFamily="34" charset="-122"/>
                <a:cs typeface="Arial"/>
              </a:rPr>
              <a:t> 3 </a:t>
            </a:r>
            <a:r>
              <a:rPr lang="en-US" sz="950" b="1" err="1">
                <a:solidFill>
                  <a:srgbClr val="2E2E38"/>
                </a:solidFill>
                <a:latin typeface="EYInterstate"/>
                <a:ea typeface="Arial" pitchFamily="34" charset="-122"/>
                <a:cs typeface="Arial"/>
              </a:rPr>
              <a:t>trámites</a:t>
            </a:r>
            <a:r>
              <a:rPr lang="en-US" sz="950" b="1">
                <a:solidFill>
                  <a:srgbClr val="2E2E38"/>
                </a:solidFill>
                <a:latin typeface="EYInterstate"/>
                <a:ea typeface="Arial" pitchFamily="34" charset="-122"/>
                <a:cs typeface="Arial"/>
              </a:rPr>
              <a:t> de </a:t>
            </a:r>
            <a:r>
              <a:rPr lang="en-US" sz="950" b="1" err="1">
                <a:solidFill>
                  <a:srgbClr val="2E2E38"/>
                </a:solidFill>
                <a:latin typeface="EYInterstate"/>
                <a:ea typeface="Arial" pitchFamily="34" charset="-122"/>
                <a:cs typeface="Arial"/>
              </a:rPr>
              <a:t>más</a:t>
            </a:r>
            <a:r>
              <a:rPr lang="en-US" sz="950" b="1">
                <a:solidFill>
                  <a:srgbClr val="2E2E38"/>
                </a:solidFill>
                <a:latin typeface="EYInterstate"/>
                <a:ea typeface="Arial" pitchFamily="34" charset="-122"/>
                <a:cs typeface="Arial"/>
              </a:rPr>
              <a:t> </a:t>
            </a:r>
            <a:r>
              <a:rPr lang="en-US" sz="950" b="1" err="1">
                <a:solidFill>
                  <a:srgbClr val="2E2E38"/>
                </a:solidFill>
                <a:latin typeface="EYInterstate"/>
                <a:ea typeface="Arial" pitchFamily="34" charset="-122"/>
                <a:cs typeface="Arial"/>
              </a:rPr>
              <a:t>volumen</a:t>
            </a:r>
            <a:endParaRPr lang="en-US" sz="950">
              <a:latin typeface="EYInterstate"/>
              <a:cs typeface="Arial"/>
            </a:endParaRPr>
          </a:p>
        </p:txBody>
      </p:sp>
      <p:sp>
        <p:nvSpPr>
          <p:cNvPr id="54" name="Shape 16">
            <a:extLst>
              <a:ext uri="{FF2B5EF4-FFF2-40B4-BE49-F238E27FC236}">
                <a16:creationId xmlns:a16="http://schemas.microsoft.com/office/drawing/2014/main" id="{A4A64B3C-F733-69E6-1040-70F118E41DC7}"/>
              </a:ext>
            </a:extLst>
          </p:cNvPr>
          <p:cNvSpPr/>
          <p:nvPr/>
        </p:nvSpPr>
        <p:spPr>
          <a:xfrm>
            <a:off x="457200" y="2807208"/>
            <a:ext cx="8229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6" name="Text 17">
            <a:extLst>
              <a:ext uri="{FF2B5EF4-FFF2-40B4-BE49-F238E27FC236}">
                <a16:creationId xmlns:a16="http://schemas.microsoft.com/office/drawing/2014/main" id="{120E8EC3-C3A5-6908-D554-A3D1C70D7C3C}"/>
              </a:ext>
            </a:extLst>
          </p:cNvPr>
          <p:cNvSpPr/>
          <p:nvPr/>
        </p:nvSpPr>
        <p:spPr>
          <a:xfrm>
            <a:off x="457200" y="2807208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00000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P2</a:t>
            </a:r>
            <a:endParaRPr lang="en-US" sz="1600">
              <a:latin typeface="EYInterstate" panose="02000503020000020004" pitchFamily="2" charset="0"/>
            </a:endParaRPr>
          </a:p>
        </p:txBody>
      </p:sp>
      <p:sp>
        <p:nvSpPr>
          <p:cNvPr id="58" name="Text 18">
            <a:extLst>
              <a:ext uri="{FF2B5EF4-FFF2-40B4-BE49-F238E27FC236}">
                <a16:creationId xmlns:a16="http://schemas.microsoft.com/office/drawing/2014/main" id="{53490BB5-13A3-1234-FF0F-F8EBAFD34458}"/>
              </a:ext>
            </a:extLst>
          </p:cNvPr>
          <p:cNvSpPr/>
          <p:nvPr/>
        </p:nvSpPr>
        <p:spPr>
          <a:xfrm>
            <a:off x="1298448" y="2807208"/>
            <a:ext cx="2130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r = 0,78 · solo el 43 % de los +55 tiene competencias</a:t>
            </a:r>
            <a:endParaRPr lang="en-US" sz="950">
              <a:latin typeface="EYInterstate" panose="02000503020000020004" pitchFamily="2" charset="0"/>
            </a:endParaRPr>
          </a:p>
        </p:txBody>
      </p:sp>
      <p:sp>
        <p:nvSpPr>
          <p:cNvPr id="60" name="Text 19">
            <a:extLst>
              <a:ext uri="{FF2B5EF4-FFF2-40B4-BE49-F238E27FC236}">
                <a16:creationId xmlns:a16="http://schemas.microsoft.com/office/drawing/2014/main" id="{F40C1F6B-E4FD-8076-1F37-31E03E52F2BC}"/>
              </a:ext>
            </a:extLst>
          </p:cNvPr>
          <p:cNvSpPr/>
          <p:nvPr/>
        </p:nvSpPr>
        <p:spPr>
          <a:xfrm>
            <a:off x="3721608" y="2807208"/>
            <a:ext cx="2130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Los </a:t>
            </a:r>
            <a:r>
              <a:rPr lang="en-US" sz="9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mayores</a:t>
            </a: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necesitan</a:t>
            </a: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capacidad</a:t>
            </a: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; </a:t>
            </a:r>
            <a:r>
              <a:rPr lang="en-US" sz="9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los</a:t>
            </a: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jóvenes</a:t>
            </a: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, un </a:t>
            </a:r>
            <a:r>
              <a:rPr lang="en-US" sz="9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motivo</a:t>
            </a: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para </a:t>
            </a:r>
            <a:r>
              <a:rPr lang="en-US" sz="9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usarla</a:t>
            </a:r>
            <a:endParaRPr lang="en-US" sz="950">
              <a:latin typeface="EYInterstate" panose="02000503020000020004" pitchFamily="2" charset="0"/>
            </a:endParaRPr>
          </a:p>
        </p:txBody>
      </p:sp>
      <p:sp>
        <p:nvSpPr>
          <p:cNvPr id="62" name="Text 20">
            <a:extLst>
              <a:ext uri="{FF2B5EF4-FFF2-40B4-BE49-F238E27FC236}">
                <a16:creationId xmlns:a16="http://schemas.microsoft.com/office/drawing/2014/main" id="{4F009494-B372-37D4-3924-772A33D2879E}"/>
              </a:ext>
            </a:extLst>
          </p:cNvPr>
          <p:cNvSpPr/>
          <p:nvPr/>
        </p:nvSpPr>
        <p:spPr>
          <a:xfrm>
            <a:off x="6144768" y="2807208"/>
            <a:ext cx="2450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Formación</a:t>
            </a:r>
            <a:r>
              <a:rPr lang="en-US" sz="950" b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y </a:t>
            </a:r>
            <a:r>
              <a:rPr lang="en-US" sz="950" b="1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acompañamiento</a:t>
            </a:r>
            <a:r>
              <a:rPr lang="en-US" sz="950" b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para +55; </a:t>
            </a:r>
            <a:r>
              <a:rPr lang="en-US" sz="950" b="1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servicios</a:t>
            </a:r>
            <a:r>
              <a:rPr lang="en-US" sz="950" b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50" b="1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proactivos</a:t>
            </a:r>
            <a:r>
              <a:rPr lang="en-US" sz="950" b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y </a:t>
            </a:r>
            <a:r>
              <a:rPr lang="en-US" sz="950" b="1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móviles</a:t>
            </a:r>
            <a:r>
              <a:rPr lang="en-US" sz="950" b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para </a:t>
            </a:r>
            <a:r>
              <a:rPr lang="en-US" sz="950" b="1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jóvenes</a:t>
            </a:r>
            <a:endParaRPr lang="en-US" sz="950">
              <a:latin typeface="EYInterstate" panose="02000503020000020004" pitchFamily="2" charset="0"/>
            </a:endParaRPr>
          </a:p>
        </p:txBody>
      </p:sp>
      <p:sp>
        <p:nvSpPr>
          <p:cNvPr id="64" name="Shape 21">
            <a:extLst>
              <a:ext uri="{FF2B5EF4-FFF2-40B4-BE49-F238E27FC236}">
                <a16:creationId xmlns:a16="http://schemas.microsoft.com/office/drawing/2014/main" id="{BBF00513-0D11-037B-7F15-0E1DCC080ADB}"/>
              </a:ext>
            </a:extLst>
          </p:cNvPr>
          <p:cNvSpPr/>
          <p:nvPr/>
        </p:nvSpPr>
        <p:spPr>
          <a:xfrm>
            <a:off x="457200" y="3767328"/>
            <a:ext cx="8229600" cy="868680"/>
          </a:xfrm>
          <a:prstGeom prst="rect">
            <a:avLst/>
          </a:prstGeom>
          <a:solidFill>
            <a:srgbClr val="F6F6FA"/>
          </a:solidFill>
          <a:ln w="12700">
            <a:solidFill>
              <a:srgbClr val="F6F6FA"/>
            </a:solidFill>
            <a:prstDash val="solid"/>
          </a:ln>
        </p:spPr>
        <p:txBody>
          <a:bodyPr/>
          <a:lstStyle/>
          <a:p>
            <a:endParaRPr lang="es-ES">
              <a:latin typeface="EYInterstate" panose="02000503020000020004" pitchFamily="2" charset="0"/>
            </a:endParaRPr>
          </a:p>
        </p:txBody>
      </p:sp>
      <p:sp>
        <p:nvSpPr>
          <p:cNvPr id="66" name="Text 22">
            <a:extLst>
              <a:ext uri="{FF2B5EF4-FFF2-40B4-BE49-F238E27FC236}">
                <a16:creationId xmlns:a16="http://schemas.microsoft.com/office/drawing/2014/main" id="{AA87173F-8966-BF01-20FE-FE490D22DA24}"/>
              </a:ext>
            </a:extLst>
          </p:cNvPr>
          <p:cNvSpPr/>
          <p:nvPr/>
        </p:nvSpPr>
        <p:spPr>
          <a:xfrm>
            <a:off x="457200" y="3767328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00000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P3</a:t>
            </a:r>
            <a:endParaRPr lang="en-US" sz="1600">
              <a:latin typeface="EYInterstate" panose="02000503020000020004" pitchFamily="2" charset="0"/>
            </a:endParaRPr>
          </a:p>
        </p:txBody>
      </p:sp>
      <p:sp>
        <p:nvSpPr>
          <p:cNvPr id="68" name="Text 23">
            <a:extLst>
              <a:ext uri="{FF2B5EF4-FFF2-40B4-BE49-F238E27FC236}">
                <a16:creationId xmlns:a16="http://schemas.microsoft.com/office/drawing/2014/main" id="{808AA589-C307-F5E9-8015-255684E6269C}"/>
              </a:ext>
            </a:extLst>
          </p:cNvPr>
          <p:cNvSpPr/>
          <p:nvPr/>
        </p:nvSpPr>
        <p:spPr>
          <a:xfrm>
            <a:off x="1298448" y="3767328"/>
            <a:ext cx="2130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r = 0,65, más débil que competencias</a:t>
            </a:r>
            <a:endParaRPr lang="en-US" sz="950">
              <a:latin typeface="EYInterstate" panose="02000503020000020004" pitchFamily="2" charset="0"/>
            </a:endParaRPr>
          </a:p>
        </p:txBody>
      </p:sp>
      <p:sp>
        <p:nvSpPr>
          <p:cNvPr id="70" name="Text 24">
            <a:extLst>
              <a:ext uri="{FF2B5EF4-FFF2-40B4-BE49-F238E27FC236}">
                <a16:creationId xmlns:a16="http://schemas.microsoft.com/office/drawing/2014/main" id="{808ADC69-2F2E-8A73-A960-26EFADAD30EA}"/>
              </a:ext>
            </a:extLst>
          </p:cNvPr>
          <p:cNvSpPr/>
          <p:nvPr/>
        </p:nvSpPr>
        <p:spPr>
          <a:xfrm>
            <a:off x="3721608" y="3767328"/>
            <a:ext cx="2130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Mejorar</a:t>
            </a: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la </a:t>
            </a:r>
            <a:r>
              <a:rPr lang="en-US" sz="9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plataforma</a:t>
            </a: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ayuda</a:t>
            </a: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9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pero</a:t>
            </a: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no </a:t>
            </a:r>
            <a:r>
              <a:rPr lang="en-US" sz="9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garantiza</a:t>
            </a: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adopción</a:t>
            </a:r>
            <a:endParaRPr lang="en-US" sz="950">
              <a:latin typeface="EYInterstate" panose="02000503020000020004" pitchFamily="2" charset="0"/>
            </a:endParaRPr>
          </a:p>
        </p:txBody>
      </p:sp>
      <p:sp>
        <p:nvSpPr>
          <p:cNvPr id="72" name="Text 25">
            <a:extLst>
              <a:ext uri="{FF2B5EF4-FFF2-40B4-BE49-F238E27FC236}">
                <a16:creationId xmlns:a16="http://schemas.microsoft.com/office/drawing/2014/main" id="{8EA14F8C-05B1-C794-67E4-9A03AC0E49B8}"/>
              </a:ext>
            </a:extLst>
          </p:cNvPr>
          <p:cNvSpPr/>
          <p:nvPr/>
        </p:nvSpPr>
        <p:spPr>
          <a:xfrm>
            <a:off x="6144768" y="3767328"/>
            <a:ext cx="2450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Acompañar</a:t>
            </a:r>
            <a:r>
              <a:rPr lang="en-US" sz="950" b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50" b="1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cada</a:t>
            </a:r>
            <a:r>
              <a:rPr lang="en-US" sz="950" b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50" b="1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inversión</a:t>
            </a:r>
            <a:r>
              <a:rPr lang="en-US" sz="950" b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50" b="1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tecnológica</a:t>
            </a:r>
            <a:r>
              <a:rPr lang="en-US" sz="950" b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con un plan de </a:t>
            </a:r>
            <a:r>
              <a:rPr lang="en-US" sz="950" b="1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adopción</a:t>
            </a:r>
            <a:r>
              <a:rPr lang="en-US" sz="950" b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y </a:t>
            </a:r>
            <a:r>
              <a:rPr lang="en-US" sz="950" b="1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capacitación</a:t>
            </a:r>
            <a:endParaRPr lang="en-US" sz="950">
              <a:latin typeface="EYInterstate" panose="02000503020000020004" pitchFamily="2" charset="0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E2081AEB-C28F-278A-01B5-D212E85E45D0}"/>
              </a:ext>
            </a:extLst>
          </p:cNvPr>
          <p:cNvSpPr/>
          <p:nvPr/>
        </p:nvSpPr>
        <p:spPr>
          <a:xfrm>
            <a:off x="6035040" y="1847088"/>
            <a:ext cx="2651760" cy="2788920"/>
          </a:xfrm>
          <a:prstGeom prst="rect">
            <a:avLst/>
          </a:prstGeom>
          <a:noFill/>
          <a:ln w="19050">
            <a:solidFill>
              <a:srgbClr val="FFE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6" name="Text 4">
            <a:extLst>
              <a:ext uri="{FF2B5EF4-FFF2-40B4-BE49-F238E27FC236}">
                <a16:creationId xmlns:a16="http://schemas.microsoft.com/office/drawing/2014/main" id="{40556E67-55B0-267E-9034-F193459A7AC8}"/>
              </a:ext>
            </a:extLst>
          </p:cNvPr>
          <p:cNvSpPr/>
          <p:nvPr/>
        </p:nvSpPr>
        <p:spPr>
          <a:xfrm>
            <a:off x="457200" y="47274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>
                <a:solidFill>
                  <a:srgbClr val="C4C4CD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Fuentes: Eurostat 2025; Comisión Europea, eGovernment Benchmark 2025. </a:t>
            </a:r>
            <a:r>
              <a:rPr lang="en-US" sz="700" err="1">
                <a:solidFill>
                  <a:srgbClr val="C4C4CD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Correlaciones</a:t>
            </a:r>
            <a:r>
              <a:rPr lang="en-US" sz="700">
                <a:solidFill>
                  <a:srgbClr val="C4C4CD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entre 27 </a:t>
            </a:r>
            <a:r>
              <a:rPr lang="en-US" sz="700" err="1">
                <a:solidFill>
                  <a:srgbClr val="C4C4CD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países</a:t>
            </a:r>
            <a:r>
              <a:rPr lang="en-US" sz="700">
                <a:solidFill>
                  <a:srgbClr val="C4C4CD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: indican </a:t>
            </a:r>
            <a:r>
              <a:rPr lang="en-US" sz="700" err="1">
                <a:solidFill>
                  <a:srgbClr val="C4C4CD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relación</a:t>
            </a:r>
            <a:r>
              <a:rPr lang="en-US" sz="700">
                <a:solidFill>
                  <a:srgbClr val="C4C4CD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, no </a:t>
            </a:r>
            <a:r>
              <a:rPr lang="en-US" sz="700" err="1">
                <a:solidFill>
                  <a:srgbClr val="C4C4CD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causalidad</a:t>
            </a:r>
            <a:endParaRPr lang="en-US" sz="700">
              <a:latin typeface="EYInterstate" panose="0200050302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65656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86D757D-6B0F-CAF5-6ACC-E2ED3D368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3074FE9-A758-BD12-89A3-29A8156EACD1}"/>
              </a:ext>
            </a:extLst>
          </p:cNvPr>
          <p:cNvSpPr/>
          <p:nvPr/>
        </p:nvSpPr>
        <p:spPr>
          <a:xfrm>
            <a:off x="457200" y="292608"/>
            <a:ext cx="128016" cy="128016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91719F0-FE16-A412-F53F-1E50DA3C3E73}"/>
              </a:ext>
            </a:extLst>
          </p:cNvPr>
          <p:cNvSpPr/>
          <p:nvPr/>
        </p:nvSpPr>
        <p:spPr>
          <a:xfrm>
            <a:off x="658368" y="24688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CONCLUSIONES Y RECOMENDACIONES</a:t>
            </a:r>
            <a:endParaRPr lang="en-US" sz="850">
              <a:latin typeface="EYInterstate" panose="02000503020000020004" pitchFamily="2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6CE3695-867B-A631-006C-106F202B34C4}"/>
              </a:ext>
            </a:extLst>
          </p:cNvPr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2000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La tecnología ya está; el siguiente salto de la Administración digital es de personas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39BF162-88BF-BBF5-C65A-696B3E730C6A}"/>
              </a:ext>
            </a:extLst>
          </p:cNvPr>
          <p:cNvSpPr/>
          <p:nvPr/>
        </p:nvSpPr>
        <p:spPr>
          <a:xfrm>
            <a:off x="457200" y="4681728"/>
            <a:ext cx="8229600" cy="0"/>
          </a:xfrm>
          <a:prstGeom prst="line">
            <a:avLst/>
          </a:prstGeom>
          <a:noFill/>
          <a:ln w="6350">
            <a:solidFill>
              <a:srgbClr val="C4C4C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F6697E1-D953-9C45-4861-A7DE03142CA6}"/>
              </a:ext>
            </a:extLst>
          </p:cNvPr>
          <p:cNvSpPr/>
          <p:nvPr/>
        </p:nvSpPr>
        <p:spPr>
          <a:xfrm>
            <a:off x="7772400" y="47274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1A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</a:t>
            </a:r>
            <a:r>
              <a:rPr lang="en-US" sz="800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2</a:t>
            </a:r>
            <a:endParaRPr lang="en-US" sz="800"/>
          </a:p>
        </p:txBody>
      </p:sp>
      <p:sp>
        <p:nvSpPr>
          <p:cNvPr id="32" name="Shape 5">
            <a:extLst>
              <a:ext uri="{FF2B5EF4-FFF2-40B4-BE49-F238E27FC236}">
                <a16:creationId xmlns:a16="http://schemas.microsoft.com/office/drawing/2014/main" id="{4D28765D-172B-5B83-DDB6-939F568FD739}"/>
              </a:ext>
            </a:extLst>
          </p:cNvPr>
          <p:cNvSpPr/>
          <p:nvPr/>
        </p:nvSpPr>
        <p:spPr>
          <a:xfrm>
            <a:off x="1188720" y="1371600"/>
            <a:ext cx="2331720" cy="3657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Text 6">
            <a:extLst>
              <a:ext uri="{FF2B5EF4-FFF2-40B4-BE49-F238E27FC236}">
                <a16:creationId xmlns:a16="http://schemas.microsoft.com/office/drawing/2014/main" id="{249FC4E2-6FF7-2D5B-4299-D9B02FD1B174}"/>
              </a:ext>
            </a:extLst>
          </p:cNvPr>
          <p:cNvSpPr/>
          <p:nvPr/>
        </p:nvSpPr>
        <p:spPr>
          <a:xfrm>
            <a:off x="1298448" y="13716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Dato</a:t>
            </a:r>
            <a:endParaRPr lang="en-US" sz="1100">
              <a:latin typeface="EYInterstate" panose="02000503020000020004" pitchFamily="2" charset="0"/>
            </a:endParaRPr>
          </a:p>
        </p:txBody>
      </p:sp>
      <p:sp>
        <p:nvSpPr>
          <p:cNvPr id="36" name="Shape 7">
            <a:extLst>
              <a:ext uri="{FF2B5EF4-FFF2-40B4-BE49-F238E27FC236}">
                <a16:creationId xmlns:a16="http://schemas.microsoft.com/office/drawing/2014/main" id="{C7187B2A-69FE-8A28-6C7D-9FF81499A17D}"/>
              </a:ext>
            </a:extLst>
          </p:cNvPr>
          <p:cNvSpPr/>
          <p:nvPr/>
        </p:nvSpPr>
        <p:spPr>
          <a:xfrm>
            <a:off x="3611880" y="1371600"/>
            <a:ext cx="2331720" cy="3657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8" name="Text 8">
            <a:extLst>
              <a:ext uri="{FF2B5EF4-FFF2-40B4-BE49-F238E27FC236}">
                <a16:creationId xmlns:a16="http://schemas.microsoft.com/office/drawing/2014/main" id="{60958626-EB34-7F36-29C3-009D97A6B391}"/>
              </a:ext>
            </a:extLst>
          </p:cNvPr>
          <p:cNvSpPr/>
          <p:nvPr/>
        </p:nvSpPr>
        <p:spPr>
          <a:xfrm>
            <a:off x="3721608" y="13716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Insight</a:t>
            </a:r>
            <a:endParaRPr lang="en-US" sz="1100">
              <a:latin typeface="EYInterstate" panose="02000503020000020004" pitchFamily="2" charset="0"/>
            </a:endParaRPr>
          </a:p>
        </p:txBody>
      </p:sp>
      <p:sp>
        <p:nvSpPr>
          <p:cNvPr id="40" name="Shape 9">
            <a:extLst>
              <a:ext uri="{FF2B5EF4-FFF2-40B4-BE49-F238E27FC236}">
                <a16:creationId xmlns:a16="http://schemas.microsoft.com/office/drawing/2014/main" id="{76579E11-91E5-065E-6A92-3E461D90AC48}"/>
              </a:ext>
            </a:extLst>
          </p:cNvPr>
          <p:cNvSpPr/>
          <p:nvPr/>
        </p:nvSpPr>
        <p:spPr>
          <a:xfrm>
            <a:off x="6035040" y="1371600"/>
            <a:ext cx="2651760" cy="365760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B8BE4371-1E5D-F994-91FA-A37F97AC868B}"/>
              </a:ext>
            </a:extLst>
          </p:cNvPr>
          <p:cNvSpPr/>
          <p:nvPr/>
        </p:nvSpPr>
        <p:spPr>
          <a:xfrm>
            <a:off x="6144768" y="1371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0000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Recomendación</a:t>
            </a:r>
            <a:endParaRPr lang="en-US" sz="1100">
              <a:latin typeface="EYInterstate" panose="02000503020000020004" pitchFamily="2" charset="0"/>
            </a:endParaRPr>
          </a:p>
        </p:txBody>
      </p:sp>
      <p:sp>
        <p:nvSpPr>
          <p:cNvPr id="44" name="Shape 11">
            <a:extLst>
              <a:ext uri="{FF2B5EF4-FFF2-40B4-BE49-F238E27FC236}">
                <a16:creationId xmlns:a16="http://schemas.microsoft.com/office/drawing/2014/main" id="{ECFE4FE6-B264-D5B1-423C-ABB7DB0AFFEC}"/>
              </a:ext>
            </a:extLst>
          </p:cNvPr>
          <p:cNvSpPr/>
          <p:nvPr/>
        </p:nvSpPr>
        <p:spPr>
          <a:xfrm>
            <a:off x="457200" y="1847088"/>
            <a:ext cx="8229600" cy="868680"/>
          </a:xfrm>
          <a:prstGeom prst="rect">
            <a:avLst/>
          </a:prstGeom>
          <a:solidFill>
            <a:srgbClr val="F6F6FA"/>
          </a:solidFill>
          <a:ln w="12700">
            <a:solidFill>
              <a:srgbClr val="F6F6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6" name="Text 12">
            <a:extLst>
              <a:ext uri="{FF2B5EF4-FFF2-40B4-BE49-F238E27FC236}">
                <a16:creationId xmlns:a16="http://schemas.microsoft.com/office/drawing/2014/main" id="{933F70D3-0977-B14D-0E47-00A03980D458}"/>
              </a:ext>
            </a:extLst>
          </p:cNvPr>
          <p:cNvSpPr/>
          <p:nvPr/>
        </p:nvSpPr>
        <p:spPr>
          <a:xfrm>
            <a:off x="457200" y="1847088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00000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P1</a:t>
            </a:r>
            <a:endParaRPr lang="en-US" sz="1600">
              <a:latin typeface="EYInterstate" panose="02000503020000020004" pitchFamily="2" charset="0"/>
            </a:endParaRPr>
          </a:p>
        </p:txBody>
      </p:sp>
      <p:sp>
        <p:nvSpPr>
          <p:cNvPr id="48" name="Text 13">
            <a:extLst>
              <a:ext uri="{FF2B5EF4-FFF2-40B4-BE49-F238E27FC236}">
                <a16:creationId xmlns:a16="http://schemas.microsoft.com/office/drawing/2014/main" id="{41E60497-78F0-492E-FC95-B1FBE9C9FCEB}"/>
              </a:ext>
            </a:extLst>
          </p:cNvPr>
          <p:cNvSpPr/>
          <p:nvPr/>
        </p:nvSpPr>
        <p:spPr>
          <a:xfrm>
            <a:off x="1298448" y="1847088"/>
            <a:ext cx="2130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Disponibilidad</a:t>
            </a: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98,5 y </a:t>
            </a:r>
            <a:r>
              <a:rPr lang="en-US" sz="9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soporte</a:t>
            </a: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100 </a:t>
            </a:r>
            <a:r>
              <a:rPr lang="en-US" sz="9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en</a:t>
            </a: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España; </a:t>
            </a:r>
            <a:r>
              <a:rPr lang="en-US" sz="9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transparencia</a:t>
            </a: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61 y </a:t>
            </a:r>
            <a:r>
              <a:rPr lang="en-US" sz="9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accesibilidad</a:t>
            </a: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54</a:t>
            </a:r>
            <a:endParaRPr lang="en-US" sz="950">
              <a:latin typeface="EYInterstate" panose="02000503020000020004" pitchFamily="2" charset="0"/>
            </a:endParaRPr>
          </a:p>
        </p:txBody>
      </p:sp>
      <p:sp>
        <p:nvSpPr>
          <p:cNvPr id="50" name="Text 14">
            <a:extLst>
              <a:ext uri="{FF2B5EF4-FFF2-40B4-BE49-F238E27FC236}">
                <a16:creationId xmlns:a16="http://schemas.microsoft.com/office/drawing/2014/main" id="{06F318DB-AED0-9047-8778-157279B02950}"/>
              </a:ext>
            </a:extLst>
          </p:cNvPr>
          <p:cNvSpPr/>
          <p:nvPr/>
        </p:nvSpPr>
        <p:spPr>
          <a:xfrm>
            <a:off x="3721608" y="1847088"/>
            <a:ext cx="2130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El </a:t>
            </a:r>
            <a:r>
              <a:rPr lang="en-US" sz="9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ciudadano</a:t>
            </a: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encuentra</a:t>
            </a: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el </a:t>
            </a:r>
            <a:r>
              <a:rPr lang="en-US" sz="9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trámite</a:t>
            </a: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9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pero</a:t>
            </a: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no sabe </a:t>
            </a:r>
            <a:r>
              <a:rPr lang="en-US" sz="9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qué</a:t>
            </a: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pasará</a:t>
            </a: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ni</a:t>
            </a: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todos</a:t>
            </a: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pueden</a:t>
            </a: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usarlo</a:t>
            </a:r>
            <a:endParaRPr lang="en-US" sz="950">
              <a:latin typeface="EYInterstate" panose="02000503020000020004" pitchFamily="2" charset="0"/>
            </a:endParaRPr>
          </a:p>
        </p:txBody>
      </p:sp>
      <p:sp>
        <p:nvSpPr>
          <p:cNvPr id="52" name="Text 15">
            <a:extLst>
              <a:ext uri="{FF2B5EF4-FFF2-40B4-BE49-F238E27FC236}">
                <a16:creationId xmlns:a16="http://schemas.microsoft.com/office/drawing/2014/main" id="{982B3D62-C472-6B02-A7BF-1C07C571A5F7}"/>
              </a:ext>
            </a:extLst>
          </p:cNvPr>
          <p:cNvSpPr/>
          <p:nvPr/>
        </p:nvSpPr>
        <p:spPr>
          <a:xfrm>
            <a:off x="6144768" y="1847088"/>
            <a:ext cx="2450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err="1">
                <a:solidFill>
                  <a:srgbClr val="2E2E38"/>
                </a:solidFill>
                <a:latin typeface="EYInterstate"/>
                <a:ea typeface="Arial" pitchFamily="34" charset="-122"/>
                <a:cs typeface="Arial"/>
              </a:rPr>
              <a:t>Revisar</a:t>
            </a:r>
            <a:r>
              <a:rPr lang="en-US" sz="950" b="1">
                <a:solidFill>
                  <a:srgbClr val="2E2E38"/>
                </a:solidFill>
                <a:latin typeface="EYInterstate"/>
                <a:ea typeface="Arial" pitchFamily="34" charset="-122"/>
                <a:cs typeface="Arial"/>
              </a:rPr>
              <a:t> </a:t>
            </a:r>
            <a:r>
              <a:rPr lang="en-US" sz="950" b="1" err="1">
                <a:solidFill>
                  <a:srgbClr val="2E2E38"/>
                </a:solidFill>
                <a:latin typeface="EYInterstate"/>
                <a:ea typeface="Arial" pitchFamily="34" charset="-122"/>
                <a:cs typeface="Arial"/>
              </a:rPr>
              <a:t>accesibilidad</a:t>
            </a:r>
            <a:r>
              <a:rPr lang="en-US" sz="950" b="1">
                <a:solidFill>
                  <a:srgbClr val="2E2E38"/>
                </a:solidFill>
                <a:latin typeface="EYInterstate"/>
                <a:ea typeface="Arial" pitchFamily="34" charset="-122"/>
                <a:cs typeface="Arial"/>
              </a:rPr>
              <a:t> y </a:t>
            </a:r>
            <a:r>
              <a:rPr lang="en-US" sz="950" b="1" err="1">
                <a:solidFill>
                  <a:srgbClr val="2E2E38"/>
                </a:solidFill>
                <a:latin typeface="EYInterstate"/>
                <a:ea typeface="Arial" pitchFamily="34" charset="-122"/>
                <a:cs typeface="Arial"/>
              </a:rPr>
              <a:t>comunicar</a:t>
            </a:r>
            <a:r>
              <a:rPr lang="en-US" sz="950" b="1">
                <a:solidFill>
                  <a:srgbClr val="2E2E38"/>
                </a:solidFill>
                <a:latin typeface="EYInterstate"/>
                <a:ea typeface="Arial" pitchFamily="34" charset="-122"/>
                <a:cs typeface="Arial"/>
              </a:rPr>
              <a:t> </a:t>
            </a:r>
            <a:r>
              <a:rPr lang="en-US" sz="950" b="1" err="1">
                <a:solidFill>
                  <a:srgbClr val="2E2E38"/>
                </a:solidFill>
                <a:latin typeface="EYInterstate"/>
                <a:ea typeface="Arial" pitchFamily="34" charset="-122"/>
                <a:cs typeface="Arial"/>
              </a:rPr>
              <a:t>plazos</a:t>
            </a:r>
            <a:r>
              <a:rPr lang="en-US" sz="950" b="1">
                <a:solidFill>
                  <a:srgbClr val="2E2E38"/>
                </a:solidFill>
                <a:latin typeface="EYInterstate"/>
                <a:ea typeface="Arial" pitchFamily="34" charset="-122"/>
                <a:cs typeface="Arial"/>
              </a:rPr>
              <a:t> </a:t>
            </a:r>
            <a:r>
              <a:rPr lang="en-US" sz="950" b="1" err="1">
                <a:solidFill>
                  <a:srgbClr val="2E2E38"/>
                </a:solidFill>
                <a:latin typeface="EYInterstate"/>
                <a:ea typeface="Arial" pitchFamily="34" charset="-122"/>
                <a:cs typeface="Arial"/>
              </a:rPr>
              <a:t>en</a:t>
            </a:r>
            <a:r>
              <a:rPr lang="en-US" sz="950" b="1">
                <a:solidFill>
                  <a:srgbClr val="2E2E38"/>
                </a:solidFill>
                <a:latin typeface="EYInterstate"/>
                <a:ea typeface="Arial" pitchFamily="34" charset="-122"/>
                <a:cs typeface="Arial"/>
              </a:rPr>
              <a:t> </a:t>
            </a:r>
            <a:r>
              <a:rPr lang="en-US" sz="950" b="1" err="1">
                <a:solidFill>
                  <a:srgbClr val="2E2E38"/>
                </a:solidFill>
                <a:latin typeface="EYInterstate"/>
                <a:ea typeface="Arial" pitchFamily="34" charset="-122"/>
                <a:cs typeface="Arial"/>
              </a:rPr>
              <a:t>los</a:t>
            </a:r>
            <a:r>
              <a:rPr lang="en-US" sz="950" b="1">
                <a:solidFill>
                  <a:srgbClr val="2E2E38"/>
                </a:solidFill>
                <a:latin typeface="EYInterstate"/>
                <a:ea typeface="Arial" pitchFamily="34" charset="-122"/>
                <a:cs typeface="Arial"/>
              </a:rPr>
              <a:t> </a:t>
            </a:r>
            <a:r>
              <a:rPr lang="en-US" sz="950" b="1" err="1">
                <a:solidFill>
                  <a:srgbClr val="2E2E38"/>
                </a:solidFill>
                <a:latin typeface="EYInterstate"/>
                <a:ea typeface="Arial" pitchFamily="34" charset="-122"/>
                <a:cs typeface="Arial"/>
              </a:rPr>
              <a:t>trámites</a:t>
            </a:r>
            <a:r>
              <a:rPr lang="en-US" sz="950" b="1">
                <a:solidFill>
                  <a:srgbClr val="2E2E38"/>
                </a:solidFill>
                <a:latin typeface="EYInterstate"/>
                <a:ea typeface="Arial" pitchFamily="34" charset="-122"/>
                <a:cs typeface="Arial"/>
              </a:rPr>
              <a:t> de </a:t>
            </a:r>
            <a:r>
              <a:rPr lang="en-US" sz="950" b="1" err="1">
                <a:solidFill>
                  <a:srgbClr val="2E2E38"/>
                </a:solidFill>
                <a:latin typeface="EYInterstate"/>
                <a:ea typeface="Arial" pitchFamily="34" charset="-122"/>
                <a:cs typeface="Arial"/>
              </a:rPr>
              <a:t>más</a:t>
            </a:r>
            <a:r>
              <a:rPr lang="en-US" sz="950" b="1">
                <a:solidFill>
                  <a:srgbClr val="2E2E38"/>
                </a:solidFill>
                <a:latin typeface="EYInterstate"/>
                <a:ea typeface="Arial" pitchFamily="34" charset="-122"/>
                <a:cs typeface="Arial"/>
              </a:rPr>
              <a:t> </a:t>
            </a:r>
            <a:r>
              <a:rPr lang="en-US" sz="950" b="1" err="1">
                <a:solidFill>
                  <a:srgbClr val="2E2E38"/>
                </a:solidFill>
                <a:latin typeface="EYInterstate"/>
                <a:ea typeface="Arial" pitchFamily="34" charset="-122"/>
                <a:cs typeface="Arial"/>
              </a:rPr>
              <a:t>volumen</a:t>
            </a:r>
            <a:endParaRPr lang="en-US" sz="950">
              <a:latin typeface="EYInterstate"/>
              <a:cs typeface="Arial"/>
            </a:endParaRPr>
          </a:p>
        </p:txBody>
      </p:sp>
      <p:sp>
        <p:nvSpPr>
          <p:cNvPr id="54" name="Shape 16">
            <a:extLst>
              <a:ext uri="{FF2B5EF4-FFF2-40B4-BE49-F238E27FC236}">
                <a16:creationId xmlns:a16="http://schemas.microsoft.com/office/drawing/2014/main" id="{A4A64B3C-F733-69E6-1040-70F118E41DC7}"/>
              </a:ext>
            </a:extLst>
          </p:cNvPr>
          <p:cNvSpPr/>
          <p:nvPr/>
        </p:nvSpPr>
        <p:spPr>
          <a:xfrm>
            <a:off x="457200" y="2807208"/>
            <a:ext cx="8229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6" name="Text 17">
            <a:extLst>
              <a:ext uri="{FF2B5EF4-FFF2-40B4-BE49-F238E27FC236}">
                <a16:creationId xmlns:a16="http://schemas.microsoft.com/office/drawing/2014/main" id="{120E8EC3-C3A5-6908-D554-A3D1C70D7C3C}"/>
              </a:ext>
            </a:extLst>
          </p:cNvPr>
          <p:cNvSpPr/>
          <p:nvPr/>
        </p:nvSpPr>
        <p:spPr>
          <a:xfrm>
            <a:off x="457200" y="2807208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00000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P2</a:t>
            </a:r>
            <a:endParaRPr lang="en-US" sz="1600">
              <a:latin typeface="EYInterstate" panose="02000503020000020004" pitchFamily="2" charset="0"/>
            </a:endParaRPr>
          </a:p>
        </p:txBody>
      </p:sp>
      <p:sp>
        <p:nvSpPr>
          <p:cNvPr id="58" name="Text 18">
            <a:extLst>
              <a:ext uri="{FF2B5EF4-FFF2-40B4-BE49-F238E27FC236}">
                <a16:creationId xmlns:a16="http://schemas.microsoft.com/office/drawing/2014/main" id="{53490BB5-13A3-1234-FF0F-F8EBAFD34458}"/>
              </a:ext>
            </a:extLst>
          </p:cNvPr>
          <p:cNvSpPr/>
          <p:nvPr/>
        </p:nvSpPr>
        <p:spPr>
          <a:xfrm>
            <a:off x="1298448" y="2807208"/>
            <a:ext cx="2130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r = 0,78. </a:t>
            </a:r>
            <a:r>
              <a:rPr lang="en-US" sz="9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Mayores</a:t>
            </a: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de 55: 42,8 % con </a:t>
            </a:r>
            <a:r>
              <a:rPr lang="en-US" sz="9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competencias</a:t>
            </a: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. </a:t>
            </a:r>
            <a:r>
              <a:rPr lang="en-US" sz="9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Jóvenes</a:t>
            </a: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: 74,6 % </a:t>
            </a:r>
            <a:r>
              <a:rPr lang="en-US" sz="9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saben</a:t>
            </a: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, 52 % </a:t>
            </a:r>
            <a:r>
              <a:rPr lang="en-US" sz="9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usan</a:t>
            </a:r>
            <a:endParaRPr lang="en-US" sz="950">
              <a:latin typeface="EYInterstate" panose="02000503020000020004" pitchFamily="2" charset="0"/>
            </a:endParaRPr>
          </a:p>
        </p:txBody>
      </p:sp>
      <p:sp>
        <p:nvSpPr>
          <p:cNvPr id="60" name="Text 19">
            <a:extLst>
              <a:ext uri="{FF2B5EF4-FFF2-40B4-BE49-F238E27FC236}">
                <a16:creationId xmlns:a16="http://schemas.microsoft.com/office/drawing/2014/main" id="{F40C1F6B-E4FD-8076-1F37-31E03E52F2BC}"/>
              </a:ext>
            </a:extLst>
          </p:cNvPr>
          <p:cNvSpPr/>
          <p:nvPr/>
        </p:nvSpPr>
        <p:spPr>
          <a:xfrm>
            <a:off x="3721608" y="2807208"/>
            <a:ext cx="2130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Los </a:t>
            </a:r>
            <a:r>
              <a:rPr lang="en-US" sz="9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mayores</a:t>
            </a: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necesitan</a:t>
            </a: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capacidad</a:t>
            </a: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; </a:t>
            </a:r>
            <a:r>
              <a:rPr lang="en-US" sz="9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los</a:t>
            </a: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jóvenes</a:t>
            </a: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, un </a:t>
            </a:r>
            <a:r>
              <a:rPr lang="en-US" sz="9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motivo</a:t>
            </a: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para </a:t>
            </a:r>
            <a:r>
              <a:rPr lang="en-US" sz="9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usarla</a:t>
            </a:r>
            <a:endParaRPr lang="en-US" sz="950">
              <a:latin typeface="EYInterstate" panose="02000503020000020004" pitchFamily="2" charset="0"/>
            </a:endParaRPr>
          </a:p>
        </p:txBody>
      </p:sp>
      <p:sp>
        <p:nvSpPr>
          <p:cNvPr id="62" name="Text 20">
            <a:extLst>
              <a:ext uri="{FF2B5EF4-FFF2-40B4-BE49-F238E27FC236}">
                <a16:creationId xmlns:a16="http://schemas.microsoft.com/office/drawing/2014/main" id="{4F009494-B372-37D4-3924-772A33D2879E}"/>
              </a:ext>
            </a:extLst>
          </p:cNvPr>
          <p:cNvSpPr/>
          <p:nvPr/>
        </p:nvSpPr>
        <p:spPr>
          <a:xfrm>
            <a:off x="6144768" y="2807208"/>
            <a:ext cx="2450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Formación</a:t>
            </a:r>
            <a:r>
              <a:rPr lang="en-US" sz="950" b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y </a:t>
            </a:r>
            <a:r>
              <a:rPr lang="en-US" sz="950" b="1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acompañamiento</a:t>
            </a:r>
            <a:r>
              <a:rPr lang="en-US" sz="950" b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para +55; </a:t>
            </a:r>
            <a:r>
              <a:rPr lang="en-US" sz="950" b="1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servicios</a:t>
            </a:r>
            <a:r>
              <a:rPr lang="en-US" sz="950" b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50" b="1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proactivos</a:t>
            </a:r>
            <a:r>
              <a:rPr lang="en-US" sz="950" b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y </a:t>
            </a:r>
            <a:r>
              <a:rPr lang="en-US" sz="950" b="1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móviles</a:t>
            </a:r>
            <a:r>
              <a:rPr lang="en-US" sz="950" b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para </a:t>
            </a:r>
            <a:r>
              <a:rPr lang="en-US" sz="950" b="1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jóvenes</a:t>
            </a:r>
            <a:endParaRPr lang="en-US" sz="950">
              <a:latin typeface="EYInterstate" panose="02000503020000020004" pitchFamily="2" charset="0"/>
            </a:endParaRPr>
          </a:p>
        </p:txBody>
      </p:sp>
      <p:sp>
        <p:nvSpPr>
          <p:cNvPr id="64" name="Shape 21">
            <a:extLst>
              <a:ext uri="{FF2B5EF4-FFF2-40B4-BE49-F238E27FC236}">
                <a16:creationId xmlns:a16="http://schemas.microsoft.com/office/drawing/2014/main" id="{BBF00513-0D11-037B-7F15-0E1DCC080ADB}"/>
              </a:ext>
            </a:extLst>
          </p:cNvPr>
          <p:cNvSpPr/>
          <p:nvPr/>
        </p:nvSpPr>
        <p:spPr>
          <a:xfrm>
            <a:off x="457200" y="3767328"/>
            <a:ext cx="8229600" cy="868680"/>
          </a:xfrm>
          <a:prstGeom prst="rect">
            <a:avLst/>
          </a:prstGeom>
          <a:solidFill>
            <a:srgbClr val="F6F6FA"/>
          </a:solidFill>
          <a:ln w="12700">
            <a:solidFill>
              <a:srgbClr val="F6F6FA"/>
            </a:solidFill>
            <a:prstDash val="solid"/>
          </a:ln>
        </p:spPr>
        <p:txBody>
          <a:bodyPr/>
          <a:lstStyle/>
          <a:p>
            <a:endParaRPr lang="es-ES">
              <a:latin typeface="EYInterstate" panose="02000503020000020004" pitchFamily="2" charset="0"/>
            </a:endParaRPr>
          </a:p>
        </p:txBody>
      </p:sp>
      <p:sp>
        <p:nvSpPr>
          <p:cNvPr id="66" name="Text 22">
            <a:extLst>
              <a:ext uri="{FF2B5EF4-FFF2-40B4-BE49-F238E27FC236}">
                <a16:creationId xmlns:a16="http://schemas.microsoft.com/office/drawing/2014/main" id="{AA87173F-8966-BF01-20FE-FE490D22DA24}"/>
              </a:ext>
            </a:extLst>
          </p:cNvPr>
          <p:cNvSpPr/>
          <p:nvPr/>
        </p:nvSpPr>
        <p:spPr>
          <a:xfrm>
            <a:off x="457200" y="3767328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00000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P3</a:t>
            </a:r>
            <a:endParaRPr lang="en-US" sz="1600">
              <a:latin typeface="EYInterstate" panose="02000503020000020004" pitchFamily="2" charset="0"/>
            </a:endParaRPr>
          </a:p>
        </p:txBody>
      </p:sp>
      <p:sp>
        <p:nvSpPr>
          <p:cNvPr id="68" name="Text 23">
            <a:extLst>
              <a:ext uri="{FF2B5EF4-FFF2-40B4-BE49-F238E27FC236}">
                <a16:creationId xmlns:a16="http://schemas.microsoft.com/office/drawing/2014/main" id="{808AA589-C307-F5E9-8015-255684E6269C}"/>
              </a:ext>
            </a:extLst>
          </p:cNvPr>
          <p:cNvSpPr/>
          <p:nvPr/>
        </p:nvSpPr>
        <p:spPr>
          <a:xfrm>
            <a:off x="1298448" y="3767328"/>
            <a:ext cx="2130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Calidad–</a:t>
            </a:r>
            <a:r>
              <a:rPr lang="en-US" sz="9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uso</a:t>
            </a: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r = 0,65. Malta: </a:t>
            </a:r>
            <a:r>
              <a:rPr lang="en-US" sz="9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plataforma</a:t>
            </a: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92, </a:t>
            </a:r>
            <a:r>
              <a:rPr lang="en-US" sz="9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uso</a:t>
            </a: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≈65 %</a:t>
            </a:r>
            <a:endParaRPr lang="en-US" sz="950">
              <a:latin typeface="EYInterstate" panose="02000503020000020004" pitchFamily="2" charset="0"/>
            </a:endParaRPr>
          </a:p>
        </p:txBody>
      </p:sp>
      <p:sp>
        <p:nvSpPr>
          <p:cNvPr id="70" name="Text 24">
            <a:extLst>
              <a:ext uri="{FF2B5EF4-FFF2-40B4-BE49-F238E27FC236}">
                <a16:creationId xmlns:a16="http://schemas.microsoft.com/office/drawing/2014/main" id="{808ADC69-2F2E-8A73-A960-26EFADAD30EA}"/>
              </a:ext>
            </a:extLst>
          </p:cNvPr>
          <p:cNvSpPr/>
          <p:nvPr/>
        </p:nvSpPr>
        <p:spPr>
          <a:xfrm>
            <a:off x="3721608" y="3767328"/>
            <a:ext cx="2130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Mejorar</a:t>
            </a: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la </a:t>
            </a:r>
            <a:r>
              <a:rPr lang="en-US" sz="9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plataforma</a:t>
            </a: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ayuda</a:t>
            </a: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9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pero</a:t>
            </a: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no </a:t>
            </a:r>
            <a:r>
              <a:rPr lang="en-US" sz="9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garantiza</a:t>
            </a: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adopción</a:t>
            </a:r>
            <a:endParaRPr lang="en-US" sz="950">
              <a:latin typeface="EYInterstate" panose="02000503020000020004" pitchFamily="2" charset="0"/>
            </a:endParaRPr>
          </a:p>
        </p:txBody>
      </p:sp>
      <p:sp>
        <p:nvSpPr>
          <p:cNvPr id="72" name="Text 25">
            <a:extLst>
              <a:ext uri="{FF2B5EF4-FFF2-40B4-BE49-F238E27FC236}">
                <a16:creationId xmlns:a16="http://schemas.microsoft.com/office/drawing/2014/main" id="{8EA14F8C-05B1-C794-67E4-9A03AC0E49B8}"/>
              </a:ext>
            </a:extLst>
          </p:cNvPr>
          <p:cNvSpPr/>
          <p:nvPr/>
        </p:nvSpPr>
        <p:spPr>
          <a:xfrm>
            <a:off x="6144768" y="3767328"/>
            <a:ext cx="2450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Acompañar</a:t>
            </a:r>
            <a:r>
              <a:rPr lang="en-US" sz="950" b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50" b="1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cada</a:t>
            </a:r>
            <a:r>
              <a:rPr lang="en-US" sz="950" b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50" b="1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inversión</a:t>
            </a:r>
            <a:r>
              <a:rPr lang="en-US" sz="950" b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50" b="1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tecnológica</a:t>
            </a:r>
            <a:r>
              <a:rPr lang="en-US" sz="950" b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con un plan de </a:t>
            </a:r>
            <a:r>
              <a:rPr lang="en-US" sz="950" b="1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adopción</a:t>
            </a:r>
            <a:r>
              <a:rPr lang="en-US" sz="950" b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y </a:t>
            </a:r>
            <a:r>
              <a:rPr lang="en-US" sz="950" b="1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capacitación</a:t>
            </a:r>
            <a:endParaRPr lang="en-US" sz="950">
              <a:latin typeface="EYInterstate" panose="02000503020000020004" pitchFamily="2" charset="0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E2081AEB-C28F-278A-01B5-D212E85E45D0}"/>
              </a:ext>
            </a:extLst>
          </p:cNvPr>
          <p:cNvSpPr/>
          <p:nvPr/>
        </p:nvSpPr>
        <p:spPr>
          <a:xfrm>
            <a:off x="6035040" y="1847088"/>
            <a:ext cx="2651760" cy="2788920"/>
          </a:xfrm>
          <a:prstGeom prst="rect">
            <a:avLst/>
          </a:prstGeom>
          <a:noFill/>
          <a:ln w="19050">
            <a:solidFill>
              <a:srgbClr val="FFE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6" name="Text 4">
            <a:extLst>
              <a:ext uri="{FF2B5EF4-FFF2-40B4-BE49-F238E27FC236}">
                <a16:creationId xmlns:a16="http://schemas.microsoft.com/office/drawing/2014/main" id="{40556E67-55B0-267E-9034-F193459A7AC8}"/>
              </a:ext>
            </a:extLst>
          </p:cNvPr>
          <p:cNvSpPr/>
          <p:nvPr/>
        </p:nvSpPr>
        <p:spPr>
          <a:xfrm>
            <a:off x="457200" y="47274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>
                <a:solidFill>
                  <a:srgbClr val="C4C4CD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Fuentes: Eurostat 2025; Comisión Europea, eGovernment Benchmark 2025. </a:t>
            </a:r>
            <a:r>
              <a:rPr lang="en-US" sz="700" err="1">
                <a:solidFill>
                  <a:srgbClr val="C4C4CD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Correlaciones</a:t>
            </a:r>
            <a:r>
              <a:rPr lang="en-US" sz="700">
                <a:solidFill>
                  <a:srgbClr val="C4C4CD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entre 27 </a:t>
            </a:r>
            <a:r>
              <a:rPr lang="en-US" sz="700" err="1">
                <a:solidFill>
                  <a:srgbClr val="C4C4CD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países</a:t>
            </a:r>
            <a:r>
              <a:rPr lang="en-US" sz="700">
                <a:solidFill>
                  <a:srgbClr val="C4C4CD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: indican </a:t>
            </a:r>
            <a:r>
              <a:rPr lang="en-US" sz="700" err="1">
                <a:solidFill>
                  <a:srgbClr val="C4C4CD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relación</a:t>
            </a:r>
            <a:r>
              <a:rPr lang="en-US" sz="700">
                <a:solidFill>
                  <a:srgbClr val="C4C4CD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, no </a:t>
            </a:r>
            <a:r>
              <a:rPr lang="en-US" sz="700" err="1">
                <a:solidFill>
                  <a:srgbClr val="C4C4CD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causalidad</a:t>
            </a:r>
            <a:endParaRPr lang="en-US" sz="700">
              <a:latin typeface="EYInterstate" panose="0200050302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13419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84680-F466-E07F-0906-C53CE0C5F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27CEA4C-4147-9046-C06C-DB0363B7F46E}"/>
              </a:ext>
            </a:extLst>
          </p:cNvPr>
          <p:cNvSpPr/>
          <p:nvPr/>
        </p:nvSpPr>
        <p:spPr>
          <a:xfrm>
            <a:off x="457200" y="292608"/>
            <a:ext cx="128016" cy="128016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CB60A85-8D0A-8F90-4540-969CA7A90EA9}"/>
              </a:ext>
            </a:extLst>
          </p:cNvPr>
          <p:cNvSpPr/>
          <p:nvPr/>
        </p:nvSpPr>
        <p:spPr>
          <a:xfrm>
            <a:off x="658368" y="24688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ANEXO · POWER BI</a:t>
            </a:r>
            <a:endParaRPr lang="en-US" sz="850">
              <a:latin typeface="EYInterstate" panose="02000503020000020004" pitchFamily="2" charset="0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60E8287-DAF2-997D-C075-7CA35F59FF84}"/>
              </a:ext>
            </a:extLst>
          </p:cNvPr>
          <p:cNvSpPr/>
          <p:nvPr/>
        </p:nvSpPr>
        <p:spPr>
          <a:xfrm>
            <a:off x="457200" y="4681728"/>
            <a:ext cx="8229600" cy="0"/>
          </a:xfrm>
          <a:prstGeom prst="line">
            <a:avLst/>
          </a:prstGeom>
          <a:noFill/>
          <a:ln w="6350">
            <a:solidFill>
              <a:srgbClr val="C4C4C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E18EF83-37C6-A9DB-0F10-47D3D826F3CC}"/>
              </a:ext>
            </a:extLst>
          </p:cNvPr>
          <p:cNvSpPr/>
          <p:nvPr/>
        </p:nvSpPr>
        <p:spPr>
          <a:xfrm>
            <a:off x="7772400" y="47274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1A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</a:t>
            </a:r>
            <a:r>
              <a:rPr lang="en-US" sz="800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8</a:t>
            </a:r>
            <a:endParaRPr lang="en-US" sz="800"/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10" name="Add-in 9">
                <a:extLst>
                  <a:ext uri="{FF2B5EF4-FFF2-40B4-BE49-F238E27FC236}">
                    <a16:creationId xmlns:a16="http://schemas.microsoft.com/office/drawing/2014/main" id="{29305A79-4686-5753-F880-69C54645E10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94745271"/>
                  </p:ext>
                </p:extLst>
              </p:nvPr>
            </p:nvGraphicFramePr>
            <p:xfrm>
              <a:off x="457201" y="609600"/>
              <a:ext cx="8229599" cy="4117847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10" name="Add-in 9">
                <a:extLst>
                  <a:ext uri="{FF2B5EF4-FFF2-40B4-BE49-F238E27FC236}">
                    <a16:creationId xmlns:a16="http://schemas.microsoft.com/office/drawing/2014/main" id="{29305A79-4686-5753-F880-69C54645E10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7201" y="609600"/>
                <a:ext cx="8229599" cy="411784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237783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5DB85-1667-3E1C-8E32-FD340A76B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785C5B6-4610-89CF-1C6B-B25A6B9D69A4}"/>
              </a:ext>
            </a:extLst>
          </p:cNvPr>
          <p:cNvSpPr/>
          <p:nvPr/>
        </p:nvSpPr>
        <p:spPr>
          <a:xfrm>
            <a:off x="457200" y="292608"/>
            <a:ext cx="128016" cy="128016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C8FE706-A949-23E6-97D1-A8E778EBBFE5}"/>
              </a:ext>
            </a:extLst>
          </p:cNvPr>
          <p:cNvSpPr/>
          <p:nvPr/>
        </p:nvSpPr>
        <p:spPr>
          <a:xfrm>
            <a:off x="658368" y="24688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ANEXO · POWER BI</a:t>
            </a:r>
            <a:endParaRPr lang="en-US" sz="850">
              <a:latin typeface="EYInterstate" panose="02000503020000020004" pitchFamily="2" charset="0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A41965E-AE09-DC39-D93E-54A308D9BFE1}"/>
              </a:ext>
            </a:extLst>
          </p:cNvPr>
          <p:cNvSpPr/>
          <p:nvPr/>
        </p:nvSpPr>
        <p:spPr>
          <a:xfrm>
            <a:off x="457200" y="4681728"/>
            <a:ext cx="8229600" cy="0"/>
          </a:xfrm>
          <a:prstGeom prst="line">
            <a:avLst/>
          </a:prstGeom>
          <a:noFill/>
          <a:ln w="6350">
            <a:solidFill>
              <a:srgbClr val="C4C4C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920CAEA-C276-0448-8242-CDA16FBE2C98}"/>
              </a:ext>
            </a:extLst>
          </p:cNvPr>
          <p:cNvSpPr/>
          <p:nvPr/>
        </p:nvSpPr>
        <p:spPr>
          <a:xfrm>
            <a:off x="7772400" y="47274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1A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</a:t>
            </a:r>
            <a:r>
              <a:rPr lang="en-US" sz="800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8</a:t>
            </a:r>
            <a:endParaRPr lang="en-US" sz="800"/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6" name="Add-in 5">
                <a:extLst>
                  <a:ext uri="{FF2B5EF4-FFF2-40B4-BE49-F238E27FC236}">
                    <a16:creationId xmlns:a16="http://schemas.microsoft.com/office/drawing/2014/main" id="{E5E91D2A-19A3-2702-2DBC-7BB92524B02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92324450"/>
                  </p:ext>
                </p:extLst>
              </p:nvPr>
            </p:nvGraphicFramePr>
            <p:xfrm>
              <a:off x="0" y="-378883"/>
              <a:ext cx="9525000" cy="5715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6" name="Add-in 5">
                <a:extLst>
                  <a:ext uri="{FF2B5EF4-FFF2-40B4-BE49-F238E27FC236}">
                    <a16:creationId xmlns:a16="http://schemas.microsoft.com/office/drawing/2014/main" id="{E5E91D2A-19A3-2702-2DBC-7BB92524B02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0" y="-378883"/>
                <a:ext cx="9525000" cy="5715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7095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69793-3AB1-AB45-9381-4ED550ED7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AAC18AC-83F9-46C7-7E3B-8A55934AC418}"/>
              </a:ext>
            </a:extLst>
          </p:cNvPr>
          <p:cNvSpPr/>
          <p:nvPr/>
        </p:nvSpPr>
        <p:spPr>
          <a:xfrm>
            <a:off x="457200" y="292608"/>
            <a:ext cx="128016" cy="128016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376952C-DADC-B7EC-9D41-F15A5E1A44D0}"/>
              </a:ext>
            </a:extLst>
          </p:cNvPr>
          <p:cNvSpPr/>
          <p:nvPr/>
        </p:nvSpPr>
        <p:spPr>
          <a:xfrm>
            <a:off x="658368" y="24688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ANEXO · POWER BI</a:t>
            </a:r>
            <a:endParaRPr lang="en-US" sz="850">
              <a:latin typeface="EYInterstate" panose="02000503020000020004" pitchFamily="2" charset="0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EC188AE-3F59-FF09-994D-26D8099DC1EA}"/>
              </a:ext>
            </a:extLst>
          </p:cNvPr>
          <p:cNvSpPr/>
          <p:nvPr/>
        </p:nvSpPr>
        <p:spPr>
          <a:xfrm>
            <a:off x="457200" y="4681728"/>
            <a:ext cx="8229600" cy="0"/>
          </a:xfrm>
          <a:prstGeom prst="line">
            <a:avLst/>
          </a:prstGeom>
          <a:noFill/>
          <a:ln w="6350">
            <a:solidFill>
              <a:srgbClr val="C4C4C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EFFD394-17C4-27DD-B768-5709A3375308}"/>
              </a:ext>
            </a:extLst>
          </p:cNvPr>
          <p:cNvSpPr/>
          <p:nvPr/>
        </p:nvSpPr>
        <p:spPr>
          <a:xfrm>
            <a:off x="7772400" y="47274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1A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</a:t>
            </a:r>
            <a:r>
              <a:rPr lang="en-US" sz="800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8</a:t>
            </a:r>
            <a:endParaRPr lang="en-US" sz="800"/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Add-in 3">
                <a:extLst>
                  <a:ext uri="{FF2B5EF4-FFF2-40B4-BE49-F238E27FC236}">
                    <a16:creationId xmlns:a16="http://schemas.microsoft.com/office/drawing/2014/main" id="{686B857E-A89E-755F-4D20-7FFE1249DD1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57200" y="589789"/>
              <a:ext cx="8229600" cy="4137659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4" name="Add-in 3">
                <a:extLst>
                  <a:ext uri="{FF2B5EF4-FFF2-40B4-BE49-F238E27FC236}">
                    <a16:creationId xmlns:a16="http://schemas.microsoft.com/office/drawing/2014/main" id="{686B857E-A89E-755F-4D20-7FFE1249DD1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7200" y="589789"/>
                <a:ext cx="8229600" cy="413765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832226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E02DC-9633-6F24-B760-5F9B5D4F8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E5584D4-C2E0-D92E-45EE-5CD73E15CC5C}"/>
              </a:ext>
            </a:extLst>
          </p:cNvPr>
          <p:cNvSpPr/>
          <p:nvPr/>
        </p:nvSpPr>
        <p:spPr>
          <a:xfrm>
            <a:off x="457200" y="292608"/>
            <a:ext cx="128016" cy="128016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CD6A17C-EF1E-E872-2B5A-A87395D58AEB}"/>
              </a:ext>
            </a:extLst>
          </p:cNvPr>
          <p:cNvSpPr/>
          <p:nvPr/>
        </p:nvSpPr>
        <p:spPr>
          <a:xfrm>
            <a:off x="658368" y="24688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ANEXO · MEDIDAS DEL PANEL</a:t>
            </a:r>
            <a:endParaRPr lang="en-US" sz="850">
              <a:latin typeface="EYInterstate" panose="02000503020000020004" pitchFamily="2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9A2763F-696A-1E39-3668-0861EF02A969}"/>
              </a:ext>
            </a:extLst>
          </p:cNvPr>
          <p:cNvSpPr/>
          <p:nvPr/>
        </p:nvSpPr>
        <p:spPr>
          <a:xfrm>
            <a:off x="457200" y="548640"/>
            <a:ext cx="8229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err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Medidas</a:t>
            </a:r>
            <a:r>
              <a:rPr lang="en-US" sz="2000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DAX del Power BI y </a:t>
            </a:r>
            <a:r>
              <a:rPr lang="en-US" sz="2000" err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cómo</a:t>
            </a:r>
            <a:r>
              <a:rPr lang="en-US" sz="2000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err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explicarlas</a:t>
            </a:r>
            <a:endParaRPr lang="en-US" sz="2000">
              <a:latin typeface="EYInterstate" panose="02000503020000020004" pitchFamily="2" charset="0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E65D8CE-BE81-0996-2E57-1B0605053AE4}"/>
              </a:ext>
            </a:extLst>
          </p:cNvPr>
          <p:cNvSpPr/>
          <p:nvPr/>
        </p:nvSpPr>
        <p:spPr>
          <a:xfrm>
            <a:off x="457200" y="4681728"/>
            <a:ext cx="8229600" cy="0"/>
          </a:xfrm>
          <a:prstGeom prst="line">
            <a:avLst/>
          </a:prstGeom>
          <a:noFill/>
          <a:ln w="6350">
            <a:solidFill>
              <a:srgbClr val="C4C4C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9B8057F-622E-1B84-7BC9-6BF6A92FCBB3}"/>
              </a:ext>
            </a:extLst>
          </p:cNvPr>
          <p:cNvSpPr/>
          <p:nvPr/>
        </p:nvSpPr>
        <p:spPr>
          <a:xfrm>
            <a:off x="457200" y="47274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Correlación: </a:t>
            </a:r>
            <a:r>
              <a:rPr lang="en-US" sz="700" err="1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coeficiente</a:t>
            </a:r>
            <a:r>
              <a:rPr lang="en-US" sz="700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Pearson </a:t>
            </a:r>
            <a:r>
              <a:rPr lang="en-US" sz="700" err="1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calculado</a:t>
            </a:r>
            <a:r>
              <a:rPr lang="en-US" sz="700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700" err="1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país</a:t>
            </a:r>
            <a:r>
              <a:rPr lang="en-US" sz="700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</a:t>
            </a:r>
            <a:r>
              <a:rPr lang="en-US" sz="700" err="1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país</a:t>
            </a:r>
            <a:r>
              <a:rPr lang="en-US" sz="700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(27 puntos). &gt; 0,7 </a:t>
            </a:r>
            <a:r>
              <a:rPr lang="en-US" sz="700" err="1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fuerte</a:t>
            </a:r>
            <a:r>
              <a:rPr lang="en-US" sz="700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0,5-0,7 </a:t>
            </a:r>
            <a:r>
              <a:rPr lang="en-US" sz="700" err="1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moderada</a:t>
            </a:r>
            <a:r>
              <a:rPr lang="en-US" sz="700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7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FFE708E-D333-0A82-C11D-7209807BFEDA}"/>
              </a:ext>
            </a:extLst>
          </p:cNvPr>
          <p:cNvSpPr/>
          <p:nvPr/>
        </p:nvSpPr>
        <p:spPr>
          <a:xfrm>
            <a:off x="7772400" y="47274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1A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</a:t>
            </a:r>
            <a:r>
              <a:rPr lang="en-US" sz="800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8</a:t>
            </a:r>
            <a:endParaRPr lang="en-US" sz="800"/>
          </a:p>
        </p:txBody>
      </p:sp>
      <p:graphicFrame>
        <p:nvGraphicFramePr>
          <p:cNvPr id="9" name="Table 0">
            <a:extLst>
              <a:ext uri="{FF2B5EF4-FFF2-40B4-BE49-F238E27FC236}">
                <a16:creationId xmlns:a16="http://schemas.microsoft.com/office/drawing/2014/main" id="{FDFC9C01-3930-B503-3B8E-668430B07E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8558507"/>
              </p:ext>
            </p:extLst>
          </p:nvPr>
        </p:nvGraphicFramePr>
        <p:xfrm>
          <a:off x="457200" y="1234440"/>
          <a:ext cx="8229600" cy="292608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EYInterstate" panose="02000503020000020004" pitchFamily="2" charset="0"/>
                          <a:ea typeface="Arial" pitchFamily="34" charset="-122"/>
                          <a:cs typeface="Arial" pitchFamily="34" charset="-120"/>
                        </a:rPr>
                        <a:t>Medida</a:t>
                      </a:r>
                      <a:endParaRPr lang="en-US" sz="900">
                        <a:latin typeface="EYInterstate" panose="02000503020000020004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EYInterstate" panose="02000503020000020004" pitchFamily="2" charset="0"/>
                          <a:ea typeface="Arial" pitchFamily="34" charset="-122"/>
                          <a:cs typeface="Arial" pitchFamily="34" charset="-120"/>
                        </a:rPr>
                        <a:t>Valor</a:t>
                      </a:r>
                      <a:endParaRPr lang="en-US" sz="900">
                        <a:latin typeface="EYInterstate" panose="02000503020000020004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EYInterstate" panose="02000503020000020004" pitchFamily="2" charset="0"/>
                          <a:ea typeface="Arial" pitchFamily="34" charset="-122"/>
                          <a:cs typeface="Arial" pitchFamily="34" charset="-120"/>
                        </a:rPr>
                        <a:t>Qué es</a:t>
                      </a:r>
                      <a:endParaRPr lang="en-US" sz="900">
                        <a:latin typeface="EYInterstate" panose="02000503020000020004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1A1A24"/>
                          </a:solidFill>
                          <a:latin typeface="EYInterstate" panose="02000503020000020004" pitchFamily="2" charset="0"/>
                          <a:ea typeface="Arial" pitchFamily="34" charset="-122"/>
                          <a:cs typeface="Arial" pitchFamily="34" charset="-120"/>
                        </a:rPr>
                        <a:t>Correlación competencias-uso</a:t>
                      </a:r>
                      <a:endParaRPr lang="en-US" sz="900">
                        <a:latin typeface="EYInterstate" panose="02000503020000020004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A1A24"/>
                          </a:solidFill>
                          <a:latin typeface="EYInterstate" panose="02000503020000020004" pitchFamily="2" charset="0"/>
                          <a:ea typeface="Arial" pitchFamily="34" charset="-122"/>
                          <a:cs typeface="Arial" pitchFamily="34" charset="-120"/>
                        </a:rPr>
                        <a:t>0,78</a:t>
                      </a:r>
                      <a:endParaRPr lang="en-US" sz="900">
                        <a:latin typeface="EYInterstate" panose="02000503020000020004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A1A24"/>
                          </a:solidFill>
                          <a:latin typeface="EYInterstate" panose="02000503020000020004" pitchFamily="2" charset="0"/>
                          <a:ea typeface="Arial" pitchFamily="34" charset="-122"/>
                          <a:cs typeface="Arial" pitchFamily="34" charset="-120"/>
                        </a:rPr>
                        <a:t>Pearson entre % competencias y % uso (−1 a 1)</a:t>
                      </a:r>
                      <a:endParaRPr lang="en-US" sz="900">
                        <a:latin typeface="EYInterstate" panose="02000503020000020004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1A1A24"/>
                          </a:solidFill>
                          <a:latin typeface="EYInterstate" panose="02000503020000020004" pitchFamily="2" charset="0"/>
                          <a:ea typeface="Arial" pitchFamily="34" charset="-122"/>
                          <a:cs typeface="Arial" pitchFamily="34" charset="-120"/>
                        </a:rPr>
                        <a:t>Correlación calidad-uso</a:t>
                      </a:r>
                      <a:endParaRPr lang="en-US" sz="900">
                        <a:latin typeface="EYInterstate" panose="02000503020000020004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A1A24"/>
                          </a:solidFill>
                          <a:latin typeface="EYInterstate" panose="02000503020000020004" pitchFamily="2" charset="0"/>
                          <a:ea typeface="Arial" pitchFamily="34" charset="-122"/>
                          <a:cs typeface="Arial" pitchFamily="34" charset="-120"/>
                        </a:rPr>
                        <a:t>0,65</a:t>
                      </a:r>
                      <a:endParaRPr lang="en-US" sz="900">
                        <a:latin typeface="EYInterstate" panose="02000503020000020004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A1A24"/>
                          </a:solidFill>
                          <a:latin typeface="EYInterstate" panose="02000503020000020004" pitchFamily="2" charset="0"/>
                          <a:ea typeface="Arial" pitchFamily="34" charset="-122"/>
                          <a:cs typeface="Arial" pitchFamily="34" charset="-120"/>
                        </a:rPr>
                        <a:t>Pearson entre Overall Score y % uso</a:t>
                      </a:r>
                      <a:endParaRPr lang="en-US" sz="900">
                        <a:latin typeface="EYInterstate" panose="02000503020000020004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1A1A24"/>
                          </a:solidFill>
                          <a:latin typeface="EYInterstate" panose="02000503020000020004" pitchFamily="2" charset="0"/>
                          <a:ea typeface="Arial" pitchFamily="34" charset="-122"/>
                          <a:cs typeface="Arial" pitchFamily="34" charset="-120"/>
                        </a:rPr>
                        <a:t>Uso</a:t>
                      </a:r>
                      <a:endParaRPr lang="en-US" sz="900">
                        <a:latin typeface="EYInterstate" panose="02000503020000020004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A1A24"/>
                          </a:solidFill>
                          <a:latin typeface="EYInterstate" panose="02000503020000020004" pitchFamily="2" charset="0"/>
                          <a:ea typeface="Arial" pitchFamily="34" charset="-122"/>
                          <a:cs typeface="Arial" pitchFamily="34" charset="-120"/>
                        </a:rPr>
                        <a:t>57,7 %</a:t>
                      </a:r>
                      <a:endParaRPr lang="en-US" sz="900">
                        <a:latin typeface="EYInterstate" panose="02000503020000020004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A1A24"/>
                          </a:solidFill>
                          <a:latin typeface="EYInterstate" panose="02000503020000020004" pitchFamily="2" charset="0"/>
                          <a:ea typeface="Arial" pitchFamily="34" charset="-122"/>
                          <a:cs typeface="Arial" pitchFamily="34" charset="-120"/>
                        </a:rPr>
                        <a:t>Media UE de personas que usan la Administración online</a:t>
                      </a:r>
                      <a:endParaRPr lang="en-US" sz="900">
                        <a:latin typeface="EYInterstate" panose="02000503020000020004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1A1A24"/>
                          </a:solidFill>
                          <a:latin typeface="EYInterstate" panose="02000503020000020004" pitchFamily="2" charset="0"/>
                          <a:ea typeface="Arial" pitchFamily="34" charset="-122"/>
                          <a:cs typeface="Arial" pitchFamily="34" charset="-120"/>
                        </a:rPr>
                        <a:t>Competencia</a:t>
                      </a:r>
                      <a:endParaRPr lang="en-US" sz="900">
                        <a:latin typeface="EYInterstate" panose="02000503020000020004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A1A24"/>
                          </a:solidFill>
                          <a:latin typeface="EYInterstate" panose="02000503020000020004" pitchFamily="2" charset="0"/>
                          <a:ea typeface="Arial" pitchFamily="34" charset="-122"/>
                          <a:cs typeface="Arial" pitchFamily="34" charset="-120"/>
                        </a:rPr>
                        <a:t>60,4 %</a:t>
                      </a:r>
                      <a:endParaRPr lang="en-US" sz="900">
                        <a:latin typeface="EYInterstate" panose="02000503020000020004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A1A24"/>
                          </a:solidFill>
                          <a:latin typeface="EYInterstate" panose="02000503020000020004" pitchFamily="2" charset="0"/>
                          <a:ea typeface="Arial" pitchFamily="34" charset="-122"/>
                          <a:cs typeface="Arial" pitchFamily="34" charset="-120"/>
                        </a:rPr>
                        <a:t>Media UE con competencias básicas o superiores</a:t>
                      </a:r>
                      <a:endParaRPr lang="en-US" sz="900">
                        <a:latin typeface="EYInterstate" panose="02000503020000020004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1A1A24"/>
                          </a:solidFill>
                          <a:latin typeface="EYInterstate" panose="02000503020000020004" pitchFamily="2" charset="0"/>
                          <a:ea typeface="Arial" pitchFamily="34" charset="-122"/>
                          <a:cs typeface="Arial" pitchFamily="34" charset="-120"/>
                        </a:rPr>
                        <a:t>Puntuación media calidad</a:t>
                      </a:r>
                      <a:endParaRPr lang="en-US" sz="900">
                        <a:latin typeface="EYInterstate" panose="02000503020000020004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A1A24"/>
                          </a:solidFill>
                          <a:latin typeface="EYInterstate" panose="02000503020000020004" pitchFamily="2" charset="0"/>
                          <a:ea typeface="Arial" pitchFamily="34" charset="-122"/>
                          <a:cs typeface="Arial" pitchFamily="34" charset="-120"/>
                        </a:rPr>
                        <a:t>74,71</a:t>
                      </a:r>
                      <a:endParaRPr lang="en-US" sz="900">
                        <a:latin typeface="EYInterstate" panose="02000503020000020004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A1A24"/>
                          </a:solidFill>
                          <a:latin typeface="EYInterstate" panose="02000503020000020004" pitchFamily="2" charset="0"/>
                          <a:ea typeface="Arial" pitchFamily="34" charset="-122"/>
                          <a:cs typeface="Arial" pitchFamily="34" charset="-120"/>
                        </a:rPr>
                        <a:t>Media UE del Overall Score (0-100)</a:t>
                      </a:r>
                      <a:endParaRPr lang="en-US" sz="900">
                        <a:latin typeface="EYInterstate" panose="02000503020000020004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1A1A24"/>
                          </a:solidFill>
                          <a:latin typeface="EYInterstate" panose="02000503020000020004" pitchFamily="2" charset="0"/>
                          <a:ea typeface="Arial" pitchFamily="34" charset="-122"/>
                          <a:cs typeface="Arial" pitchFamily="34" charset="-120"/>
                        </a:rPr>
                        <a:t>Brecha</a:t>
                      </a:r>
                      <a:endParaRPr lang="en-US" sz="900">
                        <a:latin typeface="EYInterstate" panose="02000503020000020004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A1A24"/>
                          </a:solidFill>
                          <a:latin typeface="EYInterstate" panose="02000503020000020004" pitchFamily="2" charset="0"/>
                          <a:ea typeface="Arial" pitchFamily="34" charset="-122"/>
                          <a:cs typeface="Arial" pitchFamily="34" charset="-120"/>
                        </a:rPr>
                        <a:t>pp</a:t>
                      </a:r>
                      <a:endParaRPr lang="en-US" sz="900">
                        <a:latin typeface="EYInterstate" panose="02000503020000020004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A1A24"/>
                          </a:solidFill>
                          <a:latin typeface="EYInterstate" panose="02000503020000020004" pitchFamily="2" charset="0"/>
                          <a:ea typeface="Arial" pitchFamily="34" charset="-122"/>
                          <a:cs typeface="Arial" pitchFamily="34" charset="-120"/>
                        </a:rPr>
                        <a:t>Uso − competencias por tramo de edad</a:t>
                      </a:r>
                      <a:endParaRPr lang="en-US" sz="900">
                        <a:latin typeface="EYInterstate" panose="02000503020000020004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1A1A24"/>
                          </a:solidFill>
                          <a:latin typeface="EYInterstate" panose="02000503020000020004" pitchFamily="2" charset="0"/>
                          <a:ea typeface="Arial" pitchFamily="34" charset="-122"/>
                          <a:cs typeface="Arial" pitchFamily="34" charset="-120"/>
                        </a:rPr>
                        <a:t>Cuadrante</a:t>
                      </a:r>
                      <a:endParaRPr lang="en-US" sz="900">
                        <a:latin typeface="EYInterstate" panose="02000503020000020004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A1A24"/>
                          </a:solidFill>
                          <a:latin typeface="EYInterstate" panose="02000503020000020004" pitchFamily="2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>
                        <a:latin typeface="EYInterstate" panose="02000503020000020004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A1A24"/>
                          </a:solidFill>
                          <a:latin typeface="EYInterstate" panose="02000503020000020004" pitchFamily="2" charset="0"/>
                          <a:ea typeface="Arial" pitchFamily="34" charset="-122"/>
                          <a:cs typeface="Arial" pitchFamily="34" charset="-120"/>
                        </a:rPr>
                        <a:t>Sitúa cada país respecto a las dos medias UE (color del punto)</a:t>
                      </a:r>
                      <a:endParaRPr lang="en-US" sz="900">
                        <a:latin typeface="EYInterstate" panose="02000503020000020004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89507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4C94D-6371-43C0-9EF2-D1E9E9350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BDD2252-6E20-EB41-2B10-09B336BFD6EC}"/>
              </a:ext>
            </a:extLst>
          </p:cNvPr>
          <p:cNvSpPr/>
          <p:nvPr/>
        </p:nvSpPr>
        <p:spPr>
          <a:xfrm>
            <a:off x="457200" y="292608"/>
            <a:ext cx="128016" cy="128016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4C1F866-6EFB-EA33-4456-180586C43C92}"/>
              </a:ext>
            </a:extLst>
          </p:cNvPr>
          <p:cNvSpPr/>
          <p:nvPr/>
        </p:nvSpPr>
        <p:spPr>
          <a:xfrm>
            <a:off x="658368" y="24688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ANEXO · FUENTES OFICIALES</a:t>
            </a:r>
            <a:endParaRPr lang="en-US" sz="850">
              <a:latin typeface="EYInterstate" panose="02000503020000020004" pitchFamily="2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C4E9F58-FF78-BB05-74CC-F2215B2B0CF7}"/>
              </a:ext>
            </a:extLst>
          </p:cNvPr>
          <p:cNvSpPr/>
          <p:nvPr/>
        </p:nvSpPr>
        <p:spPr>
          <a:xfrm>
            <a:off x="457200" y="548640"/>
            <a:ext cx="8229600" cy="385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2000">
                <a:solidFill>
                  <a:srgbClr val="1A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</a:t>
            </a:r>
            <a:r>
              <a:rPr lang="es-ES" sz="2000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fuentes</a:t>
            </a:r>
            <a:r>
              <a:rPr lang="es-ES" sz="2000">
                <a:solidFill>
                  <a:srgbClr val="1A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oficiales unidas por una tabla de países común</a:t>
            </a:r>
          </a:p>
          <a:p>
            <a:pPr marL="0" indent="0">
              <a:buNone/>
            </a:pPr>
            <a:endParaRPr lang="en-US" sz="20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22A0015-13B4-B510-4540-E3F7C7354260}"/>
              </a:ext>
            </a:extLst>
          </p:cNvPr>
          <p:cNvSpPr/>
          <p:nvPr/>
        </p:nvSpPr>
        <p:spPr>
          <a:xfrm>
            <a:off x="457200" y="4681728"/>
            <a:ext cx="8229600" cy="0"/>
          </a:xfrm>
          <a:prstGeom prst="line">
            <a:avLst/>
          </a:prstGeom>
          <a:noFill/>
          <a:ln w="6350">
            <a:solidFill>
              <a:srgbClr val="C4C4C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13B957C-4381-21F8-04CE-9FE4E74FEF6E}"/>
              </a:ext>
            </a:extLst>
          </p:cNvPr>
          <p:cNvSpPr/>
          <p:nvPr/>
        </p:nvSpPr>
        <p:spPr>
          <a:xfrm>
            <a:off x="457200" y="47274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Fuentes: Eurostat (</a:t>
            </a:r>
            <a:r>
              <a:rPr lang="en-US" sz="700" err="1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isoc_ciegi_ac</a:t>
            </a:r>
            <a:r>
              <a:rPr lang="en-US" sz="700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isoc_sk_dskl_i21) y Comisión Europea, eGovernment Benchmark 2025.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99128F0-3E6B-DAA7-4FEF-71AA9202BCF7}"/>
              </a:ext>
            </a:extLst>
          </p:cNvPr>
          <p:cNvSpPr/>
          <p:nvPr/>
        </p:nvSpPr>
        <p:spPr>
          <a:xfrm>
            <a:off x="7772400" y="47274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1A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</a:t>
            </a:r>
            <a:r>
              <a:rPr lang="en-US" sz="800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8</a:t>
            </a:r>
            <a:endParaRPr lang="en-US" sz="800"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9415802D-F410-6339-86BB-2C445A5847FB}"/>
              </a:ext>
            </a:extLst>
          </p:cNvPr>
          <p:cNvSpPr/>
          <p:nvPr/>
        </p:nvSpPr>
        <p:spPr>
          <a:xfrm>
            <a:off x="457200" y="1371600"/>
            <a:ext cx="3931920" cy="822960"/>
          </a:xfrm>
          <a:prstGeom prst="rect">
            <a:avLst/>
          </a:prstGeom>
          <a:solidFill>
            <a:srgbClr val="F3F3F6"/>
          </a:solidFill>
          <a:ln w="12700">
            <a:solidFill>
              <a:srgbClr val="F3F3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915523FB-A9CB-E88A-8637-760DA16C4FA5}"/>
              </a:ext>
            </a:extLst>
          </p:cNvPr>
          <p:cNvSpPr/>
          <p:nvPr/>
        </p:nvSpPr>
        <p:spPr>
          <a:xfrm>
            <a:off x="457200" y="1371600"/>
            <a:ext cx="64008" cy="822960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B097D4DE-6376-9619-79CC-9696A8037852}"/>
              </a:ext>
            </a:extLst>
          </p:cNvPr>
          <p:cNvSpPr/>
          <p:nvPr/>
        </p:nvSpPr>
        <p:spPr>
          <a:xfrm>
            <a:off x="640080" y="1444752"/>
            <a:ext cx="2651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isoc_ciegi_ac</a:t>
            </a:r>
            <a:endParaRPr lang="en-US" sz="1000">
              <a:latin typeface="EYInterstate" panose="02000503020000020004" pitchFamily="2" charset="0"/>
            </a:endParaRPr>
          </a:p>
          <a:p>
            <a:pPr marL="0" indent="0">
              <a:buNone/>
            </a:pPr>
            <a:r>
              <a:rPr lang="en-US" sz="85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Eurostat  ·  % que se relaciona online con la Administración</a:t>
            </a:r>
            <a:endParaRPr lang="en-US" sz="1000">
              <a:latin typeface="EYInterstate" panose="02000503020000020004" pitchFamily="2" charset="0"/>
            </a:endParaRPr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47FBF2EB-EB8A-D43E-36FA-7531C73EFE88}"/>
              </a:ext>
            </a:extLst>
          </p:cNvPr>
          <p:cNvSpPr/>
          <p:nvPr/>
        </p:nvSpPr>
        <p:spPr>
          <a:xfrm>
            <a:off x="3383280" y="1645920"/>
            <a:ext cx="868680" cy="274320"/>
          </a:xfrm>
          <a:prstGeom prst="rect">
            <a:avLst/>
          </a:prstGeom>
          <a:solidFill>
            <a:srgbClr val="FFE6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Uso real</a:t>
            </a:r>
            <a:endParaRPr lang="en-US" sz="850">
              <a:latin typeface="EYInterstate" panose="02000503020000020004" pitchFamily="2" charset="0"/>
            </a:endParaRPr>
          </a:p>
        </p:txBody>
      </p:sp>
      <p:sp>
        <p:nvSpPr>
          <p:cNvPr id="18" name="Shape 9">
            <a:extLst>
              <a:ext uri="{FF2B5EF4-FFF2-40B4-BE49-F238E27FC236}">
                <a16:creationId xmlns:a16="http://schemas.microsoft.com/office/drawing/2014/main" id="{842EBF4A-A8FB-B5ED-B874-7164C8725A46}"/>
              </a:ext>
            </a:extLst>
          </p:cNvPr>
          <p:cNvSpPr/>
          <p:nvPr/>
        </p:nvSpPr>
        <p:spPr>
          <a:xfrm>
            <a:off x="457200" y="2331720"/>
            <a:ext cx="3931920" cy="822960"/>
          </a:xfrm>
          <a:prstGeom prst="rect">
            <a:avLst/>
          </a:prstGeom>
          <a:solidFill>
            <a:srgbClr val="F3F3F6"/>
          </a:solidFill>
          <a:ln w="12700">
            <a:solidFill>
              <a:srgbClr val="F3F3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0">
            <a:extLst>
              <a:ext uri="{FF2B5EF4-FFF2-40B4-BE49-F238E27FC236}">
                <a16:creationId xmlns:a16="http://schemas.microsoft.com/office/drawing/2014/main" id="{373263D4-1F4E-55F3-D356-D4193AED8482}"/>
              </a:ext>
            </a:extLst>
          </p:cNvPr>
          <p:cNvSpPr/>
          <p:nvPr/>
        </p:nvSpPr>
        <p:spPr>
          <a:xfrm>
            <a:off x="457200" y="2331720"/>
            <a:ext cx="64008" cy="822960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04BEBA7A-DD2A-D8F4-1E13-F1B2B679CFA9}"/>
              </a:ext>
            </a:extLst>
          </p:cNvPr>
          <p:cNvSpPr/>
          <p:nvPr/>
        </p:nvSpPr>
        <p:spPr>
          <a:xfrm>
            <a:off x="640080" y="2404872"/>
            <a:ext cx="2651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isoc_sk_dskl_i21</a:t>
            </a:r>
            <a:endParaRPr lang="en-US" sz="1000">
              <a:latin typeface="EYInterstate" panose="02000503020000020004" pitchFamily="2" charset="0"/>
            </a:endParaRPr>
          </a:p>
          <a:p>
            <a:pPr marL="0" indent="0">
              <a:buNone/>
            </a:pPr>
            <a:r>
              <a:rPr lang="en-US" sz="85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Eurostat  ·  % con competencias digitales básicas o superiores</a:t>
            </a:r>
            <a:endParaRPr lang="en-US" sz="1000">
              <a:latin typeface="EYInterstate" panose="02000503020000020004" pitchFamily="2" charset="0"/>
            </a:endParaRPr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E4094970-9646-43A6-F558-0807A9B83726}"/>
              </a:ext>
            </a:extLst>
          </p:cNvPr>
          <p:cNvSpPr/>
          <p:nvPr/>
        </p:nvSpPr>
        <p:spPr>
          <a:xfrm>
            <a:off x="3383280" y="2606040"/>
            <a:ext cx="868680" cy="274320"/>
          </a:xfrm>
          <a:prstGeom prst="rect">
            <a:avLst/>
          </a:prstGeom>
          <a:solidFill>
            <a:srgbClr val="FFE6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Capacidad</a:t>
            </a:r>
            <a:endParaRPr lang="en-US" sz="850">
              <a:latin typeface="EYInterstate" panose="02000503020000020004" pitchFamily="2" charset="0"/>
            </a:endParaRPr>
          </a:p>
        </p:txBody>
      </p:sp>
      <p:sp>
        <p:nvSpPr>
          <p:cNvPr id="26" name="Shape 13">
            <a:extLst>
              <a:ext uri="{FF2B5EF4-FFF2-40B4-BE49-F238E27FC236}">
                <a16:creationId xmlns:a16="http://schemas.microsoft.com/office/drawing/2014/main" id="{80B44174-ADA5-E5FB-5552-9A063C509386}"/>
              </a:ext>
            </a:extLst>
          </p:cNvPr>
          <p:cNvSpPr/>
          <p:nvPr/>
        </p:nvSpPr>
        <p:spPr>
          <a:xfrm>
            <a:off x="457200" y="3291840"/>
            <a:ext cx="3931920" cy="822960"/>
          </a:xfrm>
          <a:prstGeom prst="rect">
            <a:avLst/>
          </a:prstGeom>
          <a:solidFill>
            <a:srgbClr val="F3F3F6"/>
          </a:solidFill>
          <a:ln w="12700">
            <a:solidFill>
              <a:srgbClr val="F3F3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Shape 14">
            <a:extLst>
              <a:ext uri="{FF2B5EF4-FFF2-40B4-BE49-F238E27FC236}">
                <a16:creationId xmlns:a16="http://schemas.microsoft.com/office/drawing/2014/main" id="{752EC78A-DEC2-CA70-3FB6-7F65801296CC}"/>
              </a:ext>
            </a:extLst>
          </p:cNvPr>
          <p:cNvSpPr/>
          <p:nvPr/>
        </p:nvSpPr>
        <p:spPr>
          <a:xfrm>
            <a:off x="457200" y="3291840"/>
            <a:ext cx="64008" cy="822960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15">
            <a:extLst>
              <a:ext uri="{FF2B5EF4-FFF2-40B4-BE49-F238E27FC236}">
                <a16:creationId xmlns:a16="http://schemas.microsoft.com/office/drawing/2014/main" id="{201A5E81-B52B-F1F8-A3FD-789A4723C8A0}"/>
              </a:ext>
            </a:extLst>
          </p:cNvPr>
          <p:cNvSpPr/>
          <p:nvPr/>
        </p:nvSpPr>
        <p:spPr>
          <a:xfrm>
            <a:off x="640080" y="3364992"/>
            <a:ext cx="2651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eGovernment Benchmark</a:t>
            </a:r>
            <a:endParaRPr lang="en-US" sz="1000">
              <a:latin typeface="EYInterstate" panose="02000503020000020004" pitchFamily="2" charset="0"/>
            </a:endParaRPr>
          </a:p>
          <a:p>
            <a:pPr marL="0" indent="0">
              <a:buNone/>
            </a:pPr>
            <a:r>
              <a:rPr lang="en-US" sz="85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Comisión Europea  ·  Puntuación 0-100 por componente y 9 áreas</a:t>
            </a:r>
            <a:endParaRPr lang="en-US" sz="1000">
              <a:latin typeface="EYInterstate" panose="02000503020000020004" pitchFamily="2" charset="0"/>
            </a:endParaRPr>
          </a:p>
        </p:txBody>
      </p:sp>
      <p:sp>
        <p:nvSpPr>
          <p:cNvPr id="32" name="Text 16">
            <a:extLst>
              <a:ext uri="{FF2B5EF4-FFF2-40B4-BE49-F238E27FC236}">
                <a16:creationId xmlns:a16="http://schemas.microsoft.com/office/drawing/2014/main" id="{33225463-F10B-80D5-A6D1-E380A563411B}"/>
              </a:ext>
            </a:extLst>
          </p:cNvPr>
          <p:cNvSpPr/>
          <p:nvPr/>
        </p:nvSpPr>
        <p:spPr>
          <a:xfrm>
            <a:off x="3383280" y="3566160"/>
            <a:ext cx="868680" cy="274320"/>
          </a:xfrm>
          <a:prstGeom prst="rect">
            <a:avLst/>
          </a:prstGeom>
          <a:solidFill>
            <a:srgbClr val="FFE6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Calidad</a:t>
            </a:r>
            <a:endParaRPr lang="en-US" sz="850">
              <a:latin typeface="EYInterstate" panose="02000503020000020004" pitchFamily="2" charset="0"/>
            </a:endParaRPr>
          </a:p>
        </p:txBody>
      </p:sp>
      <p:sp>
        <p:nvSpPr>
          <p:cNvPr id="34" name="Text 17">
            <a:extLst>
              <a:ext uri="{FF2B5EF4-FFF2-40B4-BE49-F238E27FC236}">
                <a16:creationId xmlns:a16="http://schemas.microsoft.com/office/drawing/2014/main" id="{F4BB54D3-FFDB-2855-772B-05EA9662E529}"/>
              </a:ext>
            </a:extLst>
          </p:cNvPr>
          <p:cNvSpPr/>
          <p:nvPr/>
        </p:nvSpPr>
        <p:spPr>
          <a:xfrm>
            <a:off x="4754880" y="11430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Preparación en Power Query</a:t>
            </a:r>
            <a:endParaRPr lang="en-US" sz="1100">
              <a:latin typeface="EYInterstate" panose="02000503020000020004" pitchFamily="2" charset="0"/>
            </a:endParaRPr>
          </a:p>
        </p:txBody>
      </p:sp>
      <p:sp>
        <p:nvSpPr>
          <p:cNvPr id="36" name="Shape 18">
            <a:extLst>
              <a:ext uri="{FF2B5EF4-FFF2-40B4-BE49-F238E27FC236}">
                <a16:creationId xmlns:a16="http://schemas.microsoft.com/office/drawing/2014/main" id="{EBF5CF89-DC88-44F5-932E-22DEDC1A96D5}"/>
              </a:ext>
            </a:extLst>
          </p:cNvPr>
          <p:cNvSpPr/>
          <p:nvPr/>
        </p:nvSpPr>
        <p:spPr>
          <a:xfrm>
            <a:off x="4754880" y="1554480"/>
            <a:ext cx="365760" cy="365760"/>
          </a:xfrm>
          <a:prstGeom prst="ellipse">
            <a:avLst/>
          </a:prstGeom>
          <a:solidFill>
            <a:srgbClr val="2E2E38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es-ES">
              <a:latin typeface="EYInterstate" panose="02000503020000020004" pitchFamily="2" charset="0"/>
            </a:endParaRPr>
          </a:p>
        </p:txBody>
      </p:sp>
      <p:sp>
        <p:nvSpPr>
          <p:cNvPr id="38" name="Text 19">
            <a:extLst>
              <a:ext uri="{FF2B5EF4-FFF2-40B4-BE49-F238E27FC236}">
                <a16:creationId xmlns:a16="http://schemas.microsoft.com/office/drawing/2014/main" id="{48A3F50B-7B51-35F2-A71D-65D40A0A73D6}"/>
              </a:ext>
            </a:extLst>
          </p:cNvPr>
          <p:cNvSpPr/>
          <p:nvPr/>
        </p:nvSpPr>
        <p:spPr>
          <a:xfrm>
            <a:off x="475488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E60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1</a:t>
            </a:r>
            <a:endParaRPr lang="en-US" sz="1000">
              <a:latin typeface="EYInterstate" panose="02000503020000020004" pitchFamily="2" charset="0"/>
            </a:endParaRPr>
          </a:p>
        </p:txBody>
      </p:sp>
      <p:sp>
        <p:nvSpPr>
          <p:cNvPr id="40" name="Text 20">
            <a:extLst>
              <a:ext uri="{FF2B5EF4-FFF2-40B4-BE49-F238E27FC236}">
                <a16:creationId xmlns:a16="http://schemas.microsoft.com/office/drawing/2014/main" id="{F28B8E54-1D5C-35DC-53D0-B1839D216F24}"/>
              </a:ext>
            </a:extLst>
          </p:cNvPr>
          <p:cNvSpPr/>
          <p:nvPr/>
        </p:nvSpPr>
        <p:spPr>
          <a:xfrm>
            <a:off x="5257800" y="150876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Filtrar año 2025 y los 27 países de la UE</a:t>
            </a:r>
            <a:endParaRPr lang="en-US" sz="950">
              <a:latin typeface="EYInterstate" panose="02000503020000020004" pitchFamily="2" charset="0"/>
            </a:endParaRPr>
          </a:p>
        </p:txBody>
      </p:sp>
      <p:sp>
        <p:nvSpPr>
          <p:cNvPr id="42" name="Shape 21">
            <a:extLst>
              <a:ext uri="{FF2B5EF4-FFF2-40B4-BE49-F238E27FC236}">
                <a16:creationId xmlns:a16="http://schemas.microsoft.com/office/drawing/2014/main" id="{DB12E0AA-518B-FE6A-DA99-4F4D78BDDA30}"/>
              </a:ext>
            </a:extLst>
          </p:cNvPr>
          <p:cNvSpPr/>
          <p:nvPr/>
        </p:nvSpPr>
        <p:spPr>
          <a:xfrm>
            <a:off x="4754880" y="2103120"/>
            <a:ext cx="365760" cy="365760"/>
          </a:xfrm>
          <a:prstGeom prst="ellipse">
            <a:avLst/>
          </a:prstGeom>
          <a:solidFill>
            <a:srgbClr val="2E2E38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es-ES">
              <a:latin typeface="EYInterstate" panose="02000503020000020004" pitchFamily="2" charset="0"/>
            </a:endParaRPr>
          </a:p>
        </p:txBody>
      </p:sp>
      <p:sp>
        <p:nvSpPr>
          <p:cNvPr id="44" name="Text 22">
            <a:extLst>
              <a:ext uri="{FF2B5EF4-FFF2-40B4-BE49-F238E27FC236}">
                <a16:creationId xmlns:a16="http://schemas.microsoft.com/office/drawing/2014/main" id="{12EC6F32-CBDC-B8D0-B421-5BC3FCC27339}"/>
              </a:ext>
            </a:extLst>
          </p:cNvPr>
          <p:cNvSpPr/>
          <p:nvPr/>
        </p:nvSpPr>
        <p:spPr>
          <a:xfrm>
            <a:off x="475488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E60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2</a:t>
            </a:r>
            <a:endParaRPr lang="en-US" sz="1000">
              <a:latin typeface="EYInterstate" panose="02000503020000020004" pitchFamily="2" charset="0"/>
            </a:endParaRPr>
          </a:p>
        </p:txBody>
      </p:sp>
      <p:sp>
        <p:nvSpPr>
          <p:cNvPr id="46" name="Text 23">
            <a:extLst>
              <a:ext uri="{FF2B5EF4-FFF2-40B4-BE49-F238E27FC236}">
                <a16:creationId xmlns:a16="http://schemas.microsoft.com/office/drawing/2014/main" id="{D6D766F3-AB96-0B0A-6AD5-29A64130E7B6}"/>
              </a:ext>
            </a:extLst>
          </p:cNvPr>
          <p:cNvSpPr/>
          <p:nvPr/>
        </p:nvSpPr>
        <p:spPr>
          <a:xfrm>
            <a:off x="5257800" y="20574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Filtrar tramos de edad (16-74, 16-24, 25-54, 55-74)</a:t>
            </a:r>
            <a:endParaRPr lang="en-US" sz="950">
              <a:latin typeface="EYInterstate" panose="02000503020000020004" pitchFamily="2" charset="0"/>
            </a:endParaRPr>
          </a:p>
        </p:txBody>
      </p:sp>
      <p:sp>
        <p:nvSpPr>
          <p:cNvPr id="48" name="Shape 24">
            <a:extLst>
              <a:ext uri="{FF2B5EF4-FFF2-40B4-BE49-F238E27FC236}">
                <a16:creationId xmlns:a16="http://schemas.microsoft.com/office/drawing/2014/main" id="{FB68669F-67D9-B62C-35A7-CD49607DF7FD}"/>
              </a:ext>
            </a:extLst>
          </p:cNvPr>
          <p:cNvSpPr/>
          <p:nvPr/>
        </p:nvSpPr>
        <p:spPr>
          <a:xfrm>
            <a:off x="4754880" y="2651760"/>
            <a:ext cx="365760" cy="365760"/>
          </a:xfrm>
          <a:prstGeom prst="ellipse">
            <a:avLst/>
          </a:prstGeom>
          <a:solidFill>
            <a:srgbClr val="2E2E38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es-ES">
              <a:latin typeface="EYInterstate" panose="02000503020000020004" pitchFamily="2" charset="0"/>
            </a:endParaRPr>
          </a:p>
        </p:txBody>
      </p:sp>
      <p:sp>
        <p:nvSpPr>
          <p:cNvPr id="50" name="Text 25">
            <a:extLst>
              <a:ext uri="{FF2B5EF4-FFF2-40B4-BE49-F238E27FC236}">
                <a16:creationId xmlns:a16="http://schemas.microsoft.com/office/drawing/2014/main" id="{F0B6EBED-032C-C943-59F7-27B97574898A}"/>
              </a:ext>
            </a:extLst>
          </p:cNvPr>
          <p:cNvSpPr/>
          <p:nvPr/>
        </p:nvSpPr>
        <p:spPr>
          <a:xfrm>
            <a:off x="475488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E60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3</a:t>
            </a:r>
            <a:endParaRPr lang="en-US" sz="1000">
              <a:latin typeface="EYInterstate" panose="02000503020000020004" pitchFamily="2" charset="0"/>
            </a:endParaRPr>
          </a:p>
        </p:txBody>
      </p:sp>
      <p:sp>
        <p:nvSpPr>
          <p:cNvPr id="52" name="Text 26">
            <a:extLst>
              <a:ext uri="{FF2B5EF4-FFF2-40B4-BE49-F238E27FC236}">
                <a16:creationId xmlns:a16="http://schemas.microsoft.com/office/drawing/2014/main" id="{4E30D6DF-0B94-08AD-0DA4-44E91B137ADF}"/>
              </a:ext>
            </a:extLst>
          </p:cNvPr>
          <p:cNvSpPr/>
          <p:nvPr/>
        </p:nvSpPr>
        <p:spPr>
          <a:xfrm>
            <a:off x="5257800" y="260604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Unificar los códigos de país entre fuentes</a:t>
            </a:r>
            <a:endParaRPr lang="en-US" sz="950">
              <a:latin typeface="EYInterstate" panose="02000503020000020004" pitchFamily="2" charset="0"/>
            </a:endParaRPr>
          </a:p>
        </p:txBody>
      </p:sp>
      <p:sp>
        <p:nvSpPr>
          <p:cNvPr id="54" name="Shape 27">
            <a:extLst>
              <a:ext uri="{FF2B5EF4-FFF2-40B4-BE49-F238E27FC236}">
                <a16:creationId xmlns:a16="http://schemas.microsoft.com/office/drawing/2014/main" id="{9957AA3A-40DF-C1CF-11C5-F5205ED85904}"/>
              </a:ext>
            </a:extLst>
          </p:cNvPr>
          <p:cNvSpPr/>
          <p:nvPr/>
        </p:nvSpPr>
        <p:spPr>
          <a:xfrm>
            <a:off x="4754880" y="3200400"/>
            <a:ext cx="365760" cy="365760"/>
          </a:xfrm>
          <a:prstGeom prst="ellipse">
            <a:avLst/>
          </a:prstGeom>
          <a:solidFill>
            <a:srgbClr val="2E2E38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es-ES">
              <a:latin typeface="EYInterstate" panose="02000503020000020004" pitchFamily="2" charset="0"/>
            </a:endParaRPr>
          </a:p>
        </p:txBody>
      </p:sp>
      <p:sp>
        <p:nvSpPr>
          <p:cNvPr id="56" name="Text 28">
            <a:extLst>
              <a:ext uri="{FF2B5EF4-FFF2-40B4-BE49-F238E27FC236}">
                <a16:creationId xmlns:a16="http://schemas.microsoft.com/office/drawing/2014/main" id="{436242EB-677F-BC55-740C-90816B4BC628}"/>
              </a:ext>
            </a:extLst>
          </p:cNvPr>
          <p:cNvSpPr/>
          <p:nvPr/>
        </p:nvSpPr>
        <p:spPr>
          <a:xfrm>
            <a:off x="475488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E60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4</a:t>
            </a:r>
            <a:endParaRPr lang="en-US" sz="1000">
              <a:latin typeface="EYInterstate" panose="02000503020000020004" pitchFamily="2" charset="0"/>
            </a:endParaRPr>
          </a:p>
        </p:txBody>
      </p:sp>
      <p:sp>
        <p:nvSpPr>
          <p:cNvPr id="58" name="Text 29">
            <a:extLst>
              <a:ext uri="{FF2B5EF4-FFF2-40B4-BE49-F238E27FC236}">
                <a16:creationId xmlns:a16="http://schemas.microsoft.com/office/drawing/2014/main" id="{10C22D6D-FAFF-F239-238F-556B04ACF6A7}"/>
              </a:ext>
            </a:extLst>
          </p:cNvPr>
          <p:cNvSpPr/>
          <p:nvPr/>
        </p:nvSpPr>
        <p:spPr>
          <a:xfrm>
            <a:off x="5257800" y="315468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Crear la tabla de países que relaciona las tres tablas</a:t>
            </a:r>
            <a:endParaRPr lang="en-US" sz="950">
              <a:latin typeface="EYInterstate" panose="02000503020000020004" pitchFamily="2" charset="0"/>
            </a:endParaRPr>
          </a:p>
        </p:txBody>
      </p:sp>
      <p:sp>
        <p:nvSpPr>
          <p:cNvPr id="60" name="Shape 30">
            <a:extLst>
              <a:ext uri="{FF2B5EF4-FFF2-40B4-BE49-F238E27FC236}">
                <a16:creationId xmlns:a16="http://schemas.microsoft.com/office/drawing/2014/main" id="{2ED4C62D-89B7-3A4B-6F3D-2DEAE364EA2A}"/>
              </a:ext>
            </a:extLst>
          </p:cNvPr>
          <p:cNvSpPr/>
          <p:nvPr/>
        </p:nvSpPr>
        <p:spPr>
          <a:xfrm>
            <a:off x="4754880" y="3749040"/>
            <a:ext cx="365760" cy="365760"/>
          </a:xfrm>
          <a:prstGeom prst="ellipse">
            <a:avLst/>
          </a:prstGeom>
          <a:solidFill>
            <a:srgbClr val="2E2E38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es-ES">
              <a:latin typeface="EYInterstate" panose="02000503020000020004" pitchFamily="2" charset="0"/>
            </a:endParaRPr>
          </a:p>
        </p:txBody>
      </p:sp>
      <p:sp>
        <p:nvSpPr>
          <p:cNvPr id="62" name="Text 31">
            <a:extLst>
              <a:ext uri="{FF2B5EF4-FFF2-40B4-BE49-F238E27FC236}">
                <a16:creationId xmlns:a16="http://schemas.microsoft.com/office/drawing/2014/main" id="{60727889-832D-A90C-7475-9C4EF6654A37}"/>
              </a:ext>
            </a:extLst>
          </p:cNvPr>
          <p:cNvSpPr/>
          <p:nvPr/>
        </p:nvSpPr>
        <p:spPr>
          <a:xfrm>
            <a:off x="4754880" y="3749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E60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5</a:t>
            </a:r>
            <a:endParaRPr lang="en-US" sz="1000">
              <a:latin typeface="EYInterstate" panose="02000503020000020004" pitchFamily="2" charset="0"/>
            </a:endParaRPr>
          </a:p>
        </p:txBody>
      </p:sp>
      <p:sp>
        <p:nvSpPr>
          <p:cNvPr id="64" name="Text 32">
            <a:extLst>
              <a:ext uri="{FF2B5EF4-FFF2-40B4-BE49-F238E27FC236}">
                <a16:creationId xmlns:a16="http://schemas.microsoft.com/office/drawing/2014/main" id="{98F87276-050E-880C-6CCB-FB776B80F258}"/>
              </a:ext>
            </a:extLst>
          </p:cNvPr>
          <p:cNvSpPr/>
          <p:nvPr/>
        </p:nvSpPr>
        <p:spPr>
          <a:xfrm>
            <a:off x="5257800" y="37033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Crear medidas: medias UE, correlaciones, brecha y cuadrante</a:t>
            </a:r>
            <a:endParaRPr lang="en-US" sz="950">
              <a:latin typeface="EYInterstate" panose="0200050302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581555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USTOMLAYOUT" val="F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3211BAF1-DAD1-4D89-A540-730E0F0F72A6}">
  <we:reference id="wa200003233" version="2.0.0.3" store="en-US" storeType="OMEX"/>
  <we:alternateReferences>
    <we:reference id="WA200003233" version="2.0.0.3" store="WA200003233" storeType="OMEX"/>
  </we:alternateReferences>
  <we:properties>
    <we:property name="reportUrl" value="&quot;/groups/me/reports/966ae8ed-dda4-4716-ac8e-46b8a5641cfe/3782aa0ba8809124cec7?experience=power-bi&quot;"/>
    <we:property name="reportName" value="&quot;Proyecto final 2025&quot;"/>
    <we:property name="reportState" value="&quot;CONNECTED&quot;"/>
    <we:property name="embedUrl" value="&quot;/reportEmbed?reportId=966ae8ed-dda4-4716-ac8e-46b8a5641cfe&amp;config=eyJjbHVzdGVyVXJsIjoiaHR0cHM6Ly9XQUJJLUVVUk9QRS1OT1JUSC1CLXJlZGlyZWN0LmFuYWx5c2lzLndpbmRvd3MubmV0IiwiZW1iZWRGZWF0dXJlcyI6eyJ1c2FnZU1ldHJpY3NWTmV4dCI6dHJ1ZX19&amp;disableSensitivityBanner=true&amp;storytellingChangeViewModeShortcutKeys=true&quot;"/>
    <we:property name="pageName" value="&quot;3782aa0ba8809124cec7&quot;"/>
    <we:property name="pageDisplayName" value="&quot;P1&quot;"/>
    <we:property name="datasetId" value="&quot;52044b5d-f1af-4efa-aaae-5b473d67f25f&quot;"/>
    <we:property name="backgroundColor" value="&quot;#F7F7F7&quot;"/>
    <we:property name="bookmark" value="&quot;H4sIAAAAAAAAA+1Y3W/bNhD/Vwy99MUY9C0qb4mbAAWWLpi37KEIgiN5dtjKkkBRTrzA/3uPpNPUjld7RttlgF8M6XRfv98dj6QfA6m6toLFe5hhcBKcNc2nGehPgygYBrWXCRbFeSiLmLMQUCS5jAR9bVqjmroLTh4DA3qK5lp1PVTWEQk/3AyDVmOHeo7v8d5/o1/FVaXMIjgxusdhAFV1BVNrMIGqI0GLumtqqNTf6G06r7ocBvjQVo0GG3VswKCNPCd1eqcso18SSgqEUXMcozBemhQsBgg5MBaWUZwKFAWpdV7BJb9Vxbp24UdNbUDVFMbKYpYXZZaxNEHMwjIPQ5lYeafqabVK+Nn2j0Vr+TP4YHjzYCnjHymw9bRcEqCkiPM4Y0kmsxTTuOCMiCXriarMKiBfnD+0mugkkr23UzmHWqAMHCHEsMf/GFwidL12rJyvfRg3vRb4O07cp9o4+oPblX53O2pm7QBqOTiVM1UHNrMr3VAhnN4lSgWDP8+d/K65H2kk7mVwEi5vSPJN5AK0XIdNL1qiPls4SG+VfqpUPNzI+sfDofxtEViUxVRzzhnEYc64xN1FGBEF00YrQaA36zBqqn5W75v3RV9VAwkGNhO1PdzoQ1jvKiVQr/EezJBWqH2YIvWyNSIwrY+msHsGvP50/bS8qDwXupk5s9WomFCELTCGgU+DEh0Gf92hLeEHy0otlVlR8W6Dnm6lsgdx/sWF/yfCKO41VL2bQuT2V2U84kcvJtU3t74NvAl2b6zVje8IZ++QvKRo1khHIrp22O76LVnI5r62Pr2zDqunLn/hsTPURGbsyjl2ejv821m48mzx+3lHLHz8aqJ9Qf/9m/HGDa4MgE8YRhBjmBYizlPE17Bm3lGPCZBbl81w9wQ9nU41TuGpS89/RIq+jlZ40derrogOGa1V3xHXKM9Aj+5Am0Pn7H8I2i6OrQ28apXF92zhr3vDd3EeiRjzLI0jjmVYJKnk5XH7/cnbbyHyclJOZM6ZgCLMORby8BNVyTJZlBDGoZBRlJYlRvw1DKZR09eG+vm4m++7mz8ztsd2Pm7piH7cxPduQj//ygmXSYKRKMMwy8sygQgPX3o8CyEr4gySSUw3xbyMUtjpTc3o8vfSl2DIIUeWJCHjgrE0hPx/vowp9QrlJbSbA/mnbYCb5RecrrDxBFiJGGV5nnF/+zys/JILEDznAjHnVH+kq/FrKNm3joTH2bt99q4dlXZP39/mVlQNxoLuUscp/C/PoW71bOuvpjddCwKvoMYtcAkYnbJQ7gDp/lb7gnK5/Az6ln328RMAAA==&quot;"/>
    <we:property name="initialStateBookmark" value="&quot;H4sIAAAAAAAAA+1YS2/bOBD+K4YuvRgLvR+5Oa4DFF0nQb2bPRRBMCRHjlpZEijKiTfwf98hqWxqx1u7Rh9ZIBfDGs3zm49DUg+OKNqmhNU5LNA5cU7r+vMC5OeB5wydqpddXLyfjj68vzkfTSckrhtV1FXrnDw4CuQc1VXRdlBqDyT8eD10GoktyiWe4519R78FK8pCrZwTJTscOlCWlzDXBjmULQkalG1dQVn8jdamtarroYP3TVlL0FFnChTqyEtSp2dKz/stoKSAq2KJM+TKSoMk9QFcBmnqZp4fcuQJqbVWwSS/U0W7NuHHdaWgqCiMlvlpnGRRlIYBYuRmseuKQMvbopqXfcJPtn+sGg2cwnvF6nsNGftEgbWn9ZoKChI/9qM0iEQUYugnLPW4ts6LUvUB2Wpy30iCk0C23kZiCRVH4RhACGFb/4MzRWg7aVCZbLyY1Z3k+AFz86pSBn7nptdvb8b1ohlAJQYjsSgqR2d2KWtqhNGboihg8OfEyG/ru7FEwl44J+76miRfrZyDFJtl04MUKE9XpqS3hXzslD/cyvrHl0P56yakXuRTzxlLwXfjlAnc34QxQTCvZcGp6O0+jOuyW1SH5n3WleVAgILtRDWHa3kM6m1ZcJQbuDsLpBWq/8yRuKyNqJjGRiuwfSp489/V4/Ki9pzJemHM+hmRU4QdZQwdmwYlOnT+ukXdwo8alUoUqofi3RY8ba9yAHD2wYT/L8Ao7hWUnZlC5Pb3QtmKH6yYVN/cWBpYE2zfaKtrywhjbyp5DtGiFgZENHTY7fotWYj6rtI+rbMWy0eWP/PYKiKRmpl2zozeHv96Fvaedf123hEKn76YaP9W//3JeG0GVwTA8hQ98NENE+7HIeJLWDPviGMcxM5lM9w/QUfzucQ5PLJ08iNStH3UwrOu6lnhHTNay64lrFGcghzfglTHztlfWLReHDsJ3FNl9T0p/CU3LItjj/sYR6HvMczcJAgFy16335+8/SY8zvIsFzFLOSRuzDARx5+osjQSSQau73LheWGWocdewmAa112liM+vu/mhu/kTYgds57OGjuivm/jBJLTzL8uZCAL0eOa6UZxlAXh4/NJjkQtR4kcQ5L7P0jjzQtjrrVjQ5e+5L54igxjTIHBTxtM0dCH+ny9jSr1EMYVmeyD/tA1wu/2c0RXWzyHNEL0ojiNmb5/HtV8wDpzFjCPGjPqPdDV+CS372pHwdfbunr0bR6X90/diqUXlYMbpLvU6hb/xHGpWzy5+1Z1qG+B4CRXuKJcKo1MWij1Fms9qjgmy1F/fyn2ob6CyXv8DtlKrNBoUAAA=&quot;"/>
    <we:property name="isFiltersActionButtonVisible" value="true"/>
    <we:property name="isVisualContainerHeaderHidden" value="false"/>
    <we:property name="reportEmbeddedTime" value="&quot;2026-10-05T16:15:34.672Z&quot;"/>
    <we:property name="creatorTenantId" value="&quot;5b973f99-77df-4beb-b27d-aa0c70b8482c&quot;"/>
    <we:property name="creatorUserId" value="&quot;100320061CA161E8&quot;"/>
    <we:property name="creatorSessionId" value="&quot;c843008a-b501-4e50-95dc-4f4f09fafc84&quot;"/>
    <we:property name="artifactViewState" value="&quot;live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7194AFDF-1545-45BA-8FEC-ADB1AB15CC7F}">
  <we:reference id="wa200003233" version="2.0.0.3" store="en-US" storeType="OMEX"/>
  <we:alternateReferences>
    <we:reference id="WA200003233" version="2.0.0.3" store="WA200003233" storeType="OMEX"/>
  </we:alternateReferences>
  <we:properties/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2452FBAF-54D6-4FF6-98B7-87E27519FA11}">
  <we:reference id="wa200003233" version="2.0.0.3" store="en-US" storeType="OMEX"/>
  <we:alternateReferences>
    <we:reference id="WA200003233" version="2.0.0.3" store="WA200003233" storeType="OMEX"/>
  </we:alternateReferences>
  <we:properties>
    <we:property name="reportUrl" value="&quot;/groups/me/reports/966ae8ed-dda4-4716-ac8e-46b8a5641cfe/5b4eabf0ae1ee20e9c53?experience=power-bi&quot;"/>
    <we:property name="reportName" value="&quot;Proyecto final 2025&quot;"/>
    <we:property name="reportState" value="&quot;CONNECTED&quot;"/>
    <we:property name="embedUrl" value="&quot;/reportEmbed?reportId=966ae8ed-dda4-4716-ac8e-46b8a5641cfe&amp;config=eyJjbHVzdGVyVXJsIjoiaHR0cHM6Ly9XQUJJLUVVUk9QRS1OT1JUSC1CLXJlZGlyZWN0LmFuYWx5c2lzLndpbmRvd3MubmV0IiwiZW1iZWRGZWF0dXJlcyI6eyJ1c2FnZU1ldHJpY3NWTmV4dCI6dHJ1ZX19&amp;disableSensitivityBanner=true&amp;storytellingChangeViewModeShortcutKeys=true&quot;"/>
    <we:property name="pageName" value="&quot;5b4eabf0ae1ee20e9c53&quot;"/>
    <we:property name="pageDisplayName" value="&quot;P3&quot;"/>
    <we:property name="datasetId" value="&quot;52044b5d-f1af-4efa-aaae-5b473d67f25f&quot;"/>
    <we:property name="backgroundColor" value="&quot;#F7F7F7&quot;"/>
    <we:property name="bookmark" value="&quot;H4sIAAAAAAAAA91XUW/bNhD+K4Ze+uINkkzLUt5SNwECLF0wb2mBIQiO5MlhK4sCSTnxAv+k/Yr9sR0pJcs8N/a6uUv3IkhH8u777uMdqftIKttUsHoLC4yOotdaf1yA+ThIomFUd7aMsVSkGbIUJYpkDIUsaVQ3TunaRkf3kQMzR3epbAuVd0TGn6+GUWPQolniW7ztxuipuKqUW0VHzrQ4jKCqLmDuF5RQWTI0aKyuoVK/YLfGdlPXwwjvmkob8FFnDhz6yEuaTt+EMvl2RKBAOLXEGQrXWcecIfAyBkwQ0xgLMfbTbDchgN86heylqhx59698dXLXGCJ1/5gTGcfIOJM58jQbjwpWTMivWzV+dEro5tooARUZO0fez+UD2nQYnRq9CB77zPuUntQu5CY6batqIMEBGX8MPuM1JfTdDRoMi6a6lqrjeB+dhaeHiNZ2tMKUql1sjPivmW6NwB+w/OMjhF9Tii+MJgEChDMKIEBqQwMU+hKqNuhKnr9TxIeoeUbeTLNffb/0pmowE9rgK7/mak2PTrYn0fdCtSUPz6AbRjf6dmqQki6jo2Q9fFSpACxSxrN8RDsXMGbjcfz/Usnv9H0luj5HqWDQLUF7eJEewW0q5CMuQ3VThhyouq+ztIyp10hZsiSWZUpyZfDpUuxlPJZLqAU53mRxPJ8bnMND/k8OQbFLrjeetnXfdJJNwnEgbFU9r/qmFlpXeOv2TSTAyH6IOiv/QJnzdGmZNhLN61Vg/EaZh85Ge/PkpbAlemQaccZLXvBJQr20zBnm6TN9dGsN/pNdKNXi+gKU3cR8Ab/9av+yB/eQxFZKUEN4Kke0QDro/EvIjufRdJEUduNahmEMNLeX4RtaIfVt7euPMCh7VlPvJFQzrDp1z3d78UeiXx8K3z4s3ILIOkqumwWiXYAdnsM53Lv2+LoTlRL64cmZ+dhq/m2VrkJOWJbmPMOcJaNC8jHDkcgCmef0cnjnuL77c/14b+OE81wIhjEHycuiFHzygjfm8AAYPlnR0xakgdrhYEp3Lgnym5+sfhbU19Bu90B7jmBbg/siuu7n2+upXjQDqOXgWC5UvQlwe/Z29xoBjvbi9AaM2zwAthZgvzVWhyjBYfQ+uP0PBe3awCQb5QWX5TjDIocim8icff514ECKT7UxWIEgZztq6AtcAr44x/6MKBkTBWQyo07LkjzDye4O+5WU5osV5akAVCSkQEk/pXE84jxJy2zyuQdmKL1tdx7dOtuAwAuocctNg0QkrD6rf+N+sV7/Dt9gGsmCEAAA&quot;"/>
    <we:property name="initialStateBookmark" value="&quot;H4sIAAAAAAAAA91XUW/bNhD+K4Ze+uINkizLUt5c1wGCzolRr9mAITCO4slhK4sCSTnxAv+k/Yr9sR4pOcs8N/a6uUv3IkjH4/H77uMdqQePC10VsL6EJXpn3mspPy5BfewEXtcrW9vV1dvJ8N3b+eVwMiazrIyQpfbOHjwDaoHmWugaChuBjL/cdL1KoUa1wku8a8boKZgohFl7Z0bV2PWgKKawsBNyKDQZKlRallCIX7GZoxvXTdfD+6qQCuyqMwMG7corcqdvghd83yNQkBmxwhlmprH2WYTAch8wQAx9TLO+ddONgwO/14XsuSgMRbevbD2+rxSRetgmI+a+jxGLeIIsjPu9NEoHFNesKzs6InQLqUQGBRmbQDbO9RZt2PXOlVy6iG3Kc/Icl8blxjuvi6LDwQAZf3Qx/Q0l9KdbVOgmjWTJRcPxwbtwTwsRtW5oOZeiXu6M2K+ZrFWG7zD/48Mtv6EUT5UkARyEC1ogAy4VDdDS11DUTleK/IMgPkTNMrJm8n51tbKmojPLpMJXds7Nhh6NbE9WPwrVnjw8g67r3cq7kUJKOvfOgk33UaUUMA0jFic95AjoR/2+//9Sye70YyWaT5AL6DRTUJ9epEdwuwrZFVeuuilDBkTZ1lmY+1EUcp5Hgc/zkOSK4fOl2Mo45CsoMwq8y2K4WChcwDb/41NQbJJrjed12TadYJew7whrUS6Ktqm51uXemn3jZaB4O0SdlX2gzFm6NE0qjur12jF+I9S2s9HeHL8UtkSPTD0WsZylbBBQL82TCJPwmT66twb/yS7kYjmfgtC7mKfw+2/6L3vwCEl0ITJqCE/l8JZIB519cdmxPKpmJYHNuORuGB3N/WX4hmZweVfa+iMMQl+U1DsJ1QyLRt3J4Sj2SLTzXeHr7cQ9iLSh5JqZI9oscCCyO4fb0BZfc6JSQj88OTMfW82/rdKNy0kUhwmLMYmCXspZP8JeFjsyz+ll8N4wef/n+rHR+gFjSZZF6DPgLE/zjA1e8MbsngDDZyt6VANXUBrsjOjOxYF/917LZ0F9C+32CLQTBF0rPBbRvPXX85FcVh0oeWfIl6LcBbg/e4d7TQaG9uLoFpTZPQD2FmC7NdanKMGu97ML+x8K2rSBQdxLUsbzfoxpAmk84En05deBEyk+kkphARkFO1BDX+ES8NU5tmdEHkVZCjGPqdNGQRLj4HCH/UZK88WK8lQAKhJSIKefUt/vMRaEeTz40gPTld6+O4+sja4gwymUuOemQSISVpvV4+4X7hdAsOJvXHXs4xM9qMc4qxAAAA==&quot;"/>
    <we:property name="isFiltersActionButtonVisible" value="true"/>
    <we:property name="isVisualContainerHeaderHidden" value="false"/>
    <we:property name="reportEmbeddedTime" value="&quot;2026-10-05T15:09:32.289Z&quot;"/>
    <we:property name="creatorTenantId" value="&quot;5b973f99-77df-4beb-b27d-aa0c70b8482c&quot;"/>
    <we:property name="creatorUserId" value="&quot;100320061CA161E8&quot;"/>
    <we:property name="creatorSessionId" value="&quot;4a7a4e1b-ef19-4fd1-82ce-19201365ea35&quot;"/>
    <we:property name="artifactViewState" value="&quot;live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1807</Words>
  <Application>Microsoft Office PowerPoint</Application>
  <PresentationFormat>On-screen Show (16:9)</PresentationFormat>
  <Paragraphs>256</Paragraphs>
  <Slides>15</Slides>
  <Notes>15</Notes>
  <HiddenSlides>2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Arial</vt:lpstr>
      <vt:lpstr>Calibri</vt:lpstr>
      <vt:lpstr>EYInterstate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Administracion_Digital_UE_EY_v2</dc:title>
  <dc:subject>PptxGenJS Presentation</dc:subject>
  <dc:creator>Laia Perez Blazquez</dc:creator>
  <cp:lastModifiedBy>Oriana Daniela Rosciano</cp:lastModifiedBy>
  <cp:revision>1</cp:revision>
  <dcterms:created xsi:type="dcterms:W3CDTF">2026-10-05T11:32:34Z</dcterms:created>
  <dcterms:modified xsi:type="dcterms:W3CDTF">2026-10-05T16:18:10Z</dcterms:modified>
</cp:coreProperties>
</file>